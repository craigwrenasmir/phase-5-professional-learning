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5119604" cy="1069207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200" b="1">
                <a:solidFill>
                  <a:srgbClr val="584099"/>
                </a:solidFill>
                <a:latin typeface="Arial"/>
                <a:ea typeface="Arial"/>
                <a:cs typeface="Arial"/>
              </a:rPr>
              <a:t>SESSION 4 · LEARNING DESIGN · DAY-ONE SETUP SHEET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3000" b="0">
                <a:solidFill>
                  <a:srgbClr val="584099"/>
                </a:solidFill>
                <a:latin typeface="Arial Black"/>
                <a:ea typeface="Arial Black"/>
                <a:cs typeface="Arial Black"/>
              </a:rPr>
              <a:t>My day-one 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777240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300" b="1">
                <a:solidFill>
                  <a:srgbClr val="3D2A6B"/>
                </a:solidFill>
                <a:latin typeface="Arial"/>
                <a:ea typeface="Arial"/>
                <a:cs typeface="Arial"/>
              </a:rPr>
              <a:t>Initials: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1064240" y="1078992"/>
            <a:ext cx="3506724" cy="0"/>
          </a:xfrm>
          <a:prstGeom prst="line">
            <a:avLst/>
          </a:prstGeom>
          <a:ln w="12700">
            <a:solidFill>
              <a:srgbClr val="B9A7D6"/>
            </a:solidFill>
          </a:ln>
        </p:spPr>
      </p:cxnSp>
      <p:sp>
        <p:nvSpPr>
          <p:cNvPr id="6" name="Rounded Rectangle 5"/>
          <p:cNvSpPr/>
          <p:nvPr/>
        </p:nvSpPr>
        <p:spPr>
          <a:xfrm>
            <a:off x="548640" y="1325880"/>
            <a:ext cx="6874002" cy="4271620"/>
          </a:xfrm>
          <a:prstGeom prst="roundRect">
            <a:avLst>
              <a:gd name="adj" fmla="val 6000"/>
            </a:avLst>
          </a:prstGeom>
          <a:solidFill>
            <a:srgbClr val="F3F0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60" y="1581912"/>
            <a:ext cx="502920" cy="502920"/>
          </a:xfrm>
          <a:prstGeom prst="ellipse">
            <a:avLst/>
          </a:prstGeom>
          <a:solidFill>
            <a:srgbClr val="5840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581912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600" b="0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1527048"/>
            <a:ext cx="5685282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900" b="0">
                <a:solidFill>
                  <a:srgbClr val="584099"/>
                </a:solidFill>
                <a:latin typeface="Arial Black"/>
                <a:ea typeface="Arial Black"/>
                <a:cs typeface="Arial Black"/>
              </a:rPr>
              <a:t>My brief</a:t>
            </a:r>
          </a:p>
          <a:p>
            <a:pPr algn="l" marL="0" indent="0">
              <a:lnSpc>
                <a:spcPct val="100000"/>
              </a:lnSpc>
              <a:spcBef>
                <a:spcPts val="100"/>
              </a:spcBef>
              <a:buNone/>
            </a:pPr>
            <a:r>
              <a:rPr lang="en-AU" sz="1100" b="0">
                <a:solidFill>
                  <a:srgbClr val="5B5670"/>
                </a:solidFill>
                <a:latin typeface="Arial"/>
                <a:ea typeface="Arial"/>
                <a:cs typeface="Arial"/>
              </a:rPr>
              <a:t>Stage 2 · your own classroom, with your trio’s help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240280"/>
            <a:ext cx="1188720" cy="320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300" b="1">
                <a:solidFill>
                  <a:srgbClr val="3D2A6B"/>
                </a:solidFill>
                <a:latin typeface="Arial"/>
                <a:ea typeface="Arial"/>
                <a:cs typeface="Arial"/>
              </a:rPr>
              <a:t>Setting: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965960" y="2532888"/>
            <a:ext cx="5136642" cy="0"/>
          </a:xfrm>
          <a:prstGeom prst="line">
            <a:avLst/>
          </a:prstGeom>
          <a:ln w="12700">
            <a:solidFill>
              <a:srgbClr val="B9A7D6"/>
            </a:solidFill>
          </a:ln>
        </p:spPr>
      </p:cxnSp>
      <p:sp>
        <p:nvSpPr>
          <p:cNvPr id="12" name="TextBox 11"/>
          <p:cNvSpPr txBox="1"/>
          <p:nvPr/>
        </p:nvSpPr>
        <p:spPr>
          <a:xfrm>
            <a:off x="868680" y="2743200"/>
            <a:ext cx="6233922" cy="320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300" b="1">
                <a:solidFill>
                  <a:srgbClr val="3D2A6B"/>
                </a:solidFill>
                <a:latin typeface="Arial"/>
                <a:ea typeface="Arial"/>
                <a:cs typeface="Arial"/>
              </a:rPr>
              <a:t>On day one, my students will need to…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68680" y="3310128"/>
            <a:ext cx="6233922" cy="0"/>
          </a:xfrm>
          <a:prstGeom prst="line">
            <a:avLst/>
          </a:prstGeom>
          <a:ln w="12700">
            <a:solidFill>
              <a:srgbClr val="B9A7D6"/>
            </a:solidFill>
          </a:ln>
        </p:spPr>
      </p:cxnSp>
      <p:sp>
        <p:nvSpPr>
          <p:cNvPr id="14" name="TextBox 13"/>
          <p:cNvSpPr txBox="1"/>
          <p:nvPr/>
        </p:nvSpPr>
        <p:spPr>
          <a:xfrm>
            <a:off x="868680" y="3547872"/>
            <a:ext cx="6233922" cy="320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300" b="1">
                <a:solidFill>
                  <a:srgbClr val="3D2A6B"/>
                </a:solidFill>
                <a:latin typeface="Arial"/>
                <a:ea typeface="Arial"/>
                <a:cs typeface="Arial"/>
              </a:rPr>
              <a:t>For some students, that means…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68680" y="4114800"/>
            <a:ext cx="6233922" cy="0"/>
          </a:xfrm>
          <a:prstGeom prst="line">
            <a:avLst/>
          </a:prstGeom>
          <a:ln w="12700">
            <a:solidFill>
              <a:srgbClr val="B9A7D6"/>
            </a:solidFill>
          </a:ln>
        </p:spPr>
      </p:cxnSp>
      <p:sp>
        <p:nvSpPr>
          <p:cNvPr id="16" name="TextBox 15"/>
          <p:cNvSpPr txBox="1"/>
          <p:nvPr/>
        </p:nvSpPr>
        <p:spPr>
          <a:xfrm>
            <a:off x="868680" y="4352544"/>
            <a:ext cx="6233922" cy="320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300" b="1">
                <a:solidFill>
                  <a:srgbClr val="3D2A6B"/>
                </a:solidFill>
                <a:latin typeface="Arial"/>
                <a:ea typeface="Arial"/>
                <a:cs typeface="Arial"/>
              </a:rPr>
              <a:t>I could set up…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68680" y="4919472"/>
            <a:ext cx="6233922" cy="0"/>
          </a:xfrm>
          <a:prstGeom prst="line">
            <a:avLst/>
          </a:prstGeom>
          <a:ln w="12700">
            <a:solidFill>
              <a:srgbClr val="B9A7D6"/>
            </a:solidFill>
          </a:ln>
        </p:spPr>
      </p:cxnSp>
      <p:sp>
        <p:nvSpPr>
          <p:cNvPr id="18" name="Rounded Rectangle 17"/>
          <p:cNvSpPr/>
          <p:nvPr/>
        </p:nvSpPr>
        <p:spPr>
          <a:xfrm>
            <a:off x="868680" y="5186020"/>
            <a:ext cx="274320" cy="27432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9050">
            <a:solidFill>
              <a:srgbClr val="58409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34440" y="5158588"/>
            <a:ext cx="5868162" cy="320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100" b="0">
                <a:solidFill>
                  <a:srgbClr val="2D2440"/>
                </a:solidFill>
                <a:latin typeface="Arial"/>
                <a:ea typeface="Arial"/>
                <a:cs typeface="Arial"/>
              </a:rPr>
              <a:t>Specific, workable, and free from blame or deficit labels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96962" y="1325880"/>
            <a:ext cx="6874002" cy="4271620"/>
          </a:xfrm>
          <a:prstGeom prst="roundRect">
            <a:avLst>
              <a:gd name="adj" fmla="val 6000"/>
            </a:avLst>
          </a:prstGeom>
          <a:solidFill>
            <a:srgbClr val="F3F0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971282" y="1581912"/>
            <a:ext cx="502920" cy="502920"/>
          </a:xfrm>
          <a:prstGeom prst="ellipse">
            <a:avLst/>
          </a:prstGeom>
          <a:solidFill>
            <a:srgbClr val="5840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71282" y="1581912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600" b="0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57082" y="1527048"/>
            <a:ext cx="5685282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900" b="0">
                <a:solidFill>
                  <a:srgbClr val="584099"/>
                </a:solidFill>
                <a:latin typeface="Arial Black"/>
                <a:ea typeface="Arial Black"/>
                <a:cs typeface="Arial Black"/>
              </a:rPr>
              <a:t>Options I chose</a:t>
            </a:r>
          </a:p>
          <a:p>
            <a:pPr algn="l" marL="0" indent="0">
              <a:lnSpc>
                <a:spcPct val="100000"/>
              </a:lnSpc>
              <a:spcBef>
                <a:spcPts val="100"/>
              </a:spcBef>
              <a:buNone/>
            </a:pPr>
            <a:r>
              <a:rPr lang="en-AU" sz="1100" b="0">
                <a:solidFill>
                  <a:srgbClr val="5B5670"/>
                </a:solidFill>
                <a:latin typeface="Arial"/>
                <a:ea typeface="Arial"/>
                <a:cs typeface="Arial"/>
              </a:rPr>
              <a:t>Stage 3 · choose one or two that answer your brief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17002" y="2395728"/>
            <a:ext cx="274320" cy="27432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9050">
            <a:solidFill>
              <a:srgbClr val="58409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82762" y="2359152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200" b="1">
                <a:solidFill>
                  <a:srgbClr val="3D2A6B"/>
                </a:solidFill>
                <a:latin typeface="Arial"/>
                <a:ea typeface="Arial"/>
                <a:cs typeface="Arial"/>
              </a:rPr>
              <a:t>Executive functioning supports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17002" y="2779776"/>
            <a:ext cx="274320" cy="27432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9050">
            <a:solidFill>
              <a:srgbClr val="58409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82762" y="2743200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200" b="1">
                <a:solidFill>
                  <a:srgbClr val="3D2A6B"/>
                </a:solidFill>
                <a:latin typeface="Arial"/>
                <a:ea typeface="Arial"/>
                <a:cs typeface="Arial"/>
              </a:rPr>
              <a:t>Predictability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17002" y="3163824"/>
            <a:ext cx="274320" cy="27432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9050">
            <a:solidFill>
              <a:srgbClr val="58409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82762" y="3127248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200" b="1">
                <a:solidFill>
                  <a:srgbClr val="3D2A6B"/>
                </a:solidFill>
                <a:latin typeface="Arial"/>
                <a:ea typeface="Arial"/>
                <a:cs typeface="Arial"/>
              </a:rPr>
              <a:t>A schedule you refer to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17002" y="3547872"/>
            <a:ext cx="274320" cy="27432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9050">
            <a:solidFill>
              <a:srgbClr val="58409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82762" y="3511296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200" b="1">
                <a:solidFill>
                  <a:srgbClr val="3D2A6B"/>
                </a:solidFill>
                <a:latin typeface="Arial"/>
                <a:ea typeface="Arial"/>
                <a:cs typeface="Arial"/>
              </a:rPr>
              <a:t>Visual supports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17002" y="3931920"/>
            <a:ext cx="274320" cy="27432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9050">
            <a:solidFill>
              <a:srgbClr val="58409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82762" y="3895344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200" b="1">
                <a:solidFill>
                  <a:srgbClr val="3D2A6B"/>
                </a:solidFill>
                <a:latin typeface="Arial"/>
                <a:ea typeface="Arial"/>
                <a:cs typeface="Arial"/>
              </a:rPr>
              <a:t>Something else: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891522" y="4187952"/>
            <a:ext cx="4359402" cy="0"/>
          </a:xfrm>
          <a:prstGeom prst="line">
            <a:avLst/>
          </a:prstGeom>
          <a:ln w="12700">
            <a:solidFill>
              <a:srgbClr val="B9A7D6"/>
            </a:solidFill>
          </a:ln>
        </p:spPr>
      </p:cxnSp>
      <p:sp>
        <p:nvSpPr>
          <p:cNvPr id="35" name="TextBox 34"/>
          <p:cNvSpPr txBox="1"/>
          <p:nvPr/>
        </p:nvSpPr>
        <p:spPr>
          <a:xfrm>
            <a:off x="8017002" y="4343400"/>
            <a:ext cx="6233922" cy="320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300" b="1">
                <a:solidFill>
                  <a:srgbClr val="3D2A6B"/>
                </a:solidFill>
                <a:latin typeface="Arial"/>
                <a:ea typeface="Arial"/>
                <a:cs typeface="Arial"/>
              </a:rPr>
              <a:t>Why it fits: which demand in my classroom does it answer?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8017002" y="4983480"/>
            <a:ext cx="6233922" cy="0"/>
          </a:xfrm>
          <a:prstGeom prst="line">
            <a:avLst/>
          </a:prstGeom>
          <a:ln w="12700">
            <a:solidFill>
              <a:srgbClr val="B9A7D6"/>
            </a:solidFill>
          </a:ln>
        </p:spPr>
      </p:cxnSp>
      <p:cxnSp>
        <p:nvCxnSpPr>
          <p:cNvPr id="37" name="Connector 36"/>
          <p:cNvCxnSpPr/>
          <p:nvPr/>
        </p:nvCxnSpPr>
        <p:spPr>
          <a:xfrm>
            <a:off x="8017002" y="5312664"/>
            <a:ext cx="6233922" cy="0"/>
          </a:xfrm>
          <a:prstGeom prst="line">
            <a:avLst/>
          </a:prstGeom>
          <a:ln w="12700">
            <a:solidFill>
              <a:srgbClr val="B9A7D6"/>
            </a:solidFill>
          </a:ln>
        </p:spPr>
      </p:cxnSp>
      <p:cxnSp>
        <p:nvCxnSpPr>
          <p:cNvPr id="38" name="Connector 37"/>
          <p:cNvCxnSpPr/>
          <p:nvPr/>
        </p:nvCxnSpPr>
        <p:spPr>
          <a:xfrm>
            <a:off x="8017002" y="5641848"/>
            <a:ext cx="6233922" cy="0"/>
          </a:xfrm>
          <a:prstGeom prst="line">
            <a:avLst/>
          </a:prstGeom>
          <a:ln w="12700">
            <a:solidFill>
              <a:srgbClr val="B9A7D6"/>
            </a:solidFill>
          </a:ln>
        </p:spPr>
      </p:cxnSp>
      <p:sp>
        <p:nvSpPr>
          <p:cNvPr id="39" name="Rounded Rectangle 38"/>
          <p:cNvSpPr/>
          <p:nvPr/>
        </p:nvSpPr>
        <p:spPr>
          <a:xfrm>
            <a:off x="548640" y="5871820"/>
            <a:ext cx="6874002" cy="4271620"/>
          </a:xfrm>
          <a:prstGeom prst="roundRect">
            <a:avLst>
              <a:gd name="adj" fmla="val 6000"/>
            </a:avLst>
          </a:prstGeom>
          <a:solidFill>
            <a:srgbClr val="F3F0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822960" y="6127852"/>
            <a:ext cx="502920" cy="502920"/>
          </a:xfrm>
          <a:prstGeom prst="ellipse">
            <a:avLst/>
          </a:prstGeom>
          <a:solidFill>
            <a:srgbClr val="5840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2960" y="6127852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600" b="0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508760" y="6072988"/>
            <a:ext cx="5685282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900" b="0">
                <a:solidFill>
                  <a:srgbClr val="584099"/>
                </a:solidFill>
                <a:latin typeface="Arial Black"/>
                <a:ea typeface="Arial Black"/>
                <a:cs typeface="Arial Black"/>
              </a:rPr>
              <a:t>Universal first</a:t>
            </a:r>
          </a:p>
          <a:p>
            <a:pPr algn="l" marL="0" indent="0">
              <a:lnSpc>
                <a:spcPct val="100000"/>
              </a:lnSpc>
              <a:spcBef>
                <a:spcPts val="100"/>
              </a:spcBef>
              <a:buNone/>
            </a:pPr>
            <a:r>
              <a:rPr lang="en-AU" sz="1100" b="0">
                <a:solidFill>
                  <a:srgbClr val="5B5670"/>
                </a:solidFill>
                <a:latin typeface="Arial"/>
                <a:ea typeface="Arial"/>
                <a:cs typeface="Arial"/>
              </a:rPr>
              <a:t>Stage 4 · run these over your draft design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68680" y="6941668"/>
            <a:ext cx="274320" cy="27432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9050">
            <a:solidFill>
              <a:srgbClr val="58409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234440" y="6905092"/>
            <a:ext cx="5868162" cy="320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200" b="1">
                <a:solidFill>
                  <a:srgbClr val="3D2A6B"/>
                </a:solidFill>
                <a:latin typeface="Arial"/>
                <a:ea typeface="Arial"/>
                <a:cs typeface="Arial"/>
              </a:rPr>
              <a:t>Can students find and understand what they need?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68680" y="7344004"/>
            <a:ext cx="274320" cy="27432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9050">
            <a:solidFill>
              <a:srgbClr val="58409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234440" y="7307428"/>
            <a:ext cx="5868162" cy="320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200" b="1">
                <a:solidFill>
                  <a:srgbClr val="3D2A6B"/>
                </a:solidFill>
                <a:latin typeface="Arial"/>
                <a:ea typeface="Arial"/>
                <a:cs typeface="Arial"/>
              </a:rPr>
              <a:t>Can they take part in more than one way?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68680" y="7746340"/>
            <a:ext cx="274320" cy="27432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9050">
            <a:solidFill>
              <a:srgbClr val="58409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234440" y="7709764"/>
            <a:ext cx="5868162" cy="320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200" b="1">
                <a:solidFill>
                  <a:srgbClr val="3D2A6B"/>
                </a:solidFill>
                <a:latin typeface="Arial"/>
                <a:ea typeface="Arial"/>
                <a:cs typeface="Arial"/>
              </a:rPr>
              <a:t>Can they pause, ask for help or recover?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68680" y="8148676"/>
            <a:ext cx="274320" cy="27432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9050">
            <a:solidFill>
              <a:srgbClr val="58409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234440" y="8112100"/>
            <a:ext cx="5868162" cy="320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200" b="1">
                <a:solidFill>
                  <a:srgbClr val="3D2A6B"/>
                </a:solidFill>
                <a:latin typeface="Arial"/>
                <a:ea typeface="Arial"/>
                <a:cs typeface="Arial"/>
              </a:rPr>
              <a:t>Is the support available when demand increases?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68680" y="8551012"/>
            <a:ext cx="274320" cy="27432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9050">
            <a:solidFill>
              <a:srgbClr val="58409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234440" y="8514436"/>
            <a:ext cx="5868162" cy="320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200" b="1">
                <a:solidFill>
                  <a:srgbClr val="3D2A6B"/>
                </a:solidFill>
                <a:latin typeface="Arial"/>
                <a:ea typeface="Arial"/>
                <a:cs typeface="Arial"/>
              </a:rPr>
              <a:t>Is there more than one way to access, engage and respond?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68680" y="8953348"/>
            <a:ext cx="6233922" cy="320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300" b="1">
                <a:solidFill>
                  <a:srgbClr val="3D2A6B"/>
                </a:solidFill>
                <a:latin typeface="Arial"/>
                <a:ea typeface="Arial"/>
                <a:cs typeface="Arial"/>
              </a:rPr>
              <a:t>What I adjusted: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868680" y="9593428"/>
            <a:ext cx="6233922" cy="0"/>
          </a:xfrm>
          <a:prstGeom prst="line">
            <a:avLst/>
          </a:prstGeom>
          <a:ln w="12700">
            <a:solidFill>
              <a:srgbClr val="B9A7D6"/>
            </a:solidFill>
          </a:ln>
        </p:spPr>
      </p:cxnSp>
      <p:cxnSp>
        <p:nvCxnSpPr>
          <p:cNvPr id="55" name="Connector 54"/>
          <p:cNvCxnSpPr/>
          <p:nvPr/>
        </p:nvCxnSpPr>
        <p:spPr>
          <a:xfrm>
            <a:off x="868680" y="9922612"/>
            <a:ext cx="6233922" cy="0"/>
          </a:xfrm>
          <a:prstGeom prst="line">
            <a:avLst/>
          </a:prstGeom>
          <a:ln w="12700">
            <a:solidFill>
              <a:srgbClr val="B9A7D6"/>
            </a:solidFill>
          </a:ln>
        </p:spPr>
      </p:cxnSp>
      <p:sp>
        <p:nvSpPr>
          <p:cNvPr id="56" name="Rounded Rectangle 55"/>
          <p:cNvSpPr/>
          <p:nvPr/>
        </p:nvSpPr>
        <p:spPr>
          <a:xfrm>
            <a:off x="7696962" y="5871820"/>
            <a:ext cx="6874002" cy="4271620"/>
          </a:xfrm>
          <a:prstGeom prst="roundRect">
            <a:avLst>
              <a:gd name="adj" fmla="val 6000"/>
            </a:avLst>
          </a:prstGeom>
          <a:solidFill>
            <a:srgbClr val="F3F0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7971282" y="6127852"/>
            <a:ext cx="502920" cy="502920"/>
          </a:xfrm>
          <a:prstGeom prst="ellipse">
            <a:avLst/>
          </a:prstGeom>
          <a:solidFill>
            <a:srgbClr val="5840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971282" y="6127852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600" b="0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4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657082" y="6072988"/>
            <a:ext cx="5685282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900" b="0">
                <a:solidFill>
                  <a:srgbClr val="584099"/>
                </a:solidFill>
                <a:latin typeface="Arial Black"/>
                <a:ea typeface="Arial Black"/>
                <a:cs typeface="Arial Black"/>
              </a:rPr>
              <a:t>My day-one setup</a:t>
            </a:r>
          </a:p>
          <a:p>
            <a:pPr algn="l" marL="0" indent="0">
              <a:lnSpc>
                <a:spcPct val="100000"/>
              </a:lnSpc>
              <a:spcBef>
                <a:spcPts val="100"/>
              </a:spcBef>
              <a:buNone/>
            </a:pPr>
            <a:r>
              <a:rPr lang="en-AU" sz="1100" b="0">
                <a:solidFill>
                  <a:srgbClr val="5B5670"/>
                </a:solidFill>
                <a:latin typeface="Arial"/>
                <a:ea typeface="Arial"/>
                <a:cs typeface="Arial"/>
              </a:rPr>
              <a:t>Stage 5 · three parts, then plan your check</a:t>
            </a:r>
          </a:p>
        </p:txBody>
      </p:sp>
      <p:sp>
        <p:nvSpPr>
          <p:cNvPr id="60" name="Oval 59"/>
          <p:cNvSpPr/>
          <p:nvPr/>
        </p:nvSpPr>
        <p:spPr>
          <a:xfrm>
            <a:off x="8017002" y="6850228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58409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017002" y="6850228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000" b="0">
                <a:solidFill>
                  <a:srgbClr val="584099"/>
                </a:solidFill>
                <a:latin typeface="Arial Black"/>
                <a:ea typeface="Arial Black"/>
                <a:cs typeface="Arial Black"/>
              </a:rPr>
              <a:t>1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428482" y="6822796"/>
            <a:ext cx="5822442" cy="320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200" b="1">
                <a:solidFill>
                  <a:srgbClr val="3D2A6B"/>
                </a:solidFill>
                <a:latin typeface="Arial"/>
                <a:ea typeface="Arial"/>
                <a:cs typeface="Arial"/>
              </a:rPr>
              <a:t>Ready for day one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8428482" y="7289140"/>
            <a:ext cx="5822442" cy="0"/>
          </a:xfrm>
          <a:prstGeom prst="line">
            <a:avLst/>
          </a:prstGeom>
          <a:ln w="12700">
            <a:solidFill>
              <a:srgbClr val="B9A7D6"/>
            </a:solidFill>
          </a:ln>
        </p:spPr>
      </p:cxnSp>
      <p:sp>
        <p:nvSpPr>
          <p:cNvPr id="64" name="Oval 63"/>
          <p:cNvSpPr/>
          <p:nvPr/>
        </p:nvSpPr>
        <p:spPr>
          <a:xfrm>
            <a:off x="8017002" y="7417156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58409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017002" y="7417156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000" b="0">
                <a:solidFill>
                  <a:srgbClr val="584099"/>
                </a:solidFill>
                <a:latin typeface="Arial Black"/>
                <a:ea typeface="Arial Black"/>
                <a:cs typeface="Arial Black"/>
              </a:rPr>
              <a:t>2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428482" y="7389724"/>
            <a:ext cx="5822442" cy="320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200" b="1">
                <a:solidFill>
                  <a:srgbClr val="3D2A6B"/>
                </a:solidFill>
                <a:latin typeface="Arial"/>
                <a:ea typeface="Arial"/>
                <a:cs typeface="Arial"/>
              </a:rPr>
              <a:t>Builds across term one</a:t>
            </a:r>
          </a:p>
        </p:txBody>
      </p:sp>
      <p:cxnSp>
        <p:nvCxnSpPr>
          <p:cNvPr id="67" name="Connector 66"/>
          <p:cNvCxnSpPr/>
          <p:nvPr/>
        </p:nvCxnSpPr>
        <p:spPr>
          <a:xfrm>
            <a:off x="8428482" y="7856068"/>
            <a:ext cx="5822442" cy="0"/>
          </a:xfrm>
          <a:prstGeom prst="line">
            <a:avLst/>
          </a:prstGeom>
          <a:ln w="12700">
            <a:solidFill>
              <a:srgbClr val="B9A7D6"/>
            </a:solidFill>
          </a:ln>
        </p:spPr>
      </p:cxnSp>
      <p:sp>
        <p:nvSpPr>
          <p:cNvPr id="68" name="Oval 67"/>
          <p:cNvSpPr/>
          <p:nvPr/>
        </p:nvSpPr>
        <p:spPr>
          <a:xfrm>
            <a:off x="8017002" y="7984084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58409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017002" y="7984084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000" b="0">
                <a:solidFill>
                  <a:srgbClr val="584099"/>
                </a:solidFill>
                <a:latin typeface="Arial Black"/>
                <a:ea typeface="Arial Black"/>
                <a:cs typeface="Arial Black"/>
              </a:rPr>
              <a:t>3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428482" y="7956652"/>
            <a:ext cx="5822442" cy="320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200" b="1">
                <a:solidFill>
                  <a:srgbClr val="3D2A6B"/>
                </a:solidFill>
                <a:latin typeface="Arial"/>
                <a:ea typeface="Arial"/>
                <a:cs typeface="Arial"/>
              </a:rPr>
              <a:t>My asking list, and who I will ask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8428482" y="8422996"/>
            <a:ext cx="5822442" cy="0"/>
          </a:xfrm>
          <a:prstGeom prst="line">
            <a:avLst/>
          </a:prstGeom>
          <a:ln w="12700">
            <a:solidFill>
              <a:srgbClr val="B9A7D6"/>
            </a:solidFill>
          </a:ln>
        </p:spPr>
      </p:cxnSp>
      <p:sp>
        <p:nvSpPr>
          <p:cNvPr id="72" name="Oval 71"/>
          <p:cNvSpPr/>
          <p:nvPr/>
        </p:nvSpPr>
        <p:spPr>
          <a:xfrm>
            <a:off x="8017002" y="8551012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58409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017002" y="8551012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000" b="0">
                <a:solidFill>
                  <a:srgbClr val="584099"/>
                </a:solidFill>
                <a:latin typeface="Arial Black"/>
                <a:ea typeface="Arial Black"/>
                <a:cs typeface="Arial Black"/>
              </a:rPr>
              <a:t>4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428482" y="8523580"/>
            <a:ext cx="5822442" cy="320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200" b="1">
                <a:solidFill>
                  <a:srgbClr val="3D2A6B"/>
                </a:solidFill>
                <a:latin typeface="Arial"/>
                <a:ea typeface="Arial"/>
                <a:cs typeface="Arial"/>
              </a:rPr>
              <a:t>What I will observe</a:t>
            </a:r>
          </a:p>
        </p:txBody>
      </p:sp>
      <p:cxnSp>
        <p:nvCxnSpPr>
          <p:cNvPr id="75" name="Connector 74"/>
          <p:cNvCxnSpPr/>
          <p:nvPr/>
        </p:nvCxnSpPr>
        <p:spPr>
          <a:xfrm>
            <a:off x="8428482" y="8989924"/>
            <a:ext cx="5822442" cy="0"/>
          </a:xfrm>
          <a:prstGeom prst="line">
            <a:avLst/>
          </a:prstGeom>
          <a:ln w="12700">
            <a:solidFill>
              <a:srgbClr val="B9A7D6"/>
            </a:solidFill>
          </a:ln>
        </p:spPr>
      </p:cxnSp>
      <p:sp>
        <p:nvSpPr>
          <p:cNvPr id="76" name="Oval 75"/>
          <p:cNvSpPr/>
          <p:nvPr/>
        </p:nvSpPr>
        <p:spPr>
          <a:xfrm>
            <a:off x="8017002" y="91179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58409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017002" y="9117940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000" b="0">
                <a:solidFill>
                  <a:srgbClr val="584099"/>
                </a:solidFill>
                <a:latin typeface="Arial Black"/>
                <a:ea typeface="Arial Black"/>
                <a:cs typeface="Arial Black"/>
              </a:rPr>
              <a:t>5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428482" y="9090508"/>
            <a:ext cx="5822442" cy="320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200" b="1">
                <a:solidFill>
                  <a:srgbClr val="3D2A6B"/>
                </a:solidFill>
                <a:latin typeface="Arial"/>
                <a:ea typeface="Arial"/>
                <a:cs typeface="Arial"/>
              </a:rPr>
              <a:t>When I will review it</a:t>
            </a:r>
          </a:p>
        </p:txBody>
      </p:sp>
      <p:cxnSp>
        <p:nvCxnSpPr>
          <p:cNvPr id="79" name="Connector 78"/>
          <p:cNvCxnSpPr/>
          <p:nvPr/>
        </p:nvCxnSpPr>
        <p:spPr>
          <a:xfrm>
            <a:off x="8428482" y="9556852"/>
            <a:ext cx="5822442" cy="0"/>
          </a:xfrm>
          <a:prstGeom prst="line">
            <a:avLst/>
          </a:prstGeom>
          <a:ln w="12700">
            <a:solidFill>
              <a:srgbClr val="B9A7D6"/>
            </a:solidFill>
          </a:ln>
        </p:spPr>
      </p:cxnSp>
      <p:sp>
        <p:nvSpPr>
          <p:cNvPr id="80" name="Rounded Rectangle 79"/>
          <p:cNvSpPr/>
          <p:nvPr/>
        </p:nvSpPr>
        <p:spPr>
          <a:xfrm>
            <a:off x="8017002" y="9731959"/>
            <a:ext cx="274320" cy="27432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9050">
            <a:solidFill>
              <a:srgbClr val="58409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8382762" y="9704527"/>
            <a:ext cx="5868162" cy="320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100" b="0">
                <a:solidFill>
                  <a:srgbClr val="2D2440"/>
                </a:solidFill>
                <a:latin typeface="Arial"/>
                <a:ea typeface="Arial"/>
                <a:cs typeface="Arial"/>
              </a:rPr>
              <a:t>Checked with my trio: still student-centred and environment-first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48640" y="10234879"/>
            <a:ext cx="14022324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200" b="1">
                <a:solidFill>
                  <a:srgbClr val="5B5670"/>
                </a:solidFill>
                <a:latin typeface="Arial"/>
                <a:ea typeface="Arial"/>
                <a:cs typeface="Arial"/>
              </a:rPr>
              <a:t>Keep students first. Use initials or roles only: no student names or identifying details. This sheet goes on the wall in Stage 8.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4022324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200" b="1">
                <a:solidFill>
                  <a:srgbClr val="584099"/>
                </a:solidFill>
                <a:latin typeface="Arial"/>
                <a:ea typeface="Arial"/>
                <a:cs typeface="Arial"/>
              </a:rPr>
              <a:t>MY STUDENTS CARDS · CUT ALONG THE DASHED LINES · ONE PER PERSON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475488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2000" b="0">
                <a:solidFill>
                  <a:srgbClr val="584099"/>
                </a:solidFill>
                <a:latin typeface="Arial Black"/>
                <a:ea typeface="Arial Black"/>
                <a:cs typeface="Arial Black"/>
              </a:rPr>
              <a:t>My students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100" b="0">
                <a:solidFill>
                  <a:srgbClr val="5B5670"/>
                </a:solidFill>
                <a:latin typeface="Arial"/>
                <a:ea typeface="Arial"/>
                <a:cs typeface="Arial"/>
              </a:rPr>
              <a:t>Private: keep this card to yourself. Stage 6.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0" y="1691640"/>
            <a:ext cx="1691640" cy="411480"/>
          </a:xfrm>
          <a:prstGeom prst="roundRect">
            <a:avLst>
              <a:gd name="adj" fmla="val 30000"/>
            </a:avLst>
          </a:prstGeom>
          <a:solidFill>
            <a:srgbClr val="F3F0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03120" y="1691640"/>
            <a:ext cx="1143000" cy="4114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100" b="1">
                <a:solidFill>
                  <a:srgbClr val="584099"/>
                </a:solidFill>
                <a:latin typeface="Arial"/>
                <a:ea typeface="Arial"/>
                <a:cs typeface="Arial"/>
              </a:rPr>
              <a:t>Helps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11880" y="1691640"/>
            <a:ext cx="1691640" cy="411480"/>
          </a:xfrm>
          <a:prstGeom prst="roundRect">
            <a:avLst>
              <a:gd name="adj" fmla="val 30000"/>
            </a:avLst>
          </a:prstGeom>
          <a:solidFill>
            <a:srgbClr val="F3F0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86200" y="1691640"/>
            <a:ext cx="1143000" cy="4114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100" b="1">
                <a:solidFill>
                  <a:srgbClr val="584099"/>
                </a:solidFill>
                <a:latin typeface="Arial"/>
                <a:ea typeface="Arial"/>
                <a:cs typeface="Arial"/>
              </a:rPr>
              <a:t>No difference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94960" y="1691640"/>
            <a:ext cx="1691640" cy="411480"/>
          </a:xfrm>
          <a:prstGeom prst="roundRect">
            <a:avLst>
              <a:gd name="adj" fmla="val 30000"/>
            </a:avLst>
          </a:prstGeom>
          <a:solidFill>
            <a:srgbClr val="5840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0" y="1691640"/>
            <a:ext cx="1143000" cy="4114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Needs something more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212848"/>
            <a:ext cx="1188720" cy="320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200" b="1">
                <a:solidFill>
                  <a:srgbClr val="3D2A6B"/>
                </a:solidFill>
                <a:latin typeface="Arial"/>
                <a:ea typeface="Arial"/>
                <a:cs typeface="Arial"/>
              </a:rPr>
              <a:t>Student 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28800" y="2167128"/>
            <a:ext cx="1691640" cy="420624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B9A7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611880" y="2167128"/>
            <a:ext cx="1691640" cy="420624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B9A7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394960" y="2167128"/>
            <a:ext cx="1691640" cy="420624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B9A7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2706624"/>
            <a:ext cx="1188720" cy="320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200" b="1">
                <a:solidFill>
                  <a:srgbClr val="3D2A6B"/>
                </a:solidFill>
                <a:latin typeface="Arial"/>
                <a:ea typeface="Arial"/>
                <a:cs typeface="Arial"/>
              </a:rPr>
              <a:t>Student B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828800" y="2660904"/>
            <a:ext cx="1691640" cy="420624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B9A7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611880" y="2660904"/>
            <a:ext cx="1691640" cy="420624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B9A7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394960" y="2660904"/>
            <a:ext cx="1691640" cy="420624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B9A7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200400"/>
            <a:ext cx="1188720" cy="320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200" b="1">
                <a:solidFill>
                  <a:srgbClr val="3D2A6B"/>
                </a:solidFill>
                <a:latin typeface="Arial"/>
                <a:ea typeface="Arial"/>
                <a:cs typeface="Arial"/>
              </a:rPr>
              <a:t>Student C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828800" y="3154680"/>
            <a:ext cx="1691640" cy="420624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B9A7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611880" y="3154680"/>
            <a:ext cx="1691640" cy="420624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B9A7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394960" y="3154680"/>
            <a:ext cx="1691640" cy="420624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B9A7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635240" y="914400"/>
            <a:ext cx="6935724" cy="2756306"/>
          </a:xfrm>
          <a:prstGeom prst="roundRect">
            <a:avLst>
              <a:gd name="adj" fmla="val 8000"/>
            </a:avLst>
          </a:prstGeom>
          <a:solidFill>
            <a:srgbClr val="F3F0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09560" y="1097280"/>
            <a:ext cx="6387084" cy="320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300" b="1">
                <a:solidFill>
                  <a:srgbClr val="3D2A6B"/>
                </a:solidFill>
                <a:latin typeface="Arial"/>
                <a:ea typeface="Arial"/>
                <a:cs typeface="Arial"/>
              </a:rPr>
              <a:t>Ready for day one, my first step: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909560" y="1828800"/>
            <a:ext cx="6387084" cy="0"/>
          </a:xfrm>
          <a:prstGeom prst="line">
            <a:avLst/>
          </a:prstGeom>
          <a:ln w="12700">
            <a:solidFill>
              <a:srgbClr val="B9A7D6"/>
            </a:solidFill>
          </a:ln>
        </p:spPr>
      </p:cxnSp>
      <p:cxnSp>
        <p:nvCxnSpPr>
          <p:cNvPr id="26" name="Connector 25"/>
          <p:cNvCxnSpPr/>
          <p:nvPr/>
        </p:nvCxnSpPr>
        <p:spPr>
          <a:xfrm>
            <a:off x="7909560" y="2148840"/>
            <a:ext cx="6387084" cy="0"/>
          </a:xfrm>
          <a:prstGeom prst="line">
            <a:avLst/>
          </a:prstGeom>
          <a:ln w="12700">
            <a:solidFill>
              <a:srgbClr val="B9A7D6"/>
            </a:solidFill>
          </a:ln>
        </p:spPr>
      </p:cxnSp>
      <p:sp>
        <p:nvSpPr>
          <p:cNvPr id="27" name="TextBox 26"/>
          <p:cNvSpPr txBox="1"/>
          <p:nvPr/>
        </p:nvSpPr>
        <p:spPr>
          <a:xfrm>
            <a:off x="7909560" y="2377440"/>
            <a:ext cx="6387084" cy="320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300" b="1">
                <a:solidFill>
                  <a:srgbClr val="3D2A6B"/>
                </a:solidFill>
                <a:latin typeface="Arial"/>
                <a:ea typeface="Arial"/>
                <a:cs typeface="Arial"/>
              </a:rPr>
              <a:t>My asking list goes to: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909560" y="3063240"/>
            <a:ext cx="6387084" cy="0"/>
          </a:xfrm>
          <a:prstGeom prst="line">
            <a:avLst/>
          </a:prstGeom>
          <a:ln w="12700">
            <a:solidFill>
              <a:srgbClr val="B9A7D6"/>
            </a:solidFill>
          </a:ln>
        </p:spPr>
      </p:cxnSp>
      <p:sp>
        <p:nvSpPr>
          <p:cNvPr id="29" name="TextBox 28"/>
          <p:cNvSpPr txBox="1"/>
          <p:nvPr/>
        </p:nvSpPr>
        <p:spPr>
          <a:xfrm>
            <a:off x="7909560" y="3259226"/>
            <a:ext cx="6387084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000" b="0">
                <a:solidFill>
                  <a:srgbClr val="5B5670"/>
                </a:solidFill>
                <a:latin typeface="Arial"/>
                <a:ea typeface="Arial"/>
                <a:cs typeface="Arial"/>
              </a:rPr>
              <a:t>Stage 8 · commit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228600" y="3853586"/>
            <a:ext cx="14662404" cy="0"/>
          </a:xfrm>
          <a:prstGeom prst="line">
            <a:avLst/>
          </a:prstGeom>
          <a:ln w="15875">
            <a:solidFill>
              <a:srgbClr val="B9A7D6"/>
            </a:solidFill>
            <a:prstDash val="dash"/>
          </a:ln>
        </p:spPr>
      </p:cxnSp>
      <p:sp>
        <p:nvSpPr>
          <p:cNvPr id="31" name="TextBox 30"/>
          <p:cNvSpPr txBox="1"/>
          <p:nvPr/>
        </p:nvSpPr>
        <p:spPr>
          <a:xfrm>
            <a:off x="548640" y="4036466"/>
            <a:ext cx="475488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2000" b="0">
                <a:solidFill>
                  <a:srgbClr val="584099"/>
                </a:solidFill>
                <a:latin typeface="Arial Black"/>
                <a:ea typeface="Arial Black"/>
                <a:cs typeface="Arial Black"/>
              </a:rPr>
              <a:t>My students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4493666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100" b="0">
                <a:solidFill>
                  <a:srgbClr val="5B5670"/>
                </a:solidFill>
                <a:latin typeface="Arial"/>
                <a:ea typeface="Arial"/>
                <a:cs typeface="Arial"/>
              </a:rPr>
              <a:t>Private: keep this card to yourself. Stage 6.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828800" y="4859426"/>
            <a:ext cx="1691640" cy="411480"/>
          </a:xfrm>
          <a:prstGeom prst="roundRect">
            <a:avLst>
              <a:gd name="adj" fmla="val 30000"/>
            </a:avLst>
          </a:prstGeom>
          <a:solidFill>
            <a:srgbClr val="F3F0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103120" y="4859426"/>
            <a:ext cx="1143000" cy="4114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100" b="1">
                <a:solidFill>
                  <a:srgbClr val="584099"/>
                </a:solidFill>
                <a:latin typeface="Arial"/>
                <a:ea typeface="Arial"/>
                <a:cs typeface="Arial"/>
              </a:rPr>
              <a:t>Helps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611880" y="4859426"/>
            <a:ext cx="1691640" cy="411480"/>
          </a:xfrm>
          <a:prstGeom prst="roundRect">
            <a:avLst>
              <a:gd name="adj" fmla="val 30000"/>
            </a:avLst>
          </a:prstGeom>
          <a:solidFill>
            <a:srgbClr val="F3F0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886200" y="4859426"/>
            <a:ext cx="1143000" cy="4114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100" b="1">
                <a:solidFill>
                  <a:srgbClr val="584099"/>
                </a:solidFill>
                <a:latin typeface="Arial"/>
                <a:ea typeface="Arial"/>
                <a:cs typeface="Arial"/>
              </a:rPr>
              <a:t>No difference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394960" y="4859426"/>
            <a:ext cx="1691640" cy="411480"/>
          </a:xfrm>
          <a:prstGeom prst="roundRect">
            <a:avLst>
              <a:gd name="adj" fmla="val 30000"/>
            </a:avLst>
          </a:prstGeom>
          <a:solidFill>
            <a:srgbClr val="5840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669280" y="4859426"/>
            <a:ext cx="1143000" cy="4114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Needs something more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5380634"/>
            <a:ext cx="1188720" cy="320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200" b="1">
                <a:solidFill>
                  <a:srgbClr val="3D2A6B"/>
                </a:solidFill>
                <a:latin typeface="Arial"/>
                <a:ea typeface="Arial"/>
                <a:cs typeface="Arial"/>
              </a:rPr>
              <a:t>Student A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828800" y="5334914"/>
            <a:ext cx="1691640" cy="420624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B9A7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3611880" y="5334914"/>
            <a:ext cx="1691640" cy="420624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B9A7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5394960" y="5334914"/>
            <a:ext cx="1691640" cy="420624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B9A7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48640" y="5874410"/>
            <a:ext cx="1188720" cy="320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200" b="1">
                <a:solidFill>
                  <a:srgbClr val="3D2A6B"/>
                </a:solidFill>
                <a:latin typeface="Arial"/>
                <a:ea typeface="Arial"/>
                <a:cs typeface="Arial"/>
              </a:rPr>
              <a:t>Student B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828800" y="5828690"/>
            <a:ext cx="1691640" cy="420624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B9A7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3611880" y="5828690"/>
            <a:ext cx="1691640" cy="420624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B9A7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5394960" y="5828690"/>
            <a:ext cx="1691640" cy="420624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B9A7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48640" y="6368186"/>
            <a:ext cx="1188720" cy="320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200" b="1">
                <a:solidFill>
                  <a:srgbClr val="3D2A6B"/>
                </a:solidFill>
                <a:latin typeface="Arial"/>
                <a:ea typeface="Arial"/>
                <a:cs typeface="Arial"/>
              </a:rPr>
              <a:t>Student C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828800" y="6322466"/>
            <a:ext cx="1691640" cy="420624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B9A7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3611880" y="6322466"/>
            <a:ext cx="1691640" cy="420624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B9A7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5394960" y="6322466"/>
            <a:ext cx="1691640" cy="420624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B9A7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7635240" y="4082186"/>
            <a:ext cx="6935724" cy="2756306"/>
          </a:xfrm>
          <a:prstGeom prst="roundRect">
            <a:avLst>
              <a:gd name="adj" fmla="val 8000"/>
            </a:avLst>
          </a:prstGeom>
          <a:solidFill>
            <a:srgbClr val="F3F0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909560" y="4265066"/>
            <a:ext cx="6387084" cy="320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300" b="1">
                <a:solidFill>
                  <a:srgbClr val="3D2A6B"/>
                </a:solidFill>
                <a:latin typeface="Arial"/>
                <a:ea typeface="Arial"/>
                <a:cs typeface="Arial"/>
              </a:rPr>
              <a:t>Ready for day one, my first step: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7909560" y="4996586"/>
            <a:ext cx="6387084" cy="0"/>
          </a:xfrm>
          <a:prstGeom prst="line">
            <a:avLst/>
          </a:prstGeom>
          <a:ln w="12700">
            <a:solidFill>
              <a:srgbClr val="B9A7D6"/>
            </a:solidFill>
          </a:ln>
        </p:spPr>
      </p:cxnSp>
      <p:cxnSp>
        <p:nvCxnSpPr>
          <p:cNvPr id="54" name="Connector 53"/>
          <p:cNvCxnSpPr/>
          <p:nvPr/>
        </p:nvCxnSpPr>
        <p:spPr>
          <a:xfrm>
            <a:off x="7909560" y="5316626"/>
            <a:ext cx="6387084" cy="0"/>
          </a:xfrm>
          <a:prstGeom prst="line">
            <a:avLst/>
          </a:prstGeom>
          <a:ln w="12700">
            <a:solidFill>
              <a:srgbClr val="B9A7D6"/>
            </a:solidFill>
          </a:ln>
        </p:spPr>
      </p:cxnSp>
      <p:sp>
        <p:nvSpPr>
          <p:cNvPr id="55" name="TextBox 54"/>
          <p:cNvSpPr txBox="1"/>
          <p:nvPr/>
        </p:nvSpPr>
        <p:spPr>
          <a:xfrm>
            <a:off x="7909560" y="5545226"/>
            <a:ext cx="6387084" cy="320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300" b="1">
                <a:solidFill>
                  <a:srgbClr val="3D2A6B"/>
                </a:solidFill>
                <a:latin typeface="Arial"/>
                <a:ea typeface="Arial"/>
                <a:cs typeface="Arial"/>
              </a:rPr>
              <a:t>My asking list goes to: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7909560" y="6231026"/>
            <a:ext cx="6387084" cy="0"/>
          </a:xfrm>
          <a:prstGeom prst="line">
            <a:avLst/>
          </a:prstGeom>
          <a:ln w="12700">
            <a:solidFill>
              <a:srgbClr val="B9A7D6"/>
            </a:solidFill>
          </a:ln>
        </p:spPr>
      </p:cxnSp>
      <p:sp>
        <p:nvSpPr>
          <p:cNvPr id="57" name="TextBox 56"/>
          <p:cNvSpPr txBox="1"/>
          <p:nvPr/>
        </p:nvSpPr>
        <p:spPr>
          <a:xfrm>
            <a:off x="7909560" y="6427013"/>
            <a:ext cx="6387084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000" b="0">
                <a:solidFill>
                  <a:srgbClr val="5B5670"/>
                </a:solidFill>
                <a:latin typeface="Arial"/>
                <a:ea typeface="Arial"/>
                <a:cs typeface="Arial"/>
              </a:rPr>
              <a:t>Stage 8 · commit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228600" y="7021373"/>
            <a:ext cx="14662404" cy="0"/>
          </a:xfrm>
          <a:prstGeom prst="line">
            <a:avLst/>
          </a:prstGeom>
          <a:ln w="15875">
            <a:solidFill>
              <a:srgbClr val="B9A7D6"/>
            </a:solidFill>
            <a:prstDash val="dash"/>
          </a:ln>
        </p:spPr>
      </p:cxnSp>
      <p:sp>
        <p:nvSpPr>
          <p:cNvPr id="59" name="TextBox 58"/>
          <p:cNvSpPr txBox="1"/>
          <p:nvPr/>
        </p:nvSpPr>
        <p:spPr>
          <a:xfrm>
            <a:off x="548640" y="7204253"/>
            <a:ext cx="475488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2000" b="0">
                <a:solidFill>
                  <a:srgbClr val="584099"/>
                </a:solidFill>
                <a:latin typeface="Arial Black"/>
                <a:ea typeface="Arial Black"/>
                <a:cs typeface="Arial Black"/>
              </a:rPr>
              <a:t>My students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48640" y="7661453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100" b="0">
                <a:solidFill>
                  <a:srgbClr val="5B5670"/>
                </a:solidFill>
                <a:latin typeface="Arial"/>
                <a:ea typeface="Arial"/>
                <a:cs typeface="Arial"/>
              </a:rPr>
              <a:t>Private: keep this card to yourself. Stage 6.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1828800" y="8027213"/>
            <a:ext cx="1691640" cy="411480"/>
          </a:xfrm>
          <a:prstGeom prst="roundRect">
            <a:avLst>
              <a:gd name="adj" fmla="val 30000"/>
            </a:avLst>
          </a:prstGeom>
          <a:solidFill>
            <a:srgbClr val="F3F0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103120" y="8027213"/>
            <a:ext cx="1143000" cy="4114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100" b="1">
                <a:solidFill>
                  <a:srgbClr val="584099"/>
                </a:solidFill>
                <a:latin typeface="Arial"/>
                <a:ea typeface="Arial"/>
                <a:cs typeface="Arial"/>
              </a:rPr>
              <a:t>Helps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3611880" y="8027213"/>
            <a:ext cx="1691640" cy="411480"/>
          </a:xfrm>
          <a:prstGeom prst="roundRect">
            <a:avLst>
              <a:gd name="adj" fmla="val 30000"/>
            </a:avLst>
          </a:prstGeom>
          <a:solidFill>
            <a:srgbClr val="F3F0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886200" y="8027213"/>
            <a:ext cx="1143000" cy="4114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100" b="1">
                <a:solidFill>
                  <a:srgbClr val="584099"/>
                </a:solidFill>
                <a:latin typeface="Arial"/>
                <a:ea typeface="Arial"/>
                <a:cs typeface="Arial"/>
              </a:rPr>
              <a:t>No difference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5394960" y="8027213"/>
            <a:ext cx="1691640" cy="411480"/>
          </a:xfrm>
          <a:prstGeom prst="roundRect">
            <a:avLst>
              <a:gd name="adj" fmla="val 30000"/>
            </a:avLst>
          </a:prstGeom>
          <a:solidFill>
            <a:srgbClr val="5840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669280" y="8027213"/>
            <a:ext cx="1143000" cy="4114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Needs something more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48640" y="8548421"/>
            <a:ext cx="1188720" cy="320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200" b="1">
                <a:solidFill>
                  <a:srgbClr val="3D2A6B"/>
                </a:solidFill>
                <a:latin typeface="Arial"/>
                <a:ea typeface="Arial"/>
                <a:cs typeface="Arial"/>
              </a:rPr>
              <a:t>Student A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1828800" y="8502701"/>
            <a:ext cx="1691640" cy="420624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B9A7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3611880" y="8502701"/>
            <a:ext cx="1691640" cy="420624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B9A7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" name="Rounded Rectangle 69"/>
          <p:cNvSpPr/>
          <p:nvPr/>
        </p:nvSpPr>
        <p:spPr>
          <a:xfrm>
            <a:off x="5394960" y="8502701"/>
            <a:ext cx="1691640" cy="420624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B9A7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48640" y="9042197"/>
            <a:ext cx="1188720" cy="320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200" b="1">
                <a:solidFill>
                  <a:srgbClr val="3D2A6B"/>
                </a:solidFill>
                <a:latin typeface="Arial"/>
                <a:ea typeface="Arial"/>
                <a:cs typeface="Arial"/>
              </a:rPr>
              <a:t>Student B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1828800" y="8996477"/>
            <a:ext cx="1691640" cy="420624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B9A7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" name="Rounded Rectangle 72"/>
          <p:cNvSpPr/>
          <p:nvPr/>
        </p:nvSpPr>
        <p:spPr>
          <a:xfrm>
            <a:off x="3611880" y="8996477"/>
            <a:ext cx="1691640" cy="420624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B9A7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5394960" y="8996477"/>
            <a:ext cx="1691640" cy="420624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B9A7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548640" y="9535973"/>
            <a:ext cx="1188720" cy="320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200" b="1">
                <a:solidFill>
                  <a:srgbClr val="3D2A6B"/>
                </a:solidFill>
                <a:latin typeface="Arial"/>
                <a:ea typeface="Arial"/>
                <a:cs typeface="Arial"/>
              </a:rPr>
              <a:t>Student C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1828800" y="9490253"/>
            <a:ext cx="1691640" cy="420624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B9A7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3611880" y="9490253"/>
            <a:ext cx="1691640" cy="420624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B9A7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8" name="Rounded Rectangle 77"/>
          <p:cNvSpPr/>
          <p:nvPr/>
        </p:nvSpPr>
        <p:spPr>
          <a:xfrm>
            <a:off x="5394960" y="9490253"/>
            <a:ext cx="1691640" cy="420624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B9A7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9" name="Rounded Rectangle 78"/>
          <p:cNvSpPr/>
          <p:nvPr/>
        </p:nvSpPr>
        <p:spPr>
          <a:xfrm>
            <a:off x="7635240" y="7249973"/>
            <a:ext cx="6935724" cy="2756306"/>
          </a:xfrm>
          <a:prstGeom prst="roundRect">
            <a:avLst>
              <a:gd name="adj" fmla="val 8000"/>
            </a:avLst>
          </a:prstGeom>
          <a:solidFill>
            <a:srgbClr val="F3F0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7909560" y="7432853"/>
            <a:ext cx="6387084" cy="320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300" b="1">
                <a:solidFill>
                  <a:srgbClr val="3D2A6B"/>
                </a:solidFill>
                <a:latin typeface="Arial"/>
                <a:ea typeface="Arial"/>
                <a:cs typeface="Arial"/>
              </a:rPr>
              <a:t>Ready for day one, my first step:</a:t>
            </a:r>
          </a:p>
        </p:txBody>
      </p:sp>
      <p:cxnSp>
        <p:nvCxnSpPr>
          <p:cNvPr id="81" name="Connector 80"/>
          <p:cNvCxnSpPr/>
          <p:nvPr/>
        </p:nvCxnSpPr>
        <p:spPr>
          <a:xfrm>
            <a:off x="7909560" y="8164373"/>
            <a:ext cx="6387084" cy="0"/>
          </a:xfrm>
          <a:prstGeom prst="line">
            <a:avLst/>
          </a:prstGeom>
          <a:ln w="12700">
            <a:solidFill>
              <a:srgbClr val="B9A7D6"/>
            </a:solidFill>
          </a:ln>
        </p:spPr>
      </p:cxnSp>
      <p:cxnSp>
        <p:nvCxnSpPr>
          <p:cNvPr id="82" name="Connector 81"/>
          <p:cNvCxnSpPr/>
          <p:nvPr/>
        </p:nvCxnSpPr>
        <p:spPr>
          <a:xfrm>
            <a:off x="7909560" y="8484413"/>
            <a:ext cx="6387084" cy="0"/>
          </a:xfrm>
          <a:prstGeom prst="line">
            <a:avLst/>
          </a:prstGeom>
          <a:ln w="12700">
            <a:solidFill>
              <a:srgbClr val="B9A7D6"/>
            </a:solidFill>
          </a:ln>
        </p:spPr>
      </p:cxnSp>
      <p:sp>
        <p:nvSpPr>
          <p:cNvPr id="83" name="TextBox 82"/>
          <p:cNvSpPr txBox="1"/>
          <p:nvPr/>
        </p:nvSpPr>
        <p:spPr>
          <a:xfrm>
            <a:off x="7909560" y="8713013"/>
            <a:ext cx="6387084" cy="320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300" b="1">
                <a:solidFill>
                  <a:srgbClr val="3D2A6B"/>
                </a:solidFill>
                <a:latin typeface="Arial"/>
                <a:ea typeface="Arial"/>
                <a:cs typeface="Arial"/>
              </a:rPr>
              <a:t>My asking list goes to:</a:t>
            </a:r>
          </a:p>
        </p:txBody>
      </p:sp>
      <p:cxnSp>
        <p:nvCxnSpPr>
          <p:cNvPr id="84" name="Connector 83"/>
          <p:cNvCxnSpPr/>
          <p:nvPr/>
        </p:nvCxnSpPr>
        <p:spPr>
          <a:xfrm>
            <a:off x="7909560" y="9398813"/>
            <a:ext cx="6387084" cy="0"/>
          </a:xfrm>
          <a:prstGeom prst="line">
            <a:avLst/>
          </a:prstGeom>
          <a:ln w="12700">
            <a:solidFill>
              <a:srgbClr val="B9A7D6"/>
            </a:solidFill>
          </a:ln>
        </p:spPr>
      </p:cxnSp>
      <p:sp>
        <p:nvSpPr>
          <p:cNvPr id="85" name="TextBox 84"/>
          <p:cNvSpPr txBox="1"/>
          <p:nvPr/>
        </p:nvSpPr>
        <p:spPr>
          <a:xfrm>
            <a:off x="7909560" y="9594799"/>
            <a:ext cx="6387084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000" b="0">
                <a:solidFill>
                  <a:srgbClr val="5B5670"/>
                </a:solidFill>
                <a:latin typeface="Arial"/>
                <a:ea typeface="Arial"/>
                <a:cs typeface="Arial"/>
              </a:rPr>
              <a:t>Stage 8 · commit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