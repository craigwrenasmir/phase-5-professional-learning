
<file path=[Content_Types].xml><?xml version="1.0" encoding="utf-8"?>
<Types xmlns="http://schemas.openxmlformats.org/package/2006/content-types">
  <Default Extension="jpeg" ContentType="image/jpeg"/>
  <Default Extension="mp4" ContentType="video/mp4"/>
  <Default Extension="png" ContentType="image/png"/>
  <Default Extension="rels" ContentType="application/vnd.openxmlformats-package.relationships+xml"/>
  <Default Extension="xml" ContentType="applicatio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authors.xml" ContentType="application/vnd.ms-powerpoint.authors+xml"/>
  <Override PartName="/ppt/changesInfos/changesInfo1.xml" ContentType="application/vnd.ms-powerpoint.changesinfo+xml"/>
  <Override PartName="/ppt/comments/modernComment_346_3E00D4D8.xml" ContentType="application/vnd.ms-powerpoint.comments+xml"/>
  <Override PartName="/ppt/comments/modernComment_34C_A86DA66C.xml" ContentType="application/vnd.ms-powerpoint.comments+xml"/>
  <Override PartName="/ppt/media/image2.svg" ContentType="image/svg+xml"/>
  <Override PartName="/ppt/media/image4.svg" ContentType="image/svg+xml"/>
  <Override PartName="/ppt/media/image6.svg" ContentType="image/svg+xml"/>
  <Override PartName="/ppt/media/image7.svg" ContentType="image/svg+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ags/tag2.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4"/>
  </p:sldMasterIdLst>
  <p:notesMasterIdLst>
    <p:notesMasterId r:id="rId22"/>
  </p:notesMasterIdLst>
  <p:sldIdLst>
    <p:sldId id="825" r:id="rId5"/>
    <p:sldId id="838" r:id="rId6"/>
    <p:sldId id="837" r:id="rId7"/>
    <p:sldId id="844" r:id="rId8"/>
    <p:sldId id="855" r:id="rId29"/>
    <p:sldId id="267" r:id="rId9"/>
    <p:sldId id="849" r:id="rId10"/>
    <p:sldId id="845" r:id="rId11"/>
    <p:sldId id="846" r:id="rId12"/>
    <p:sldId id="842" r:id="rId13"/>
    <p:sldId id="850" r:id="rId14"/>
    <p:sldId id="851" r:id="rId15"/>
    <p:sldId id="852" r:id="rId16"/>
    <p:sldId id="856" r:id="rId30"/>
    <p:sldId id="853" r:id="rId17"/>
    <p:sldId id="572" r:id="rId18"/>
    <p:sldId id="847" r:id="rId19"/>
    <p:sldId id="358" r:id="rId20"/>
    <p:sldId id="854" r:id="rId21"/>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94DEC358-9AF5-9F80-E7CA-D932E5596AC8}" name="Alison Macrae" initials="AM" userId="S::amacrae@autismspectrum.org.au::6553da1e-2f05-4f27-a7df-76a06554bf9d" providerId="AD"/>
  <p188:author id="{7C3F8D6F-1DEE-6615-6CEF-2DFCB510BACA}" name="Nicole Torres" initials="NT" userId="S::ntorres@autismcrc.com.au::0026055d-e81a-4ac9-a7f9-7ac97c409d29" providerId="AD"/>
</p188:authorLst>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7497"/>
    <p:restoredTop sz="94678"/>
  </p:normalViewPr>
  <p:slideViewPr>
    <p:cSldViewPr snapToGrid="0">
      <p:cViewPr varScale="1">
        <p:scale>
          <a:sx n="117" d="100"/>
          <a:sy n="117" d="100"/>
        </p:scale>
        <p:origin x="488" y="184"/>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customXml" Target="../customXml/item1.xml"/><Relationship Id="rId2" Type="http://schemas.openxmlformats.org/officeDocument/2006/relationships/customXml" Target="../customXml/item2.xml"/><Relationship Id="rId3" Type="http://schemas.openxmlformats.org/officeDocument/2006/relationships/customXml" Target="../customXml/item3.xml"/><Relationship Id="rId4" Type="http://schemas.openxmlformats.org/officeDocument/2006/relationships/slideMaster" Target="slideMasters/slideMaster1.xml"/><Relationship Id="rId5" Type="http://schemas.openxmlformats.org/officeDocument/2006/relationships/slide" Target="slides/slide1.xml"/><Relationship Id="rId6" Type="http://schemas.openxmlformats.org/officeDocument/2006/relationships/slide" Target="slides/slide2.xml"/><Relationship Id="rId7" Type="http://schemas.openxmlformats.org/officeDocument/2006/relationships/slide" Target="slides/slide3.xml"/><Relationship Id="rId8" Type="http://schemas.openxmlformats.org/officeDocument/2006/relationships/slide" Target="slides/slide4.xml"/><Relationship Id="rId9" Type="http://schemas.openxmlformats.org/officeDocument/2006/relationships/slide" Target="slides/slide6.xml"/><Relationship Id="rId10" Type="http://schemas.openxmlformats.org/officeDocument/2006/relationships/slide" Target="slides/slide7.xml"/><Relationship Id="rId11" Type="http://schemas.openxmlformats.org/officeDocument/2006/relationships/slide" Target="slides/slide8.xml"/><Relationship Id="rId12" Type="http://schemas.openxmlformats.org/officeDocument/2006/relationships/slide" Target="slides/slide9.xml"/><Relationship Id="rId13" Type="http://schemas.openxmlformats.org/officeDocument/2006/relationships/slide" Target="slides/slide10.xml"/><Relationship Id="rId14" Type="http://schemas.openxmlformats.org/officeDocument/2006/relationships/slide" Target="slides/slide11.xml"/><Relationship Id="rId15" Type="http://schemas.openxmlformats.org/officeDocument/2006/relationships/slide" Target="slides/slide12.xml"/><Relationship Id="rId16" Type="http://schemas.openxmlformats.org/officeDocument/2006/relationships/slide" Target="slides/slide13.xml"/><Relationship Id="rId17" Type="http://schemas.openxmlformats.org/officeDocument/2006/relationships/slide" Target="slides/slide15.xml"/><Relationship Id="rId18" Type="http://schemas.openxmlformats.org/officeDocument/2006/relationships/slide" Target="slides/slide16.xml"/><Relationship Id="rId19" Type="http://schemas.openxmlformats.org/officeDocument/2006/relationships/slide" Target="slides/slide17.xml"/><Relationship Id="rId20" Type="http://schemas.openxmlformats.org/officeDocument/2006/relationships/slide" Target="slides/slide18.xml"/><Relationship Id="rId21" Type="http://schemas.openxmlformats.org/officeDocument/2006/relationships/slide" Target="slides/slide19.xml"/><Relationship Id="rId22" Type="http://schemas.openxmlformats.org/officeDocument/2006/relationships/notesMaster" Target="notesMasters/notesMaster1.xml"/><Relationship Id="rId23" Type="http://schemas.openxmlformats.org/officeDocument/2006/relationships/presProps" Target="presProps.xml"/><Relationship Id="rId24" Type="http://schemas.openxmlformats.org/officeDocument/2006/relationships/viewProps" Target="viewProps.xml"/><Relationship Id="rId25" Type="http://schemas.openxmlformats.org/officeDocument/2006/relationships/theme" Target="theme/theme1.xml"/><Relationship Id="rId26" Type="http://schemas.openxmlformats.org/officeDocument/2006/relationships/tableStyles" Target="tableStyles.xml"/><Relationship Id="rId27" Type="http://schemas.microsoft.com/office/2016/11/relationships/changesInfo" Target="changesInfos/changesInfo1.xml"/><Relationship Id="rId28" Type="http://schemas.microsoft.com/office/2018/10/relationships/authors" Target="authors.xml"/><Relationship Id="rId29" Type="http://schemas.openxmlformats.org/officeDocument/2006/relationships/slide" Target="slides/slide5.xml"/><Relationship Id="rId30" Type="http://schemas.openxmlformats.org/officeDocument/2006/relationships/slide" Target="slides/slide14.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Jen Cousins" userId="S::jcousins@autismspectrum.org.au::e5107725-ce0a-4006-bfb3-3787c68d621c" providerId="AD" clId="Web-{00000000-0000-0000-0000-000000000000}"/>
    <pc:docChg chg="modSld">
      <pc:chgData name="Jen Cousins" userId="S::jcousins@autismspectrum.org.au::e5107725-ce0a-4006-bfb3-3787c68d621c" providerId="AD" clId="Web-{00000000-0000-0000-0000-000000000000}" dt="2026-08-25T01:14:04.942" v="11" actId="1076"/>
      <pc:docMkLst>
        <pc:docMk/>
      </pc:docMkLst>
      <pc:sldChg chg="addSp delSp modSp">
        <pc:chgData name="Jen Cousins" userId="S::jcousins@autismspectrum.org.au::e5107725-ce0a-4006-bfb3-3787c68d621c" providerId="AD" clId="Web-{00000000-0000-0000-0000-000000000000}" dt="2026-08-25T01:14:04.942" v="11" actId="1076"/>
        <pc:sldMkLst>
          <pc:docMk/>
          <pc:sldMk cId="3674033657" sldId="847"/>
        </pc:sldMkLst>
        <pc:spChg chg="mod">
          <ac:chgData name="Jen Cousins" userId="S::jcousins@autismspectrum.org.au::e5107725-ce0a-4006-bfb3-3787c68d621c" providerId="AD" clId="Web-{00000000-0000-0000-0000-000000000000}" dt="2026-08-25T01:14:04.942" v="11" actId="1076"/>
          <ac:spMkLst>
            <pc:docMk/>
            <pc:sldMk cId="3674033657" sldId="847"/>
            <ac:spMk id="2" creationId="{6BFC9AB3-31EC-27A9-8206-7C0BE658E8B7}"/>
          </ac:spMkLst>
        </pc:spChg>
        <pc:picChg chg="add mod ord">
          <ac:chgData name="Jen Cousins" userId="S::jcousins@autismspectrum.org.au::e5107725-ce0a-4006-bfb3-3787c68d621c" providerId="AD" clId="Web-{00000000-0000-0000-0000-000000000000}" dt="2026-08-25T01:13:48.894" v="9"/>
          <ac:picMkLst>
            <pc:docMk/>
            <pc:sldMk cId="3674033657" sldId="847"/>
            <ac:picMk id="4" creationId="{A5C575AF-C7D4-085E-94F7-3A72A52D6DAC}"/>
          </ac:picMkLst>
        </pc:picChg>
        <pc:picChg chg="add mod">
          <ac:chgData name="Jen Cousins" userId="S::jcousins@autismspectrum.org.au::e5107725-ce0a-4006-bfb3-3787c68d621c" providerId="AD" clId="Web-{00000000-0000-0000-0000-000000000000}" dt="2026-08-25T01:13:54.207" v="10"/>
          <ac:picMkLst>
            <pc:docMk/>
            <pc:sldMk cId="3674033657" sldId="847"/>
            <ac:picMk id="5" creationId="{C27A36B8-FF2A-0D74-971A-0E4E85BADCA9}"/>
          </ac:picMkLst>
        </pc:picChg>
      </pc:sldChg>
    </pc:docChg>
  </pc:docChgLst>
</pc:chgInfo>
</file>

<file path=ppt/comments/modernComment_34C_A86DA66C.xml><?xml version="1.0" encoding="utf-8"?>
<p188:cmLst xmlns:a="http://schemas.openxmlformats.org/drawingml/2006/main" xmlns:r="http://schemas.openxmlformats.org/officeDocument/2006/relationships" xmlns:p188="http://schemas.microsoft.com/office/powerpoint/2018/8/main">
  <p188:cm id="{C807BA1F-ACAC-4181-AB02-C252BC20F6B1}" authorId="{94DEC358-9AF5-9F80-E7CA-D932E5596AC8}" created="2026-08-14T00:28:52.242">
    <ac:txMkLst xmlns:ac="http://schemas.microsoft.com/office/drawing/2013/main/command">
      <pc:docMk xmlns:pc="http://schemas.microsoft.com/office/powerpoint/2013/main/command"/>
      <pc:sldMk xmlns:pc="http://schemas.microsoft.com/office/powerpoint/2013/main/command" cId="2825758316" sldId="844"/>
      <ac:spMk id="4" creationId="{E3FD5D71-F8F8-00AA-C427-EBCCF0660E1C}"/>
      <ac:txMk cp="125" len="18">
        <ac:context len="144" hash="841651859"/>
      </ac:txMk>
    </ac:txMkLst>
    <p188:pos x="2824455" y="3280648"/>
    <p188:txBody>
      <a:bodyPr/>
      <a:lstStyle/>
      <a:p>
        <a:r>
          <a:rPr lang="en-AU"/>
          <a:t>Added this one in as it lands well with all parties and shifts perpectives</a:t>
        </a:r>
      </a:p>
    </p188:txBody>
  </p188:cm>
</p188:cmLst>
</file>

<file path=ppt/comments/modernComment_346_3E00D4D8.xml><?xml version="1.0" encoding="utf-8"?>
<p188:cmLst xmlns:a="http://schemas.openxmlformats.org/drawingml/2006/main" xmlns:r="http://schemas.openxmlformats.org/officeDocument/2006/relationships" xmlns:p188="http://schemas.microsoft.com/office/powerpoint/2018/8/main">
  <p188:cm id="{9A2E3823-3A5D-4D7E-8175-8FFB0A015633}" authorId="{94DEC358-9AF5-9F80-E7CA-D932E5596AC8}" created="2026-08-14T00:36:04.317">
    <ac:txMkLst xmlns:ac="http://schemas.microsoft.com/office/drawing/2013/main/command">
      <pc:docMk xmlns:pc="http://schemas.microsoft.com/office/powerpoint/2013/main/command"/>
      <pc:sldMk xmlns:pc="http://schemas.microsoft.com/office/powerpoint/2013/main/command" cId="1040241880" sldId="838"/>
      <ac:spMk id="5" creationId="{05A4E05F-DA50-6B99-BED1-648587EBB414}"/>
      <ac:txMk cp="0" len="23">
        <ac:context len="24" hash="2699318344"/>
      </ac:txMk>
    </ac:txMkLst>
    <p188:pos x="5065408" y="428754"/>
    <p188:txBody>
      <a:bodyPr/>
      <a:lstStyle/>
      <a:p>
        <a:r>
          <a:rPr lang="en-AU"/>
          <a:t>As this session time is so limited we discussed that we could use it as an opportunity to see where all the partnerships converge and what skills are needed for success across all partnerships.</a:t>
        </a:r>
      </a:p>
    </p188:txBody>
  </p188:cm>
</p188:cmLst>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AU"/>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E30717EB-867A-43D8-909C-6209D0EC13B1}" type="datetimeFigureOut">
              <a:rPr lang="en-AU" smtClean="0"/>
              <a:t>25/9/2026</a:t>
            </a:fld>
            <a:endParaRPr lang="en-AU"/>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AU"/>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AU"/>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83787F1C-BD57-478D-B104-476A213D31F6}" type="slidenum">
              <a:rPr lang="en-AU" smtClean="0"/>
              <a:t>‹#›</a:t>
            </a:fld>
            <a:endParaRPr lang="en-AU"/>
          </a:p>
        </p:txBody>
      </p:sp>
    </p:spTree>
    <p:extLst>
      <p:ext uri="{BB962C8B-B14F-4D97-AF65-F5344CB8AC3E}">
        <p14:creationId xmlns:p14="http://schemas.microsoft.com/office/powerpoint/2010/main" val="39486944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8B415D5-975D-AAB4-61E3-8C9E34FEE41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3064F2A-E44E-4565-7BE3-523A659D3380}"/>
              </a:ext>
            </a:extLst>
          </p:cNvPr>
          <p:cNvSpPr>
            <a:spLocks noGrp="1" noRot="1" noChangeAspect="1"/>
          </p:cNvSpPr>
          <p:nvPr>
            <p:ph type="sldImg"/>
          </p:nvPr>
        </p:nvSpPr>
        <p:spPr/>
        <p:txBody>
          <a:bodyPr/>
          <a:lstStyle/>
          <a:p>
            <a:endParaRPr lang="en-AU"/>
          </a:p>
        </p:txBody>
      </p:sp>
      <p:sp>
        <p:nvSpPr>
          <p:cNvPr id="3" name="Notes Placeholder 2">
            <a:extLst>
              <a:ext uri="{FF2B5EF4-FFF2-40B4-BE49-F238E27FC236}">
                <a16:creationId xmlns:a16="http://schemas.microsoft.com/office/drawing/2014/main" id="{780E6984-A62A-9228-E4A6-3370605E1658}"/>
              </a:ext>
            </a:extLst>
          </p:cNvPr>
          <p:cNvSpPr>
            <a:spLocks noGrp="1"/>
          </p:cNvSpPr>
          <p:nvPr>
            <p:ph type="body" idx="1"/>
          </p:nvPr>
        </p:nvSpPr>
        <p:spPr/>
        <p:txBody>
          <a:bodyPr/>
          <a:lstStyle/>
          <a:p>
            <a:r>
              <a:t>SUGGESTED TIME: 1 min  ·  2:15 - 2:16</a:t>
            </a:r>
          </a:p>
          <a:p/>
          <a:p>
            <a:r>
              <a:t>PURPOSE</a:t>
            </a:r>
          </a:p>
          <a:p>
            <a:r>
              <a:t>Open the partnership session and connect it to the design work.</a:t>
            </a:r>
          </a:p>
          <a:p/>
          <a:p>
            <a:r>
              <a:t>WHAT TO DO</a:t>
            </a:r>
          </a:p>
          <a:p>
            <a:r>
              <a:t>1. Name the shift from what educators can design in the classroom to how home and school can understand and act together.</a:t>
            </a:r>
          </a:p>
          <a:p>
            <a:r>
              <a:t>2. Pick up the asking list participants wrote in Session 4 (Day-one setup sheet, section 4, and the Commit on p. 21): this session is about the people on that list.</a:t>
            </a:r>
          </a:p>
          <a:p>
            <a:r>
              <a:t>3. Acknowledge that a new teacher is often joining relationships and school processes that are already in place, and is not expected to manage every conversation or decision alone.</a:t>
            </a:r>
          </a:p>
          <a:p>
            <a:r>
              <a:t>4. Keep the student at the centre of the conversation.</a:t>
            </a:r>
          </a:p>
          <a:p>
            <a:r>
              <a:t>5. Acknowledge that participants may bring both productive and difficult partnership experiences, including as family members themselves.</a:t>
            </a:r>
          </a:p>
          <a:p>
            <a:r>
              <a:t>6. Remind the room that sharing is voluntary and examples stay anonymised (initials or roles only).</a:t>
            </a:r>
          </a:p>
          <a:p/>
          <a:p>
            <a:r>
              <a:t>KEY MESSAGES</a:t>
            </a:r>
          </a:p>
          <a:p>
            <a:r>
              <a:t>• Partnership is part of understanding and support, not an additional task after decisions are made.</a:t>
            </a:r>
          </a:p>
          <a:p>
            <a:r>
              <a:t>• The student, family and school may each hold different parts of the picture.</a:t>
            </a:r>
          </a:p>
          <a:p>
            <a:r>
              <a:t>• Knowing when and from whom to seek support is part of preparing well.</a:t>
            </a:r>
          </a:p>
          <a:p/>
          <a:p>
            <a:r>
              <a:t>THREAD</a:t>
            </a:r>
          </a:p>
          <a:p>
            <a:r>
              <a:t>Picks up the asking list from Session 4 (Day-one setup sheet, section 4; Participant Guide p. 21 - Commit: "My asking list goes to").</a:t>
            </a:r>
          </a:p>
        </p:txBody>
      </p:sp>
    </p:spTree>
    <p:extLst>
      <p:ext uri="{BB962C8B-B14F-4D97-AF65-F5344CB8AC3E}">
        <p14:creationId xmlns:p14="http://schemas.microsoft.com/office/powerpoint/2010/main" val="235271881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24A0514-B7A9-244F-E9C3-6641E7CE1C3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E9229B0-DEB4-33F4-23E2-C94EB8AF4F36}"/>
              </a:ext>
            </a:extLst>
          </p:cNvPr>
          <p:cNvSpPr>
            <a:spLocks noGrp="1" noRot="1" noChangeAspect="1"/>
          </p:cNvSpPr>
          <p:nvPr>
            <p:ph type="sldImg"/>
          </p:nvPr>
        </p:nvSpPr>
        <p:spPr/>
        <p:txBody>
          <a:bodyPr/>
          <a:lstStyle/>
          <a:p>
            <a:endParaRPr lang="en-AU"/>
          </a:p>
        </p:txBody>
      </p:sp>
      <p:sp>
        <p:nvSpPr>
          <p:cNvPr id="3" name="Notes Placeholder 2">
            <a:extLst>
              <a:ext uri="{FF2B5EF4-FFF2-40B4-BE49-F238E27FC236}">
                <a16:creationId xmlns:a16="http://schemas.microsoft.com/office/drawing/2014/main" id="{624A3766-8288-AB86-A0F3-6B3E19660DC1}"/>
              </a:ext>
            </a:extLst>
          </p:cNvPr>
          <p:cNvSpPr>
            <a:spLocks noGrp="1"/>
          </p:cNvSpPr>
          <p:nvPr>
            <p:ph type="body" idx="1"/>
          </p:nvPr>
        </p:nvSpPr>
        <p:spPr/>
        <p:txBody>
          <a:bodyPr/>
          <a:lstStyle/>
          <a:p>
            <a:r>
              <a:t>SUGGESTED TIME: 3 min  ·  2:16 - 2:19  ·  Participant Guide p.22 - Session 5 summary</a:t>
            </a:r>
          </a:p>
          <a:p/>
          <a:p>
            <a:r>
              <a:t>PURPOSE</a:t>
            </a:r>
          </a:p>
          <a:p>
            <a:r>
              <a:t>Show where the partnerships around a student intersect, with the student at the centre of every one.</a:t>
            </a:r>
          </a:p>
          <a:p/>
          <a:p>
            <a:r>
              <a:t>WHAT TO DO</a:t>
            </a:r>
          </a:p>
          <a:p>
            <a:r>
              <a:t>1. Introduce the Venn: family, school staff and paraprofessionals, with the student at the centre.</a:t>
            </a:r>
          </a:p>
          <a:p>
            <a:r>
              <a:t>2. Explain that every partner brings unique knowledge, expertise and perspectives, and a different relationship with the student and with each other.</a:t>
            </a:r>
          </a:p>
          <a:p>
            <a:r>
              <a:t>3. Ask the group: What is the goal of these intersecting partnerships? Take 2-3 responses.</a:t>
            </a:r>
          </a:p>
          <a:p>
            <a:r>
              <a:t>4. Steer the discussion so the point is made that the student is at the centre of all partnerships.</a:t>
            </a:r>
          </a:p>
          <a:p>
            <a:r>
              <a:t>5. Link back where relevant: sensory and thinking experience (Session 2), Autistic experience at school (Session 3), and the day-one setup and continuum of support (Session 4).</a:t>
            </a:r>
          </a:p>
          <a:p>
            <a:r>
              <a:t>6. Ask who is missing from the picture and how the student's communication can be included.</a:t>
            </a:r>
          </a:p>
          <a:p>
            <a:r>
              <a:t>7. Point participants to Where partnerships converge in the Participant Guide (p. 22).</a:t>
            </a:r>
          </a:p>
          <a:p/>
          <a:p>
            <a:r>
              <a:t>YOU MIGHT SAY</a:t>
            </a:r>
          </a:p>
          <a:p>
            <a:r>
              <a:t>What is the goal of these intersecting partnerships?</a:t>
            </a:r>
          </a:p>
          <a:p/>
          <a:p>
            <a:r>
              <a:t>KEY MESSAGES</a:t>
            </a:r>
          </a:p>
          <a:p>
            <a:r>
              <a:t>• Positive partnership keeps the student at the centre.</a:t>
            </a:r>
          </a:p>
          <a:p>
            <a:r>
              <a:t>• No single person holds the complete picture.</a:t>
            </a:r>
          </a:p>
          <a:p>
            <a:r>
              <a:t>• Every partner brings different knowledge and a different relationship with the student.</a:t>
            </a:r>
          </a:p>
          <a:p/>
          <a:p>
            <a:r>
              <a:t>KEEP IN MIND</a:t>
            </a:r>
          </a:p>
          <a:p>
            <a:r>
              <a:t>• Use the elements as discussion prompts rather than a complete definition.</a:t>
            </a:r>
          </a:p>
          <a:p/>
          <a:p>
            <a:r>
              <a:t>BACKGROUND</a:t>
            </a:r>
          </a:p>
          <a:p>
            <a:r>
              <a:t>With session time limited, this slide is a chance to see where all the partnerships converge and what is needed for success across all of them.</a:t>
            </a:r>
          </a:p>
          <a:p/>
          <a:p>
            <a:r>
              <a:t>THREAD</a:t>
            </a:r>
          </a:p>
          <a:p>
            <a:r>
              <a:t>Draws on sensory and thinking experience (Session 2), Autistic experience at school (Session 3) and the Session 4 day-one setup and continuum of support.</a:t>
            </a:r>
          </a:p>
        </p:txBody>
      </p:sp>
    </p:spTree>
    <p:extLst>
      <p:ext uri="{BB962C8B-B14F-4D97-AF65-F5344CB8AC3E}">
        <p14:creationId xmlns:p14="http://schemas.microsoft.com/office/powerpoint/2010/main" val="3560356793"/>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5ECE5DD-51EB-13D7-5DF1-F889E88BD49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2874F24-86BD-4576-581B-BC41153FEE97}"/>
              </a:ext>
            </a:extLst>
          </p:cNvPr>
          <p:cNvSpPr>
            <a:spLocks noGrp="1" noRot="1" noChangeAspect="1"/>
          </p:cNvSpPr>
          <p:nvPr>
            <p:ph type="sldImg"/>
          </p:nvPr>
        </p:nvSpPr>
        <p:spPr/>
        <p:txBody>
          <a:bodyPr/>
          <a:lstStyle/>
          <a:p>
            <a:endParaRPr lang="en-AU"/>
          </a:p>
        </p:txBody>
      </p:sp>
      <p:sp>
        <p:nvSpPr>
          <p:cNvPr id="3" name="Notes Placeholder 2">
            <a:extLst>
              <a:ext uri="{FF2B5EF4-FFF2-40B4-BE49-F238E27FC236}">
                <a16:creationId xmlns:a16="http://schemas.microsoft.com/office/drawing/2014/main" id="{D643188E-3CDD-D9D9-6BC4-F2EC317559F4}"/>
              </a:ext>
            </a:extLst>
          </p:cNvPr>
          <p:cNvSpPr>
            <a:spLocks noGrp="1"/>
          </p:cNvSpPr>
          <p:nvPr>
            <p:ph type="body" idx="1"/>
          </p:nvPr>
        </p:nvSpPr>
        <p:spPr/>
        <p:txBody>
          <a:bodyPr/>
          <a:lstStyle/>
          <a:p>
            <a:r>
              <a:t>SUGGESTED TIME: 2 min  ·  2:19 - 2:21</a:t>
            </a:r>
          </a:p>
          <a:p/>
          <a:p>
            <a:r>
              <a:t>PURPOSE</a:t>
            </a:r>
          </a:p>
          <a:p>
            <a:r>
              <a:t>Make positive partnership concrete in educator practice using the Family-School Partnerships Framework principles.</a:t>
            </a:r>
          </a:p>
          <a:p/>
          <a:p>
            <a:r>
              <a:t>WHAT TO DO</a:t>
            </a:r>
          </a:p>
          <a:p>
            <a:r>
              <a:t>1. Walk through the six Framework principles briefly.</a:t>
            </a:r>
          </a:p>
          <a:p>
            <a:r>
              <a:t>2. Position family knowledge and school knowledge as different, useful perspectives.</a:t>
            </a:r>
          </a:p>
          <a:p>
            <a:r>
              <a:t>3. Name what makes partnership visible in practice: a shared purpose, respectful listening, student voice and communication, clear accessible information, and agreed next steps, responsibilities and follow-up.</a:t>
            </a:r>
          </a:p>
          <a:p/>
          <a:p>
            <a:r>
              <a:t>KEY MESSAGES</a:t>
            </a:r>
          </a:p>
          <a:p>
            <a:r>
              <a:t>• The student, family and school may each see different parts of experience. Partnership helps these perspectives inform understanding, design, action and review from the beginning.</a:t>
            </a:r>
          </a:p>
          <a:p>
            <a:r>
              <a:t>• Listening, clarity and shared next steps can be observed in practice.</a:t>
            </a:r>
          </a:p>
          <a:p/>
          <a:p>
            <a:r>
              <a:t>KEEP IN MIND</a:t>
            </a:r>
          </a:p>
          <a:p>
            <a:r>
              <a:t>• Avoid implying that agreement is required before listening or respect are possible.</a:t>
            </a:r>
          </a:p>
          <a:p/>
          <a:p>
            <a:r>
              <a:t>RESOURCES</a:t>
            </a:r>
          </a:p>
          <a:p>
            <a:r>
              <a:t>Family-School Partnerships Framework - Department of Education, Australian Government - https://www.education.gov.au/supporting-family-school-community-partnerships-learning/family-school-partnerships/family-school-partnerships-framework</a:t>
            </a:r>
          </a:p>
        </p:txBody>
      </p:sp>
    </p:spTree>
    <p:extLst>
      <p:ext uri="{BB962C8B-B14F-4D97-AF65-F5344CB8AC3E}">
        <p14:creationId xmlns:p14="http://schemas.microsoft.com/office/powerpoint/2010/main" val="771131925"/>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AU"/>
          </a:p>
        </p:txBody>
      </p:sp>
      <p:sp>
        <p:nvSpPr>
          <p:cNvPr id="3" name="Notes Placeholder 2"/>
          <p:cNvSpPr>
            <a:spLocks noGrp="1"/>
          </p:cNvSpPr>
          <p:nvPr>
            <p:ph type="body" idx="1"/>
          </p:nvPr>
        </p:nvSpPr>
        <p:spPr/>
        <p:txBody>
          <a:bodyPr/>
          <a:lstStyle/>
          <a:p>
            <a:r>
              <a:t>SUGGESTED TIME: 3 min  ·  2:21 - 2:24</a:t>
            </a:r>
          </a:p>
          <a:p/>
          <a:p>
            <a:r>
              <a:t>PURPOSE</a:t>
            </a:r>
          </a:p>
          <a:p>
            <a:r>
              <a:t>Name the collaboration principles that strong partnerships share, whoever is at the table.</a:t>
            </a:r>
          </a:p>
          <a:p/>
          <a:p>
            <a:r>
              <a:t>WHAT TO DO</a:t>
            </a:r>
          </a:p>
          <a:p>
            <a:r>
              <a:t>1. Introduce the importance of collaboration: for Autistic students there are multiple collaboration points across multiple partnerships.</a:t>
            </a:r>
          </a:p>
          <a:p>
            <a:r>
              <a:t>2. Explain that the key collaboration skills are the same across all groups, and are vital for strong partnerships.</a:t>
            </a:r>
          </a:p>
          <a:p>
            <a:r>
              <a:t>3. Ask the group: What are some of the key principles for effective collaboration to occur?</a:t>
            </a:r>
          </a:p>
          <a:p>
            <a:r>
              <a:t>4. Build the discussion to cover: shared goals, shared values, mutual trust and respect, consulting on decision-making, seeing other perspectives, inviting curiosity, centring student voice, assuming good intent.</a:t>
            </a:r>
          </a:p>
          <a:p>
            <a:r>
              <a:t>5. If the cards are set to reveal on click, reveal them once the room has contributed.</a:t>
            </a:r>
          </a:p>
          <a:p/>
          <a:p>
            <a:r>
              <a:t>YOU MIGHT SAY</a:t>
            </a:r>
          </a:p>
          <a:p>
            <a:r>
              <a:t>What are some of the key principles for effective collaboration to occur?</a:t>
            </a:r>
          </a:p>
          <a:p>
            <a:r>
              <a:t>How could we work together for better learning outcomes?</a:t>
            </a:r>
          </a:p>
          <a:p/>
          <a:p>
            <a:r>
              <a:t>KEY MESSAGES</a:t>
            </a:r>
          </a:p>
          <a:p>
            <a:r>
              <a:t>• The collaboration skills needed are the same across every partnership around the student.</a:t>
            </a:r>
          </a:p>
          <a:p/>
          <a:p>
            <a:r>
              <a:t>BACKGROUND</a:t>
            </a:r>
          </a:p>
          <a:p>
            <a:r>
              <a:t>This slide was added by the team because it works well with all parties and helps shift perspectives. Early career teachers can use these principles from their first contact with a family, before they know the school's processes well.</a:t>
            </a:r>
          </a:p>
        </p:txBody>
      </p:sp>
    </p:spTree>
    <p:extLst>
      <p:ext uri="{BB962C8B-B14F-4D97-AF65-F5344CB8AC3E}">
        <p14:creationId xmlns:p14="http://schemas.microsoft.com/office/powerpoint/2010/main" val="125909995"/>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SUGGESTED TIME: 2 min  ·  2:27 - 2:29</a:t>
            </a:r>
          </a:p>
          <a:p/>
          <a:p>
            <a:r>
              <a:t>PURPOSE</a:t>
            </a:r>
          </a:p>
          <a:p>
            <a:r>
              <a:t>Help participants notice how agendas, language, authority and decision-making shape consultation.</a:t>
            </a:r>
          </a:p>
          <a:p/>
          <a:p>
            <a:r>
              <a:t>WHAT TO DO</a:t>
            </a:r>
          </a:p>
          <a:p>
            <a:r>
              <a:t>1. Introduce the seesaw: school, home and the student.</a:t>
            </a:r>
          </a:p>
          <a:p>
            <a:r>
              <a:t>2. Name where power can sit: socio-economic status, historical and cultural experiences of education, speaking English or another language, understanding of school systems and curriculum, and perceptions of the importance of school.</a:t>
            </a:r>
          </a:p>
          <a:p>
            <a:r>
              <a:t>3. Ask the power questions below to examine practice, not to blame individual participants.</a:t>
            </a:r>
          </a:p>
          <a:p>
            <a:r>
              <a:t>4. Invite participants to identify where school language, timing or process may create a barrier.</a:t>
            </a:r>
          </a:p>
          <a:p>
            <a:r>
              <a:t>5. Note that an early career teacher may notice a barrier they cannot change alone, and can raise it with a mentor or leader.</a:t>
            </a:r>
          </a:p>
          <a:p/>
          <a:p>
            <a:r>
              <a:t>YOU MIGHT SAY</a:t>
            </a:r>
          </a:p>
          <a:p>
            <a:r>
              <a:t>Who sets the agenda?</a:t>
            </a:r>
          </a:p>
          <a:p>
            <a:r>
              <a:t>Whose knowledge is heard?</a:t>
            </a:r>
          </a:p>
          <a:p>
            <a:r>
              <a:t>Who can make decisions?</a:t>
            </a:r>
          </a:p>
          <a:p>
            <a:r>
              <a:t>Are roles and limits clear?</a:t>
            </a:r>
          </a:p>
          <a:p>
            <a:r>
              <a:t>Is the student included in a way that works for them?</a:t>
            </a:r>
          </a:p>
          <a:p>
            <a:r>
              <a:t>What could the school change about the process?</a:t>
            </a:r>
          </a:p>
          <a:p/>
          <a:p>
            <a:r>
              <a:t>KEY MESSAGES</a:t>
            </a:r>
          </a:p>
          <a:p>
            <a:r>
              <a:t>• Power is present in meeting structures, language and decision pathways.</a:t>
            </a:r>
          </a:p>
          <a:p>
            <a:r>
              <a:t>• Early career teachers can notice barriers and seek support to change the process.</a:t>
            </a:r>
          </a:p>
          <a:p/>
          <a:p>
            <a:r>
              <a:t>KEEP IN MIND</a:t>
            </a:r>
          </a:p>
          <a:p>
            <a:r>
              <a:t>• Avoid describing a family as difficult, disengaged or unrealistic without examining the context and process.</a:t>
            </a:r>
          </a:p>
        </p:txBody>
      </p:sp>
      <p:sp>
        <p:nvSpPr>
          <p:cNvPr id="5" name="Date Placeholder 4"/>
          <p:cNvSpPr>
            <a:spLocks noGrp="1"/>
          </p:cNvSpPr>
          <p:nvPr>
            <p:ph type="dt" idx="11"/>
          </p:nvPr>
        </p:nvSpPr>
        <p:spPr/>
        <p:txBody>
          <a:bodyPr/>
          <a:lstStyle/>
          <a:p>
            <a:endParaRPr lang="en-AU"/>
          </a:p>
        </p:txBody>
      </p:sp>
    </p:spTree>
    <p:extLst>
      <p:ext uri="{BB962C8B-B14F-4D97-AF65-F5344CB8AC3E}">
        <p14:creationId xmlns:p14="http://schemas.microsoft.com/office/powerpoint/2010/main" val="3979636336"/>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SUGGESTED TIME: 6 min  ·  2:29 - 2:35  ·  Participant Guide p.23 - Power dynamics</a:t>
            </a:r>
          </a:p>
          <a:p/>
          <a:p>
            <a:r>
              <a:t>PURPOSE</a:t>
            </a:r>
          </a:p>
          <a:p>
            <a:r>
              <a:t>Prompt educators to reflect on perceived and real power imbalances in the home-school relationship.</a:t>
            </a:r>
          </a:p>
          <a:p/>
          <a:p>
            <a:r>
              <a:t>WHAT TO DO</a:t>
            </a:r>
          </a:p>
          <a:p>
            <a:r>
              <a:t>1. Make sure every participant has Post-it notes and a pen.</a:t>
            </a:r>
          </a:p>
          <a:p>
            <a:r>
              <a:t>2. Direct participants to the three instructions on the slide.</a:t>
            </a:r>
          </a:p>
          <a:p>
            <a:r>
              <a:t>3. Choose a sharing option that suits the room (see steps).</a:t>
            </a:r>
          </a:p>
          <a:p>
            <a:r>
              <a:t>4. Participants with little experience of family meetings can draw on placements, relief days or their own experience as a family member.</a:t>
            </a:r>
          </a:p>
          <a:p>
            <a:r>
              <a:t>5. Support tables to look for solutions rather than place blame.</a:t>
            </a:r>
          </a:p>
          <a:p>
            <a:r>
              <a:t>6. Take feedback from a few participants at the end.</a:t>
            </a:r>
          </a:p>
          <a:p/>
          <a:p>
            <a:r>
              <a:t>KEY MESSAGES</a:t>
            </a:r>
          </a:p>
          <a:p>
            <a:r>
              <a:t>• Power can be structural, historical, cultural, conscious and unconscious.</a:t>
            </a:r>
          </a:p>
          <a:p>
            <a:r>
              <a:t>• Status can be perceived as an imbalanced power dynamic, regardless of intent.</a:t>
            </a:r>
          </a:p>
          <a:p/>
          <a:p>
            <a:r>
              <a:t>ACTIVITY: Post-it note reflection  ·  table groups  ·  6 minutes</a:t>
            </a:r>
          </a:p>
          <a:p>
            <a:r>
              <a:t>Prompt: Where do power imbalances sit in the home-school relationship, and how could you address them?</a:t>
            </a:r>
          </a:p>
          <a:p>
            <a:r>
              <a:t>1. On one Post-it, write an example of an imbalance in power dynamics from a home perspective.</a:t>
            </a:r>
          </a:p>
          <a:p>
            <a:r>
              <a:t>2. On a second, write an example from a school perspective.</a:t>
            </a:r>
          </a:p>
          <a:p>
            <a:r>
              <a:t>3. On a third, write how you could address these imbalances.</a:t>
            </a:r>
          </a:p>
          <a:p>
            <a:r>
              <a:t>4. Option 1: share Post-it notes with your table.</a:t>
            </a:r>
          </a:p>
          <a:p>
            <a:r>
              <a:t>5. Option 2 (movement break): take your Post-it notes to another person in the room to share.</a:t>
            </a:r>
          </a:p>
          <a:p>
            <a:r>
              <a:t>6. Option 3: place Post-it notes on butcher's paper on the wall under Home, School and Solutions.</a:t>
            </a:r>
          </a:p>
          <a:p>
            <a:r>
              <a:t>Bring the room back:</a:t>
            </a:r>
          </a:p>
          <a:p>
            <a:r>
              <a:t>• Who sets the agenda?</a:t>
            </a:r>
          </a:p>
          <a:p>
            <a:r>
              <a:t>• Whose knowledge is heard?</a:t>
            </a:r>
          </a:p>
          <a:p>
            <a:r>
              <a:t>• Who can make decisions?</a:t>
            </a:r>
          </a:p>
          <a:p>
            <a:r>
              <a:t>• What could the school change about the process, and who could help you raise that change?</a:t>
            </a:r>
          </a:p>
          <a:p>
            <a:r>
              <a:t>Close: Ask participants to keep one process change for their family-conversation plan.</a:t>
            </a:r>
          </a:p>
          <a:p/>
          <a:p>
            <a:r>
              <a:t>KEEP IN MIND</a:t>
            </a:r>
          </a:p>
          <a:p>
            <a:r>
              <a:t>• This may be challenging for some participants, who may have found themselves in positions of power or lack of power at different times in their career. Guide individuals to seek solutions and not place blame.</a:t>
            </a:r>
          </a:p>
          <a:p/>
          <a:p>
            <a:r>
              <a:t>BACKGROUND</a:t>
            </a:r>
          </a:p>
          <a:p>
            <a:r>
              <a:t>Educators are immersed in the culture of education, including a shared understanding of acronyms (e.g. NAPLAN, NCCD, IEP) which families may not be able to access as easily. Some people will purposely and naturally endow teachers with higher status, which can be a cultural or personal attitude. External providers and professionals can also affect the power dynamic between those working with and supporting Autistic students.</a:t>
            </a:r>
          </a:p>
          <a:p/>
          <a:p>
            <a:r>
              <a:t>THREAD</a:t>
            </a:r>
          </a:p>
          <a:p>
            <a:r>
              <a:t>The process change chosen here carries into the bridge reflection (slide 19) and the Session 6 conversation plan.</a:t>
            </a:r>
          </a:p>
        </p:txBody>
      </p:sp>
      <p:sp>
        <p:nvSpPr>
          <p:cNvPr id="4" name="Slide Number Placeholder 3"/>
          <p:cNvSpPr>
            <a:spLocks noGrp="1"/>
          </p:cNvSpPr>
          <p:nvPr>
            <p:ph type="sldNum" sz="quarter" idx="5"/>
          </p:nvPr>
        </p:nvSpPr>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AU"/>
          </a:p>
        </p:txBody>
      </p:sp>
      <p:sp>
        <p:nvSpPr>
          <p:cNvPr id="3" name="Notes Placeholder 2"/>
          <p:cNvSpPr>
            <a:spLocks noGrp="1"/>
          </p:cNvSpPr>
          <p:nvPr>
            <p:ph type="body" idx="1"/>
          </p:nvPr>
        </p:nvSpPr>
        <p:spPr/>
        <p:txBody>
          <a:bodyPr/>
          <a:lstStyle/>
          <a:p>
            <a:r>
              <a:t>SUGGESTED TIME: 5 min  ·  2:35 - 2:40  ·  Participant Guide p.23 - Student voice</a:t>
            </a:r>
          </a:p>
          <a:p/>
          <a:p>
            <a:r>
              <a:t>PURPOSE</a:t>
            </a:r>
          </a:p>
          <a:p>
            <a:r>
              <a:t>Show what happens when a student is not listened to or consulted.</a:t>
            </a:r>
          </a:p>
          <a:p/>
          <a:p>
            <a:r>
              <a:t>WHAT TO DO</a:t>
            </a:r>
          </a:p>
          <a:p>
            <a:r>
              <a:t>1. Introduce the video as an example of a student who is not listened to or consulted.</a:t>
            </a:r>
          </a:p>
          <a:p>
            <a:r>
              <a:t>2. Ask participants, while watching, to pay attention to what decisions were made and who made them.</a:t>
            </a:r>
          </a:p>
          <a:p>
            <a:r>
              <a:t>3. Play the video.</a:t>
            </a:r>
          </a:p>
          <a:p>
            <a:r>
              <a:t>4. Ask the group: What impact did those decisions have on Adon?</a:t>
            </a:r>
          </a:p>
          <a:p>
            <a:r>
              <a:t>5. Connect to the students participants have in mind: how are their preferences asked and heard? This is the third column on p. 23.</a:t>
            </a:r>
          </a:p>
          <a:p/>
          <a:p>
            <a:r>
              <a:t>YOU MIGHT SAY</a:t>
            </a:r>
          </a:p>
          <a:p>
            <a:r>
              <a:t>While watching, pay attention to what decisions were made and who made them.</a:t>
            </a:r>
          </a:p>
          <a:p>
            <a:r>
              <a:t>What impact did those decisions have on Adon?</a:t>
            </a:r>
          </a:p>
          <a:p/>
          <a:p>
            <a:r>
              <a:t>KEY MESSAGES</a:t>
            </a:r>
          </a:p>
          <a:p>
            <a:r>
              <a:t>• Students should have a say in decisions about them, at their level and in the way they communicate.</a:t>
            </a:r>
          </a:p>
          <a:p>
            <a:r>
              <a:t>• Even young children can show preferences: choices offered visually, reactions observed and honoured.</a:t>
            </a:r>
          </a:p>
          <a:p>
            <a:r>
              <a:t>• Ask students in a way that works for them: what helps? what's hard? what should teachers know?</a:t>
            </a:r>
          </a:p>
          <a:p>
            <a:r>
              <a:t>• Record their answers in their own words, so the student's view is part of the record.</a:t>
            </a:r>
          </a:p>
          <a:p>
            <a:r>
              <a:t>• This is an early step in building self-advocacy.</a:t>
            </a:r>
          </a:p>
        </p:txBody>
      </p:sp>
    </p:spTree>
    <p:extLst>
      <p:ext uri="{BB962C8B-B14F-4D97-AF65-F5344CB8AC3E}">
        <p14:creationId xmlns:p14="http://schemas.microsoft.com/office/powerpoint/2010/main" val="1841038267"/>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3D8A0A0-7380-C08E-2D70-17F76DB5B56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2B16B5E-5CF6-7FE6-0FB0-2A2E1DB43E80}"/>
              </a:ext>
            </a:extLst>
          </p:cNvPr>
          <p:cNvSpPr>
            <a:spLocks noGrp="1" noRot="1" noChangeAspect="1"/>
          </p:cNvSpPr>
          <p:nvPr>
            <p:ph type="sldImg"/>
          </p:nvPr>
        </p:nvSpPr>
        <p:spPr/>
        <p:txBody>
          <a:bodyPr/>
          <a:lstStyle/>
          <a:p>
            <a:endParaRPr lang="en-AU"/>
          </a:p>
        </p:txBody>
      </p:sp>
      <p:sp>
        <p:nvSpPr>
          <p:cNvPr id="3" name="Notes Placeholder 2">
            <a:extLst>
              <a:ext uri="{FF2B5EF4-FFF2-40B4-BE49-F238E27FC236}">
                <a16:creationId xmlns:a16="http://schemas.microsoft.com/office/drawing/2014/main" id="{E19B43A1-D97B-9EC2-E9E7-26DF67432322}"/>
              </a:ext>
            </a:extLst>
          </p:cNvPr>
          <p:cNvSpPr>
            <a:spLocks noGrp="1"/>
          </p:cNvSpPr>
          <p:nvPr>
            <p:ph type="body" idx="1"/>
          </p:nvPr>
        </p:nvSpPr>
        <p:spPr/>
        <p:txBody>
          <a:bodyPr/>
          <a:lstStyle/>
          <a:p>
            <a:r>
              <a:t>SUGGESTED TIME: 8 min  ·  2:40 - 2:48  ·  Participant Guide p.24 - Partnership activity</a:t>
            </a:r>
          </a:p>
          <a:p/>
          <a:p>
            <a:r>
              <a:t>PURPOSE</a:t>
            </a:r>
          </a:p>
          <a:p>
            <a:r>
              <a:t>Compare what each partner brings and the challenges they may face, and find what they share.</a:t>
            </a:r>
          </a:p>
          <a:p/>
          <a:p>
            <a:r>
              <a:t>WHAT TO DO</a:t>
            </a:r>
          </a:p>
          <a:p>
            <a:r>
              <a:t>1. Make sure each table has the Partnership activity grid in the Participant Guide (p. 24).</a:t>
            </a:r>
          </a:p>
          <a:p>
            <a:r>
              <a:t>2. Ask table groups to record what each partner brings and what challenges they might face: student, parents and carers, teachers, paraprofessionals.</a:t>
            </a:r>
          </a:p>
          <a:p>
            <a:r>
              <a:t>3. Ask tables to compare: what do all four have in common? Remind them that paraprofessionals and other support staff often know a student well.</a:t>
            </a:r>
          </a:p>
          <a:p>
            <a:r>
              <a:t>4. Take thoughts on similarities and differences, list the commonalities, and ask what would make the partnership more successful.</a:t>
            </a:r>
          </a:p>
          <a:p/>
          <a:p>
            <a:r>
              <a:t>KEY MESSAGES</a:t>
            </a:r>
          </a:p>
          <a:p>
            <a:r>
              <a:t>• Understanding the challenges and strengths of each partner can help build trust and confidence in the relationship.</a:t>
            </a:r>
          </a:p>
          <a:p>
            <a:r>
              <a:t>• There are similarities and differences between what each partner brings to the partnership.</a:t>
            </a:r>
          </a:p>
          <a:p>
            <a:r>
              <a:t>• Everyone has the student at the centre and student voice is included.</a:t>
            </a:r>
          </a:p>
          <a:p>
            <a:r>
              <a:t>• At the heart of all interactions there should be an assumption of good intent regarding the outcomes for the student.</a:t>
            </a:r>
          </a:p>
          <a:p/>
          <a:p>
            <a:r>
              <a:t>ACTIVITY: Table group partnership grid  ·  table groups  ·  8 minutes</a:t>
            </a:r>
          </a:p>
          <a:p>
            <a:r>
              <a:t>Prompt: For each partner: what do they bring, and what challenges might they face?</a:t>
            </a:r>
          </a:p>
          <a:p>
            <a:r>
              <a:t>1. Work through the four partners: student, parents and carers, teachers, paraprofessionals.</a:t>
            </a:r>
          </a:p>
          <a:p>
            <a:r>
              <a:t>2. For each, note what they bring and what challenges they might face.</a:t>
            </a:r>
          </a:p>
          <a:p>
            <a:r>
              <a:t>3. Compare: what do all four have in common?</a:t>
            </a:r>
          </a:p>
          <a:p>
            <a:r>
              <a:t>Bring the room back:</a:t>
            </a:r>
          </a:p>
          <a:p>
            <a:r>
              <a:t>• What are the similarities and differences across the four partners?</a:t>
            </a:r>
          </a:p>
          <a:p>
            <a:r>
              <a:t>• What would make the partnership more successful?</a:t>
            </a:r>
          </a:p>
          <a:p>
            <a:r>
              <a:t>Close: List the commonalities the room names and link them to the collaboration principles on slide 4.</a:t>
            </a:r>
          </a:p>
        </p:txBody>
      </p:sp>
    </p:spTree>
    <p:extLst>
      <p:ext uri="{BB962C8B-B14F-4D97-AF65-F5344CB8AC3E}">
        <p14:creationId xmlns:p14="http://schemas.microsoft.com/office/powerpoint/2010/main" val="2419269883"/>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5B23862-DA1D-B1A1-9895-FC9A71AF854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DA38FBF-1361-F969-DC98-01A54DC72E4E}"/>
              </a:ext>
            </a:extLst>
          </p:cNvPr>
          <p:cNvSpPr>
            <a:spLocks noGrp="1" noRot="1" noChangeAspect="1"/>
          </p:cNvSpPr>
          <p:nvPr>
            <p:ph type="sldImg"/>
          </p:nvPr>
        </p:nvSpPr>
        <p:spPr/>
        <p:txBody>
          <a:bodyPr/>
          <a:lstStyle/>
          <a:p>
            <a:endParaRPr lang="en-AU"/>
          </a:p>
        </p:txBody>
      </p:sp>
      <p:sp>
        <p:nvSpPr>
          <p:cNvPr id="3" name="Notes Placeholder 2">
            <a:extLst>
              <a:ext uri="{FF2B5EF4-FFF2-40B4-BE49-F238E27FC236}">
                <a16:creationId xmlns:a16="http://schemas.microsoft.com/office/drawing/2014/main" id="{C941276F-589B-898A-F5FE-D4D7F4EC37DB}"/>
              </a:ext>
            </a:extLst>
          </p:cNvPr>
          <p:cNvSpPr>
            <a:spLocks noGrp="1"/>
          </p:cNvSpPr>
          <p:nvPr>
            <p:ph type="body" idx="1"/>
          </p:nvPr>
        </p:nvSpPr>
        <p:spPr/>
        <p:txBody>
          <a:bodyPr/>
          <a:lstStyle/>
          <a:p>
            <a:r>
              <a:t>SUGGESTED TIME: 6 min  ·  2:48 - 2:54  ·  Participant Guide p.24 - The first two minutes</a:t>
            </a:r>
          </a:p>
          <a:p/>
          <a:p>
            <a:r>
              <a:t>PURPOSE</a:t>
            </a:r>
          </a:p>
          <a:p>
            <a:r>
              <a:t>Practise opening a conversation by asking and listening back before solving.</a:t>
            </a:r>
          </a:p>
          <a:p/>
          <a:p>
            <a:r>
              <a:t>WHAT TO DO</a:t>
            </a:r>
          </a:p>
          <a:p>
            <a:r>
              <a:t>1. Put participants in pairs. One is the teacher; the other plays a parent or a student.</a:t>
            </a:r>
          </a:p>
          <a:p>
            <a:r>
              <a:t>2. Direct pairs to the three scenarios in the Participant Guide (p. 24). Each pair chooses one.</a:t>
            </a:r>
          </a:p>
          <a:p>
            <a:r>
              <a:t>3. Explain the rule: for two minutes the teacher only asks and listens back. No solving yet.</a:t>
            </a:r>
          </a:p>
          <a:p>
            <a:r>
              <a:t>4. Start a visible two-minute timer. Call time, then ask pairs to swap roles and choose a second scenario.</a:t>
            </a:r>
          </a:p>
          <a:p>
            <a:r>
              <a:t>5. Offer writing instead of role-play: anyone can script the two minutes on paper instead.</a:t>
            </a:r>
          </a:p>
          <a:p>
            <a:r>
              <a:t>6. Use the last 2 minutes for the debrief. Take 2-3 responses.</a:t>
            </a:r>
          </a:p>
          <a:p/>
          <a:p>
            <a:r>
              <a:t>YOU MIGHT SAY</a:t>
            </a:r>
          </a:p>
          <a:p>
            <a:r>
              <a:t>For two minutes, only ask and listen back. No solving yet.</a:t>
            </a:r>
          </a:p>
          <a:p/>
          <a:p>
            <a:r>
              <a:t>KEY MESSAGES</a:t>
            </a:r>
          </a:p>
          <a:p>
            <a:r>
              <a:t>• What helps: be prepared for meetings, share information, ask questions, seek clarification and assume the best.</a:t>
            </a:r>
          </a:p>
          <a:p>
            <a:r>
              <a:t>• Asking first often brings out information that solving first would miss.</a:t>
            </a:r>
          </a:p>
          <a:p>
            <a:r>
              <a:t>• Listening back shows the family or student they have been heard.</a:t>
            </a:r>
          </a:p>
          <a:p/>
          <a:p>
            <a:r>
              <a:t>ACTIVITY: Paired practice (role-play or written)  ·  pairs  ·  6 minutes</a:t>
            </a:r>
          </a:p>
          <a:p>
            <a:r>
              <a:t>Prompt: For two minutes, only ask and listen back. No solving yet.</a:t>
            </a:r>
          </a:p>
          <a:p>
            <a:r>
              <a:t>1. Decide who is the teacher and who plays the parent or student.</a:t>
            </a:r>
          </a:p>
          <a:p>
            <a:r>
              <a:t>2. Choose a scenario from p. 24: (1) a parent at the first meeting of the year: "Last year's teacher really understood him. I'm worried about starting again." (2) a parent of a Year 2 student: "We only got the diagnosis in the holidays. I don't know what to ask for." (3) a Year 8 student meeting a new teacher: "I don't want to be treated differently."</a:t>
            </a:r>
          </a:p>
          <a:p>
            <a:r>
              <a:t>3. Two minutes: the teacher only asks questions and listens back.</a:t>
            </a:r>
          </a:p>
          <a:p>
            <a:r>
              <a:t>4. Swap roles and use a second scenario.</a:t>
            </a:r>
          </a:p>
          <a:p>
            <a:r>
              <a:t>5. If you prefer, write the two minutes as a script instead of role-playing it.</a:t>
            </a:r>
          </a:p>
          <a:p>
            <a:r>
              <a:t>Bring the room back:</a:t>
            </a:r>
          </a:p>
          <a:p>
            <a:r>
              <a:t>• What did asking first bring out?</a:t>
            </a:r>
          </a:p>
          <a:p>
            <a:r>
              <a:t>• What made it hard not to jump to solutions?</a:t>
            </a:r>
          </a:p>
          <a:p>
            <a:r>
              <a:t>Close: Ask everyone to write one question they will use to open a conversation in the third column on p. 24. They will use it in the bridge (slide 19) and in Session 6.</a:t>
            </a:r>
          </a:p>
          <a:p/>
          <a:p>
            <a:r>
              <a:t>KEEP IN MIND</a:t>
            </a:r>
          </a:p>
          <a:p>
            <a:r>
              <a:t>• Keep it low-stakes. Some participants will find role-play uncomfortable; the written option is equally valid.</a:t>
            </a:r>
          </a:p>
          <a:p>
            <a:r>
              <a:t>• Some participants may be parents or family members of Autistic children, and a scenario may feel close to home. They can choose another scenario, write, or listen.</a:t>
            </a:r>
          </a:p>
          <a:p>
            <a:r>
              <a:t>• Keep the parent and student roles respectful; avoid playing them as difficult.</a:t>
            </a:r>
          </a:p>
          <a:p/>
          <a:p>
            <a:r>
              <a:t>BACKGROUND</a:t>
            </a:r>
          </a:p>
          <a:p>
            <a:r>
              <a:t>Two minutes of only asking can be hard for teachers, who are used to solving problems. The scenarios are set at points covered on slide 5: a first meeting of the year, a recent diagnosis, and a student meeting a new teacher. The What helps list on the slide gives participants moves they can use in any of them.</a:t>
            </a:r>
          </a:p>
          <a:p/>
          <a:p>
            <a:r>
              <a:t>THREAD</a:t>
            </a:r>
          </a:p>
          <a:p>
            <a:r>
              <a:t>Builds on Families near the start of the journey (slide 5). The opening question carries into the bridge (slide 19) and the opening sentence in the Session 6 conversation plan (p. 28).</a:t>
            </a:r>
          </a:p>
        </p:txBody>
      </p:sp>
    </p:spTree>
    <p:extLst>
      <p:ext uri="{BB962C8B-B14F-4D97-AF65-F5344CB8AC3E}">
        <p14:creationId xmlns:p14="http://schemas.microsoft.com/office/powerpoint/2010/main" val="3017701602"/>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SUGGESTED TIME: 2 min  ·  2:54 - 2:56</a:t>
            </a:r>
          </a:p>
          <a:p/>
          <a:p>
            <a:r>
              <a:t>PURPOSE</a:t>
            </a:r>
          </a:p>
          <a:p>
            <a:r>
              <a:t>Emphasise listening before solving, and making room for questions, uncertainty and different priorities.</a:t>
            </a:r>
          </a:p>
          <a:p/>
          <a:p>
            <a:r>
              <a:t>WHAT TO DO</a:t>
            </a:r>
          </a:p>
          <a:p>
            <a:r>
              <a:t>1. Read the six practices briefly.</a:t>
            </a:r>
          </a:p>
          <a:p>
            <a:r>
              <a:t>2. Emphasise listening before solving and making room for questions, uncertainty and different priorities.</a:t>
            </a:r>
          </a:p>
          <a:p>
            <a:r>
              <a:t>3. Invite participants to identify where school language, timing or process may create a barrier, and who in their school they could raise it with.</a:t>
            </a:r>
          </a:p>
          <a:p>
            <a:r>
              <a:t>4. Make the key point: environment-first thinking applies to meetings too.</a:t>
            </a:r>
          </a:p>
          <a:p/>
          <a:p>
            <a:r>
              <a:t>YOU MIGHT SAY</a:t>
            </a:r>
          </a:p>
          <a:p>
            <a:r>
              <a:t>What could the school change about the process?</a:t>
            </a:r>
          </a:p>
          <a:p/>
          <a:p>
            <a:r>
              <a:t>KEY MESSAGES</a:t>
            </a:r>
          </a:p>
          <a:p>
            <a:r>
              <a:t>• Power is present in meeting structures, language and decision pathways.</a:t>
            </a:r>
          </a:p>
          <a:p>
            <a:r>
              <a:t>• Meeting families where they are begins with listening and clarity.</a:t>
            </a:r>
          </a:p>
          <a:p>
            <a:r>
              <a:t>• Environment-first thinking also applies to consultation processes.</a:t>
            </a:r>
          </a:p>
          <a:p/>
          <a:p>
            <a:r>
              <a:t>KEEP IN MIND</a:t>
            </a:r>
          </a:p>
          <a:p>
            <a:r>
              <a:t>• Avoid judging a family's pace, response or choices.</a:t>
            </a:r>
          </a:p>
          <a:p>
            <a:r>
              <a:t>• Avoid describing a family as difficult, disengaged or unrealistic without examining the context and process.</a:t>
            </a:r>
          </a:p>
        </p:txBody>
      </p:sp>
      <p:sp>
        <p:nvSpPr>
          <p:cNvPr id="4" name="Slide Number Placeholder 3"/>
          <p:cNvSpPr>
            <a:spLocks noGrp="1"/>
          </p:cNvSpPr>
          <p:nvPr>
            <p:ph type="sldNum" sz="quarter" idx="5"/>
          </p:nvPr>
        </p:nvSpPr>
        <p:spPr/>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SUGGESTED TIME: 2 min  ·  2:56 - 2:58  ·  Participant Guide p.25 - Consultation checklist</a:t>
            </a:r>
          </a:p>
          <a:p/>
          <a:p>
            <a:r>
              <a:t>PURPOSE</a:t>
            </a:r>
          </a:p>
          <a:p>
            <a:r>
              <a:t>Introduce consultation literacy: asking, listening and following up.</a:t>
            </a:r>
          </a:p>
          <a:p/>
          <a:p>
            <a:r>
              <a:t>WHAT TO DO</a:t>
            </a:r>
          </a:p>
          <a:p>
            <a:r>
              <a:t>1. Walk through what useful consultation includes.</a:t>
            </a:r>
          </a:p>
          <a:p>
            <a:r>
              <a:t>2. Frame the list as a check participants can use before and after a meeting.</a:t>
            </a:r>
          </a:p>
          <a:p>
            <a:r>
              <a:t>3. Make the point: ask, listen, and follow up.</a:t>
            </a:r>
          </a:p>
          <a:p/>
          <a:p>
            <a:r>
              <a:t>KEY MESSAGES</a:t>
            </a:r>
          </a:p>
          <a:p>
            <a:r>
              <a:t>• Ask, listen, and follow up.</a:t>
            </a:r>
          </a:p>
          <a:p>
            <a:r>
              <a:t>• Tools should support consultation rather than replace listening and student voice.</a:t>
            </a:r>
          </a:p>
        </p:txBody>
      </p:sp>
      <p:sp>
        <p:nvSpPr>
          <p:cNvPr id="4" name="Slide Number Placeholder 3"/>
          <p:cNvSpPr>
            <a:spLocks noGrp="1"/>
          </p:cNvSpPr>
          <p:nvPr>
            <p:ph type="sldNum" sz="quarter" idx="5"/>
          </p:nvPr>
        </p:nvSpPr>
        <p:spPr/>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SUGGESTED TIME: 2 min  ·  2:58 - 3:00</a:t>
            </a:r>
          </a:p>
          <a:p/>
          <a:p>
            <a:r>
              <a:t>PURPOSE</a:t>
            </a:r>
          </a:p>
          <a:p>
            <a:r>
              <a:t>Give practical ways to consult students and families so every voice can be heard.</a:t>
            </a:r>
          </a:p>
          <a:p/>
          <a:p>
            <a:r>
              <a:t>WHAT TO DO</a:t>
            </a:r>
          </a:p>
          <a:p>
            <a:r>
              <a:t>1. Take the two columns in turn: with students, then with families.</a:t>
            </a:r>
          </a:p>
          <a:p>
            <a:r>
              <a:t>2. With students: presume competence, provide communication supports, offer choices, allow time, and act on what students tell us.</a:t>
            </a:r>
          </a:p>
          <a:p>
            <a:r>
              <a:t>3. With families: start with the student's strengths, interests and what works well, and listen to families' knowledge of their child without making assumptions.</a:t>
            </a:r>
          </a:p>
          <a:p>
            <a:r>
              <a:t>4. Keep this brief. Ask participants to pick one practice from each column to try with the students they have in mind.</a:t>
            </a:r>
          </a:p>
          <a:p/>
          <a:p>
            <a:r>
              <a:t>KEY MESSAGES</a:t>
            </a:r>
          </a:p>
          <a:p>
            <a:r>
              <a:t>• Listen, adapt, give choices, and make it easy for every student to have a voice.</a:t>
            </a:r>
          </a:p>
          <a:p>
            <a:r>
              <a:t>• Ensure trusted supporters assist communication without replacing the student's voice.</a:t>
            </a:r>
          </a:p>
          <a:p>
            <a:r>
              <a:t>• Use plain language and explain educational terms clearly.</a:t>
            </a:r>
          </a:p>
          <a:p>
            <a:r>
              <a:t>• Focus on the student's needs and goals, not just their diagnosis.</a:t>
            </a:r>
          </a:p>
          <a:p>
            <a:r>
              <a:t>• Recognise that some parents will be neurodivergent themselves.</a:t>
            </a:r>
          </a:p>
          <a:p/>
          <a:p>
            <a:r>
              <a:t>BACKGROUND</a:t>
            </a:r>
          </a:p>
          <a:p>
            <a:r>
              <a:t>Student consultation: provide multiple communication options (AAC, visuals, writing, drawing, video, symbols); prepare students in advance with questions, agendas and meeting information; use supported decision-making with simple choices and extra processing time; create sensory-friendly environments; recognise that behaviour is communication and can indicate preferences; build on strengths, interests and preferences; use accessible, strengths-based questions. Family consultation: be respectful of different cultures, experiences and family perspectives; use real examples from school to discuss supports and adjustments; check everyone has the same understanding; agree clear next steps and how progress will be reviewed; keep communication open and ongoing.</a:t>
            </a:r>
          </a:p>
          <a:p/>
          <a:p>
            <a:r>
              <a:t>THREAD</a:t>
            </a:r>
          </a:p>
          <a:p>
            <a:r>
              <a:t>Picks up the continuum of support and NCCD from Session 4.</a:t>
            </a:r>
          </a:p>
        </p:txBody>
      </p:sp>
      <p:sp>
        <p:nvSpPr>
          <p:cNvPr id="4" name="Slide Number Placeholder 3"/>
          <p:cNvSpPr>
            <a:spLocks noGrp="1"/>
          </p:cNvSpPr>
          <p:nvPr>
            <p:ph type="sldNum" sz="quarter" idx="5"/>
          </p:nvPr>
        </p:nvSpPr>
        <p:spPr/>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SUGGESTED TIME: 3 min  ·  3:03 - 3:06</a:t>
            </a:r>
          </a:p>
          <a:p/>
          <a:p>
            <a:r>
              <a:t>PURPOSE</a:t>
            </a:r>
          </a:p>
          <a:p>
            <a:r>
              <a:t>Introduce meltdown, shutdown and School Can't within partnership discussion, without blame.</a:t>
            </a:r>
          </a:p>
          <a:p/>
          <a:p>
            <a:r>
              <a:t>WHAT TO DO</a:t>
            </a:r>
          </a:p>
          <a:p>
            <a:r>
              <a:t>1. Introduce the three terms without presenting them as wilful behaviour.</a:t>
            </a:r>
          </a:p>
          <a:p>
            <a:r>
              <a:t>2. Connect discussion to accumulated demands, what may not be visible, and what home and school can learn from each other.</a:t>
            </a:r>
          </a:p>
          <a:p>
            <a:r>
              <a:t>3. Ask what information, listening and environmental change would help the team respond more safely and usefully.</a:t>
            </a:r>
          </a:p>
          <a:p>
            <a:r>
              <a:t>4. Point to the focus line: safety, what preceded the situation, what supports recovery and what can change in the environment, task or response.</a:t>
            </a:r>
          </a:p>
          <a:p>
            <a:r>
              <a:t>5. Remind participants to follow local wellbeing, safety and support processes and involve the right school staff. A new teacher does not solve this alone.</a:t>
            </a:r>
          </a:p>
          <a:p/>
          <a:p>
            <a:r>
              <a:t>KEY MESSAGES</a:t>
            </a:r>
          </a:p>
          <a:p>
            <a:r>
              <a:t>• Capacity should be discussed without blame.</a:t>
            </a:r>
          </a:p>
          <a:p>
            <a:r>
              <a:t>• Home and school may observe different parts of the student's experience.</a:t>
            </a:r>
          </a:p>
          <a:p>
            <a:r>
              <a:t>• Use non-blaming language and the workshop safety guidance.</a:t>
            </a:r>
          </a:p>
          <a:p/>
          <a:p>
            <a:r>
              <a:t>KEEP IN MIND</a:t>
            </a:r>
          </a:p>
          <a:p>
            <a:r>
              <a:t>• Do not frame meltdown, shutdown or School Can't as wilful misbehaviour or a failure of parenting.</a:t>
            </a:r>
          </a:p>
          <a:p>
            <a:r>
              <a:t>• Do not offer clinical, diagnostic, legal or crisis guidance beyond the material.</a:t>
            </a:r>
          </a:p>
          <a:p/>
          <a:p>
            <a:r>
              <a:t>THREAD</a:t>
            </a:r>
          </a:p>
          <a:p>
            <a:r>
              <a:t>Builds on capacity and accumulated demands from Sessions 2 and 3.</a:t>
            </a:r>
          </a:p>
        </p:txBody>
      </p:sp>
      <p:sp>
        <p:nvSpPr>
          <p:cNvPr id="4" name="Slide Number Placeholder 3"/>
          <p:cNvSpPr>
            <a:spLocks noGrp="1"/>
          </p:cNvSpPr>
          <p:nvPr>
            <p:ph type="sldNum" sz="quarter" idx="5"/>
          </p:nvPr>
        </p:nvSpPr>
        <p:spPr/>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AU"/>
          </a:p>
        </p:txBody>
      </p:sp>
      <p:sp>
        <p:nvSpPr>
          <p:cNvPr id="3" name="Notes Placeholder 2"/>
          <p:cNvSpPr>
            <a:spLocks noGrp="1"/>
          </p:cNvSpPr>
          <p:nvPr>
            <p:ph type="body" idx="1"/>
          </p:nvPr>
        </p:nvSpPr>
        <p:spPr/>
        <p:txBody>
          <a:bodyPr/>
          <a:lstStyle/>
          <a:p>
            <a:r>
              <a:t>SUGGESTED TIME: 1 min  ·  3:06 - 3:07</a:t>
            </a:r>
          </a:p>
          <a:p/>
          <a:p>
            <a:r>
              <a:t>PURPOSE</a:t>
            </a:r>
          </a:p>
          <a:p>
            <a:r>
              <a:t>Demonstrate the Partnership tools and explain how they are used.</a:t>
            </a:r>
          </a:p>
          <a:p/>
          <a:p>
            <a:r>
              <a:t>WHAT TO DO</a:t>
            </a:r>
          </a:p>
          <a:p>
            <a:r>
              <a:t>1. Show the Partnership tools and explain briefly how each is used.</a:t>
            </a:r>
          </a:p>
          <a:p>
            <a:r>
              <a:t>2. Frame the tools as supports for consultation, not replacements for listening.</a:t>
            </a:r>
          </a:p>
          <a:p>
            <a:r>
              <a:t>3. Suggest participants ask their mentor or leader which tools their school already uses.</a:t>
            </a:r>
          </a:p>
          <a:p/>
          <a:p>
            <a:r>
              <a:t>KEY MESSAGES</a:t>
            </a:r>
          </a:p>
          <a:p>
            <a:r>
              <a:t>• Tools should support consultation rather than replace listening and student voice.</a:t>
            </a:r>
          </a:p>
        </p:txBody>
      </p:sp>
      <p:sp>
        <p:nvSpPr>
          <p:cNvPr id="4" name="Date Placeholder 3"/>
          <p:cNvSpPr>
            <a:spLocks noGrp="1"/>
          </p:cNvSpPr>
          <p:nvPr>
            <p:ph type="dt" idx="10"/>
          </p:nvPr>
        </p:nvSpPr>
        <p:spPr/>
        <p:txBody>
          <a:bodyPr/>
          <a:lstStyle/>
          <a:p>
            <a:endParaRPr lang="en-AU"/>
          </a:p>
        </p:txBody>
      </p:sp>
    </p:spTree>
    <p:extLst>
      <p:ext uri="{BB962C8B-B14F-4D97-AF65-F5344CB8AC3E}">
        <p14:creationId xmlns:p14="http://schemas.microsoft.com/office/powerpoint/2010/main" val="617367588"/>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SUGGESTED TIME: 2 min  ·  3:07 - 3:09</a:t>
            </a:r>
          </a:p>
          <a:p/>
          <a:p>
            <a:r>
              <a:t>PURPOSE</a:t>
            </a:r>
          </a:p>
          <a:p>
            <a:r>
              <a:t>Introduce the NCCD Meetings Tool Kit and direct participants to official NCCD information.</a:t>
            </a:r>
          </a:p>
          <a:p/>
          <a:p>
            <a:r>
              <a:t>WHAT TO DO</a:t>
            </a:r>
          </a:p>
          <a:p>
            <a:r>
              <a:t>1. Explain how the Tool Kit makes the meeting purpose, consultation process, possible adjustments, evidence and next steps clear.</a:t>
            </a:r>
          </a:p>
          <a:p>
            <a:r>
              <a:t>2. Remind participants to follow the processes used in their school or system.</a:t>
            </a:r>
          </a:p>
          <a:p>
            <a:r>
              <a:t>3. Note that early career teachers may not lead these meetings, and should know their role, who makes decisions and who can guide their questions.</a:t>
            </a:r>
          </a:p>
          <a:p>
            <a:r>
              <a:t>4. Emphasise explaining responsibilities and follow-up to families.</a:t>
            </a:r>
          </a:p>
          <a:p>
            <a:r>
              <a:t>5. Direct participants to official NCCD information.</a:t>
            </a:r>
          </a:p>
          <a:p/>
          <a:p>
            <a:r>
              <a:t>KEY MESSAGES</a:t>
            </a:r>
          </a:p>
          <a:p>
            <a:r>
              <a:t>• NCCD information must be current and official.</a:t>
            </a:r>
          </a:p>
        </p:txBody>
      </p:sp>
      <p:sp>
        <p:nvSpPr>
          <p:cNvPr id="4" name="Slide Number Placeholder 3"/>
          <p:cNvSpPr>
            <a:spLocks noGrp="1"/>
          </p:cNvSpPr>
          <p:nvPr>
            <p:ph type="sldNum" sz="quarter" idx="5"/>
          </p:nvPr>
        </p:nvSpPr>
        <p:spPr/>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SUGGESTED TIME: 1 min  ·  3:09 - 3:10</a:t>
            </a:r>
          </a:p>
          <a:p/>
          <a:p>
            <a:r>
              <a:t>PURPOSE</a:t>
            </a:r>
          </a:p>
          <a:p>
            <a:r>
              <a:t>Introduce the support pathways included in the workshop.</a:t>
            </a:r>
          </a:p>
          <a:p/>
          <a:p>
            <a:r>
              <a:t>WHAT TO DO</a:t>
            </a:r>
          </a:p>
          <a:p>
            <a:r>
              <a:t>1. Briefly introduce the Positive Partnerships support options and other supports on the slide.</a:t>
            </a:r>
          </a:p>
          <a:p>
            <a:r>
              <a:t>2. Point participants to Participant Guide p. 30 for resources.</a:t>
            </a:r>
          </a:p>
          <a:p/>
          <a:p>
            <a:r>
              <a:t>KEY MESSAGES</a:t>
            </a:r>
          </a:p>
          <a:p>
            <a:r>
              <a:t>• Introduce the Positive Partnerships support options included with the workshop.</a:t>
            </a:r>
          </a:p>
          <a:p/>
          <a:p>
            <a:r>
              <a:t>KEEP IN MIND</a:t>
            </a:r>
          </a:p>
          <a:p>
            <a:r>
              <a:t>• Check phone numbers and services are current before delivery.</a:t>
            </a:r>
          </a:p>
        </p:txBody>
      </p:sp>
      <p:sp>
        <p:nvSpPr>
          <p:cNvPr id="4" name="Slide Number Placeholder 3"/>
          <p:cNvSpPr>
            <a:spLocks noGrp="1"/>
          </p:cNvSpPr>
          <p:nvPr>
            <p:ph type="sldNum" sz="quarter" idx="10"/>
          </p:nvPr>
        </p:nvSpPr>
        <p:spPr/>
        <p:txBody>
          <a:bodyPr/>
          <a:lstStyle/>
          <a:p>
            <a:pPr defTabSz="966338">
              <a:defRPr/>
            </a:pPr>
            <a:fld id="{548C6345-C4B0-4EAE-A3B4-FCAC51D578EF}" type="slidenum">
              <a:rPr lang="en-AU">
                <a:solidFill>
                  <a:prstClr val="black"/>
                </a:solidFill>
                <a:latin typeface="Calibri" panose="020F0502020204030204"/>
              </a:rPr>
              <a:pPr defTabSz="966338">
                <a:defRPr/>
              </a:pPr>
              <a:t>16</a:t>
            </a:fld>
            <a:endParaRPr lang="en-AU">
              <a:solidFill>
                <a:prstClr val="black"/>
              </a:solidFill>
              <a:latin typeface="Calibri" panose="020F0502020204030204"/>
            </a:endParaRPr>
          </a:p>
        </p:txBody>
      </p:sp>
    </p:spTree>
    <p:extLst>
      <p:ext uri="{BB962C8B-B14F-4D97-AF65-F5344CB8AC3E}">
        <p14:creationId xmlns:p14="http://schemas.microsoft.com/office/powerpoint/2010/main" val="1384576993"/>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SUGGESTED TIME: 5 min  ·  3:10 - 3:15  ·  Participant Guide p.25 - Bridge to the next family conversation</a:t>
            </a:r>
          </a:p>
          <a:p/>
          <a:p>
            <a:r>
              <a:t>PURPOSE</a:t>
            </a:r>
          </a:p>
          <a:p>
            <a:r>
              <a:t>Identify the question and shared purpose participants will take into the Session 6 conversation plan.</a:t>
            </a:r>
          </a:p>
          <a:p/>
          <a:p>
            <a:r>
              <a:t>WHAT TO DO</a:t>
            </a:r>
          </a:p>
          <a:p>
            <a:r>
              <a:t>1. Ask participants to return to the students they have in mind and their day-one setup.</a:t>
            </a:r>
          </a:p>
          <a:p>
            <a:r>
              <a:t>2. Invite them to work through the prompts on the slide privately.</a:t>
            </a:r>
          </a:p>
          <a:p>
            <a:r>
              <a:t>3. Suggest they use the opening question they wrote in The first two minutes (p. 24).</a:t>
            </a:r>
          </a:p>
          <a:p>
            <a:r>
              <a:t>4. Keep the focus on preparation rather than scripting what the family should say.</a:t>
            </a:r>
          </a:p>
          <a:p>
            <a:r>
              <a:t>5. Ask participants to carry one process change from the power reflection into the plan, and to note who could help them prepare.</a:t>
            </a:r>
          </a:p>
          <a:p>
            <a:r>
              <a:t>6. Preview the closing session on belonging, capacity, joy and practical next steps.</a:t>
            </a:r>
          </a:p>
          <a:p/>
          <a:p>
            <a:r>
              <a:t>YOU MIGHT SAY</a:t>
            </a:r>
          </a:p>
          <a:p>
            <a:r>
              <a:t>Keep these notes for your conversation plan in Session 6.</a:t>
            </a:r>
          </a:p>
          <a:p/>
          <a:p>
            <a:r>
              <a:t>KEY MESSAGES</a:t>
            </a:r>
          </a:p>
          <a:p>
            <a:r>
              <a:t>• Prepare for one purposeful conversation.</a:t>
            </a:r>
          </a:p>
          <a:p/>
          <a:p>
            <a:r>
              <a:t>ACTIVITY: Private bridge reflection  ·  on your own  ·  4 minutes</a:t>
            </a:r>
          </a:p>
          <a:p>
            <a:r>
              <a:t>Prompt: Prepare for one purposeful conversation.</a:t>
            </a:r>
          </a:p>
          <a:p>
            <a:r>
              <a:t>1. What needs to be understood?</a:t>
            </a:r>
          </a:p>
          <a:p>
            <a:r>
              <a:t>2. What question will open the conversation?</a:t>
            </a:r>
          </a:p>
          <a:p>
            <a:r>
              <a:t>3. How will the student's voice be included?</a:t>
            </a:r>
          </a:p>
          <a:p>
            <a:r>
              <a:t>4. What can be decided together?</a:t>
            </a:r>
          </a:p>
          <a:p>
            <a:r>
              <a:t>5. How and when will the school follow up?</a:t>
            </a:r>
          </a:p>
          <a:p>
            <a:r>
              <a:t>Close: Keep these notes available for the family-conversation plan in Session 6.</a:t>
            </a:r>
          </a:p>
          <a:p/>
          <a:p>
            <a:r>
              <a:t>THREAD</a:t>
            </a:r>
          </a:p>
          <a:p>
            <a:r>
              <a:t>Connects to the Session 4 asking list, The first two minutes (p. 24) and the conversation plan in Session 6 (Participant Guide p. 28).</a:t>
            </a:r>
          </a:p>
        </p:txBody>
      </p:sp>
      <p:sp>
        <p:nvSpPr>
          <p:cNvPr id="4" name="Slide Number Placeholder 3"/>
          <p:cNvSpPr>
            <a:spLocks noGrp="1"/>
          </p:cNvSpPr>
          <p:nvPr>
            <p:ph type="sldNum" sz="quarter" idx="5"/>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SUGGESTED TIME: 3 min  ·  2:24 - 2:27  ·  Participant Guide p.22 - Session 5 summary (Families near the start of the journey)</a:t>
            </a:r>
          </a:p>
          <a:p/>
          <a:p>
            <a:r>
              <a:t>PURPOSE</a:t>
            </a:r>
          </a:p>
          <a:p>
            <a:r>
              <a:t>Prepare participants to meet families at different points, including diagnosis years, first meetings and transitions, without assuming a single journey, language or pace.</a:t>
            </a:r>
          </a:p>
          <a:p/>
          <a:p>
            <a:r>
              <a:t>WHAT TO DO</a:t>
            </a:r>
          </a:p>
          <a:p>
            <a:r>
              <a:t>1. Read the heading line: start with where the family is now.</a:t>
            </a:r>
          </a:p>
          <a:p>
            <a:r>
              <a:t>2. Walk through the four cards: diagnosis years, first meetings, transition points and what helps.</a:t>
            </a:r>
          </a:p>
          <a:p>
            <a:r>
              <a:t>3. Ask the group: What might a family be carrying into a first meeting with a new teacher? Take 2-3 responses.</a:t>
            </a:r>
          </a:p>
          <a:p>
            <a:r>
              <a:t>4. Give a primary and a secondary example if it helps: a family whose child starts school soon after a diagnosis; a family whose child is moving to a new secondary school.</a:t>
            </a:r>
          </a:p>
          <a:p>
            <a:r>
              <a:t>5. Note that families may bring different histories, questions, priorities, terms and capacity to a conversation.</a:t>
            </a:r>
          </a:p>
          <a:p>
            <a:r>
              <a:t>6. Point to the last line: you don't need every answer. Curiosity and clear information help more.</a:t>
            </a:r>
          </a:p>
          <a:p/>
          <a:p>
            <a:r>
              <a:t>YOU MIGHT SAY</a:t>
            </a:r>
          </a:p>
          <a:p>
            <a:r>
              <a:t>What might a family be carrying into a first meeting with a new teacher?</a:t>
            </a:r>
          </a:p>
          <a:p/>
          <a:p>
            <a:r>
              <a:t>KEY MESSAGES</a:t>
            </a:r>
          </a:p>
          <a:p>
            <a:r>
              <a:t>• Start with where the family is now.</a:t>
            </a:r>
          </a:p>
          <a:p>
            <a:r>
              <a:t>• Families may bring different histories, questions, priorities and capacity to a conversation.</a:t>
            </a:r>
          </a:p>
          <a:p>
            <a:r>
              <a:t>• A clear purpose, plain language, time for questions and a next step everyone understands help at any point in the journey.</a:t>
            </a:r>
          </a:p>
          <a:p>
            <a:r>
              <a:t>• You don't need every answer. Curiosity and clear information help more.</a:t>
            </a:r>
          </a:p>
          <a:p/>
          <a:p>
            <a:r>
              <a:t>KEEP IN MIND</a:t>
            </a:r>
          </a:p>
          <a:p>
            <a:r>
              <a:t>• Do not assume every family is newly diagnosed, uses the same terms or wants the same next step.</a:t>
            </a:r>
          </a:p>
          <a:p>
            <a:r>
              <a:t>• Keep the focus on preparation, listening and clarity rather than identifiable family stories.</a:t>
            </a:r>
          </a:p>
          <a:p/>
          <a:p>
            <a:r>
              <a:t>BACKGROUND</a:t>
            </a:r>
          </a:p>
          <a:p>
            <a:r>
              <a:t>A first meeting with a new teacher, or a move to a new year or school, can bring back earlier experiences with school, both good and difficult. Some families are still learning new terms and services; others have years of experience and may know more about their child's supports than the school does. Early career teachers can be prepared and clear without assuming what the family has been through.</a:t>
            </a:r>
          </a:p>
          <a:p/>
          <a:p>
            <a:r>
              <a:t>THREAD</a:t>
            </a:r>
          </a:p>
          <a:p>
            <a:r>
              <a:t>The scenarios in The first two minutes (slide 10) are set at these points: a first meeting of the year, a recent diagnosis and a new teacher.</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SUGGESTED TIME: 3 min  ·  3:00 - 3:03  ·  Participant Guide p.22 - Session 5 summary (Asking is part of the job)</a:t>
            </a:r>
          </a:p>
          <a:p/>
          <a:p>
            <a:r>
              <a:t>PURPOSE</a:t>
            </a:r>
          </a:p>
          <a:p>
            <a:r>
              <a:t>Show early career teachers that asking families, students and colleagues is good practice, not a sign of inexperience.</a:t>
            </a:r>
          </a:p>
          <a:p/>
          <a:p>
            <a:r>
              <a:t>WHAT TO DO</a:t>
            </a:r>
          </a:p>
          <a:p>
            <a:r>
              <a:t>1. Read the heading line: early in your career, asking is a strength.</a:t>
            </a:r>
          </a:p>
          <a:p>
            <a:r>
              <a:t>2. Walk through the four cards: ask families, ask the student, ask colleagues, and it is fine to say so.</a:t>
            </a:r>
          </a:p>
          <a:p>
            <a:r>
              <a:t>3. Give weight to support staff. Teacher aides, learning support staff and others who have known a student for years often know the most about what helps.</a:t>
            </a:r>
          </a:p>
          <a:p>
            <a:r>
              <a:t>4. Relief and casual teachers can ask the classroom teacher, the support staff in the room and the student.</a:t>
            </a:r>
          </a:p>
          <a:p>
            <a:r>
              <a:t>5. Link back to the asking list from Session 4: the people on it are a good place to start.</a:t>
            </a:r>
          </a:p>
          <a:p>
            <a:r>
              <a:t>6. Ask participants: Who is one person you could ask about a student in the next week? Give a moment to note it.</a:t>
            </a:r>
          </a:p>
          <a:p/>
          <a:p>
            <a:r>
              <a:t>YOU MIGHT SAY</a:t>
            </a:r>
          </a:p>
          <a:p>
            <a:r>
              <a:t>Who is one person you could ask about a student in the next week?</a:t>
            </a:r>
          </a:p>
          <a:p/>
          <a:p>
            <a:r>
              <a:t>KEY MESSAGES</a:t>
            </a:r>
          </a:p>
          <a:p>
            <a:r>
              <a:t>• Asking families "What works at home?" in the first weeks shows care and professionalism.</a:t>
            </a:r>
          </a:p>
          <a:p>
            <a:r>
              <a:t>• The student is often the quickest way to understand what helps.</a:t>
            </a:r>
          </a:p>
          <a:p>
            <a:r>
              <a:t>• Support staff who have known a student for years often know the most.</a:t>
            </a:r>
          </a:p>
          <a:p>
            <a:r>
              <a:t>• Saying you are still finding out is better than guessing.</a:t>
            </a:r>
          </a:p>
          <a:p/>
          <a:p>
            <a:r>
              <a:t>KEEP IN MIND</a:t>
            </a:r>
          </a:p>
          <a:p>
            <a:r>
              <a:t>• Present asking as normal professional practice, not another task on the list.</a:t>
            </a:r>
          </a:p>
          <a:p>
            <a:r>
              <a:t>• Share information about students through your school's usual processes.</a:t>
            </a:r>
          </a:p>
          <a:p/>
          <a:p>
            <a:r>
              <a:t>BACKGROUND</a:t>
            </a:r>
          </a:p>
          <a:p>
            <a:r>
              <a:t>New teachers can feel they are expected to already know. Guessing, or staying quiet to avoid looking unsure, can mean a student goes longer without the support that helps. Asking early builds the relationships participants will rely on, and it is a habit that tends to continue.</a:t>
            </a:r>
          </a:p>
          <a:p/>
          <a:p>
            <a:r>
              <a:t>THREAD</a:t>
            </a:r>
          </a:p>
          <a:p>
            <a:r>
              <a:t>Builds on the Session 4 asking list (Day-one setup sheet, section 4) and The first two minutes (slide 10).</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EB1D28A-B3EE-B2F8-2D9F-E38956BB4C3B}"/>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AU"/>
          </a:p>
        </p:txBody>
      </p:sp>
      <p:sp>
        <p:nvSpPr>
          <p:cNvPr id="3" name="Subtitle 2">
            <a:extLst>
              <a:ext uri="{FF2B5EF4-FFF2-40B4-BE49-F238E27FC236}">
                <a16:creationId xmlns:a16="http://schemas.microsoft.com/office/drawing/2014/main" id="{091FFC2E-1ACE-62A5-4072-FDF6F0EA09CB}"/>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AU"/>
          </a:p>
        </p:txBody>
      </p:sp>
      <p:sp>
        <p:nvSpPr>
          <p:cNvPr id="4" name="Date Placeholder 3">
            <a:extLst>
              <a:ext uri="{FF2B5EF4-FFF2-40B4-BE49-F238E27FC236}">
                <a16:creationId xmlns:a16="http://schemas.microsoft.com/office/drawing/2014/main" id="{704599CF-C943-D7C4-7811-263721D4555C}"/>
              </a:ext>
            </a:extLst>
          </p:cNvPr>
          <p:cNvSpPr>
            <a:spLocks noGrp="1"/>
          </p:cNvSpPr>
          <p:nvPr>
            <p:ph type="dt" sz="half" idx="10"/>
          </p:nvPr>
        </p:nvSpPr>
        <p:spPr/>
        <p:txBody>
          <a:bodyPr/>
          <a:lstStyle/>
          <a:p>
            <a:fld id="{E5BF074C-1775-4CF3-9CFA-95D3818C63E7}" type="datetimeFigureOut">
              <a:rPr lang="en-AU" smtClean="0"/>
              <a:t>25/9/2026</a:t>
            </a:fld>
            <a:endParaRPr lang="en-AU"/>
          </a:p>
        </p:txBody>
      </p:sp>
      <p:sp>
        <p:nvSpPr>
          <p:cNvPr id="5" name="Footer Placeholder 4">
            <a:extLst>
              <a:ext uri="{FF2B5EF4-FFF2-40B4-BE49-F238E27FC236}">
                <a16:creationId xmlns:a16="http://schemas.microsoft.com/office/drawing/2014/main" id="{1EEF46FB-5BFF-6413-8DC9-C662D210F6D4}"/>
              </a:ext>
            </a:extLst>
          </p:cNvPr>
          <p:cNvSpPr>
            <a:spLocks noGrp="1"/>
          </p:cNvSpPr>
          <p:nvPr>
            <p:ph type="ftr" sz="quarter" idx="11"/>
          </p:nvPr>
        </p:nvSpPr>
        <p:spPr/>
        <p:txBody>
          <a:bodyPr/>
          <a:lstStyle/>
          <a:p>
            <a:endParaRPr lang="en-AU"/>
          </a:p>
        </p:txBody>
      </p:sp>
      <p:sp>
        <p:nvSpPr>
          <p:cNvPr id="6" name="Slide Number Placeholder 5">
            <a:extLst>
              <a:ext uri="{FF2B5EF4-FFF2-40B4-BE49-F238E27FC236}">
                <a16:creationId xmlns:a16="http://schemas.microsoft.com/office/drawing/2014/main" id="{393AE1BB-D8CC-E9DD-8F6F-D88C38DE89A5}"/>
              </a:ext>
            </a:extLst>
          </p:cNvPr>
          <p:cNvSpPr>
            <a:spLocks noGrp="1"/>
          </p:cNvSpPr>
          <p:nvPr>
            <p:ph type="sldNum" sz="quarter" idx="12"/>
          </p:nvPr>
        </p:nvSpPr>
        <p:spPr/>
        <p:txBody>
          <a:bodyPr/>
          <a:lstStyle/>
          <a:p>
            <a:fld id="{3BAFDF43-DACD-40EF-801D-14F8956C6332}" type="slidenum">
              <a:rPr lang="en-AU" smtClean="0"/>
              <a:t>‹#›</a:t>
            </a:fld>
            <a:endParaRPr lang="en-AU"/>
          </a:p>
        </p:txBody>
      </p:sp>
    </p:spTree>
    <p:extLst>
      <p:ext uri="{BB962C8B-B14F-4D97-AF65-F5344CB8AC3E}">
        <p14:creationId xmlns:p14="http://schemas.microsoft.com/office/powerpoint/2010/main" val="129591015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3EE3CB4-060A-C51F-2EC8-354B364A60F0}"/>
              </a:ext>
            </a:extLst>
          </p:cNvPr>
          <p:cNvSpPr>
            <a:spLocks noGrp="1"/>
          </p:cNvSpPr>
          <p:nvPr>
            <p:ph type="title"/>
          </p:nvPr>
        </p:nvSpPr>
        <p:spPr/>
        <p:txBody>
          <a:bodyPr/>
          <a:lstStyle/>
          <a:p>
            <a:r>
              <a:rPr lang="en-US"/>
              <a:t>Click to edit Master title style</a:t>
            </a:r>
            <a:endParaRPr lang="en-AU"/>
          </a:p>
        </p:txBody>
      </p:sp>
      <p:sp>
        <p:nvSpPr>
          <p:cNvPr id="3" name="Content Placeholder 2">
            <a:extLst>
              <a:ext uri="{FF2B5EF4-FFF2-40B4-BE49-F238E27FC236}">
                <a16:creationId xmlns:a16="http://schemas.microsoft.com/office/drawing/2014/main" id="{43379BE2-E71C-D173-20F7-3DC235E13D06}"/>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4" name="Date Placeholder 3">
            <a:extLst>
              <a:ext uri="{FF2B5EF4-FFF2-40B4-BE49-F238E27FC236}">
                <a16:creationId xmlns:a16="http://schemas.microsoft.com/office/drawing/2014/main" id="{D0F0FBE1-DEF4-01E6-B192-F54120AB1425}"/>
              </a:ext>
            </a:extLst>
          </p:cNvPr>
          <p:cNvSpPr>
            <a:spLocks noGrp="1"/>
          </p:cNvSpPr>
          <p:nvPr>
            <p:ph type="dt" sz="half" idx="10"/>
          </p:nvPr>
        </p:nvSpPr>
        <p:spPr/>
        <p:txBody>
          <a:bodyPr/>
          <a:lstStyle/>
          <a:p>
            <a:fld id="{E5BF074C-1775-4CF3-9CFA-95D3818C63E7}" type="datetimeFigureOut">
              <a:rPr lang="en-AU" smtClean="0"/>
              <a:t>25/9/2026</a:t>
            </a:fld>
            <a:endParaRPr lang="en-AU"/>
          </a:p>
        </p:txBody>
      </p:sp>
      <p:sp>
        <p:nvSpPr>
          <p:cNvPr id="5" name="Footer Placeholder 4">
            <a:extLst>
              <a:ext uri="{FF2B5EF4-FFF2-40B4-BE49-F238E27FC236}">
                <a16:creationId xmlns:a16="http://schemas.microsoft.com/office/drawing/2014/main" id="{63D19024-81F6-B24D-2524-4A38F3C73400}"/>
              </a:ext>
            </a:extLst>
          </p:cNvPr>
          <p:cNvSpPr>
            <a:spLocks noGrp="1"/>
          </p:cNvSpPr>
          <p:nvPr>
            <p:ph type="ftr" sz="quarter" idx="11"/>
          </p:nvPr>
        </p:nvSpPr>
        <p:spPr/>
        <p:txBody>
          <a:bodyPr/>
          <a:lstStyle/>
          <a:p>
            <a:endParaRPr lang="en-AU"/>
          </a:p>
        </p:txBody>
      </p:sp>
      <p:sp>
        <p:nvSpPr>
          <p:cNvPr id="6" name="Slide Number Placeholder 5">
            <a:extLst>
              <a:ext uri="{FF2B5EF4-FFF2-40B4-BE49-F238E27FC236}">
                <a16:creationId xmlns:a16="http://schemas.microsoft.com/office/drawing/2014/main" id="{C67EF9EC-1F2C-3CE9-DEFE-2FF7BA77C9D1}"/>
              </a:ext>
            </a:extLst>
          </p:cNvPr>
          <p:cNvSpPr>
            <a:spLocks noGrp="1"/>
          </p:cNvSpPr>
          <p:nvPr>
            <p:ph type="sldNum" sz="quarter" idx="12"/>
          </p:nvPr>
        </p:nvSpPr>
        <p:spPr/>
        <p:txBody>
          <a:bodyPr/>
          <a:lstStyle/>
          <a:p>
            <a:fld id="{3BAFDF43-DACD-40EF-801D-14F8956C6332}" type="slidenum">
              <a:rPr lang="en-AU" smtClean="0"/>
              <a:t>‹#›</a:t>
            </a:fld>
            <a:endParaRPr lang="en-AU"/>
          </a:p>
        </p:txBody>
      </p:sp>
    </p:spTree>
    <p:extLst>
      <p:ext uri="{BB962C8B-B14F-4D97-AF65-F5344CB8AC3E}">
        <p14:creationId xmlns:p14="http://schemas.microsoft.com/office/powerpoint/2010/main" val="43657339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62AB6A3-2485-D4A0-889B-2A92728386DD}"/>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AU"/>
          </a:p>
        </p:txBody>
      </p:sp>
      <p:sp>
        <p:nvSpPr>
          <p:cNvPr id="3" name="Text Placeholder 2">
            <a:extLst>
              <a:ext uri="{FF2B5EF4-FFF2-40B4-BE49-F238E27FC236}">
                <a16:creationId xmlns:a16="http://schemas.microsoft.com/office/drawing/2014/main" id="{5E0D3F2C-BD31-4AAE-2D0A-9FDF485296DF}"/>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781D3BE7-495A-45AB-B509-EF0F34943E9B}"/>
              </a:ext>
            </a:extLst>
          </p:cNvPr>
          <p:cNvSpPr>
            <a:spLocks noGrp="1"/>
          </p:cNvSpPr>
          <p:nvPr>
            <p:ph type="dt" sz="half" idx="10"/>
          </p:nvPr>
        </p:nvSpPr>
        <p:spPr/>
        <p:txBody>
          <a:bodyPr/>
          <a:lstStyle/>
          <a:p>
            <a:fld id="{E5BF074C-1775-4CF3-9CFA-95D3818C63E7}" type="datetimeFigureOut">
              <a:rPr lang="en-AU" smtClean="0"/>
              <a:t>25/9/2026</a:t>
            </a:fld>
            <a:endParaRPr lang="en-AU"/>
          </a:p>
        </p:txBody>
      </p:sp>
      <p:sp>
        <p:nvSpPr>
          <p:cNvPr id="5" name="Footer Placeholder 4">
            <a:extLst>
              <a:ext uri="{FF2B5EF4-FFF2-40B4-BE49-F238E27FC236}">
                <a16:creationId xmlns:a16="http://schemas.microsoft.com/office/drawing/2014/main" id="{40B1C35D-E99A-E291-987B-AF21274B258E}"/>
              </a:ext>
            </a:extLst>
          </p:cNvPr>
          <p:cNvSpPr>
            <a:spLocks noGrp="1"/>
          </p:cNvSpPr>
          <p:nvPr>
            <p:ph type="ftr" sz="quarter" idx="11"/>
          </p:nvPr>
        </p:nvSpPr>
        <p:spPr/>
        <p:txBody>
          <a:bodyPr/>
          <a:lstStyle/>
          <a:p>
            <a:endParaRPr lang="en-AU"/>
          </a:p>
        </p:txBody>
      </p:sp>
      <p:sp>
        <p:nvSpPr>
          <p:cNvPr id="6" name="Slide Number Placeholder 5">
            <a:extLst>
              <a:ext uri="{FF2B5EF4-FFF2-40B4-BE49-F238E27FC236}">
                <a16:creationId xmlns:a16="http://schemas.microsoft.com/office/drawing/2014/main" id="{10857903-8C9F-BACD-61B4-225B4ACBFE16}"/>
              </a:ext>
            </a:extLst>
          </p:cNvPr>
          <p:cNvSpPr>
            <a:spLocks noGrp="1"/>
          </p:cNvSpPr>
          <p:nvPr>
            <p:ph type="sldNum" sz="quarter" idx="12"/>
          </p:nvPr>
        </p:nvSpPr>
        <p:spPr/>
        <p:txBody>
          <a:bodyPr/>
          <a:lstStyle/>
          <a:p>
            <a:fld id="{3BAFDF43-DACD-40EF-801D-14F8956C6332}" type="slidenum">
              <a:rPr lang="en-AU" smtClean="0"/>
              <a:t>‹#›</a:t>
            </a:fld>
            <a:endParaRPr lang="en-AU"/>
          </a:p>
        </p:txBody>
      </p:sp>
    </p:spTree>
    <p:extLst>
      <p:ext uri="{BB962C8B-B14F-4D97-AF65-F5344CB8AC3E}">
        <p14:creationId xmlns:p14="http://schemas.microsoft.com/office/powerpoint/2010/main" val="249313785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4A50A35-C5D0-A8D3-1ED0-DBF6C7038B53}"/>
              </a:ext>
            </a:extLst>
          </p:cNvPr>
          <p:cNvSpPr>
            <a:spLocks noGrp="1"/>
          </p:cNvSpPr>
          <p:nvPr>
            <p:ph type="title"/>
          </p:nvPr>
        </p:nvSpPr>
        <p:spPr/>
        <p:txBody>
          <a:bodyPr/>
          <a:lstStyle/>
          <a:p>
            <a:r>
              <a:rPr lang="en-US"/>
              <a:t>Click to edit Master title style</a:t>
            </a:r>
            <a:endParaRPr lang="en-AU"/>
          </a:p>
        </p:txBody>
      </p:sp>
      <p:sp>
        <p:nvSpPr>
          <p:cNvPr id="3" name="Content Placeholder 2">
            <a:extLst>
              <a:ext uri="{FF2B5EF4-FFF2-40B4-BE49-F238E27FC236}">
                <a16:creationId xmlns:a16="http://schemas.microsoft.com/office/drawing/2014/main" id="{50B0E58A-4B8D-2F6C-6CED-E77C340B9E95}"/>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4" name="Content Placeholder 3">
            <a:extLst>
              <a:ext uri="{FF2B5EF4-FFF2-40B4-BE49-F238E27FC236}">
                <a16:creationId xmlns:a16="http://schemas.microsoft.com/office/drawing/2014/main" id="{731D8A72-9F1F-7780-A02A-6480C7F096D5}"/>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5" name="Date Placeholder 4">
            <a:extLst>
              <a:ext uri="{FF2B5EF4-FFF2-40B4-BE49-F238E27FC236}">
                <a16:creationId xmlns:a16="http://schemas.microsoft.com/office/drawing/2014/main" id="{65D4972C-A7FC-EEBF-EB80-07E12A45D2D0}"/>
              </a:ext>
            </a:extLst>
          </p:cNvPr>
          <p:cNvSpPr>
            <a:spLocks noGrp="1"/>
          </p:cNvSpPr>
          <p:nvPr>
            <p:ph type="dt" sz="half" idx="10"/>
          </p:nvPr>
        </p:nvSpPr>
        <p:spPr/>
        <p:txBody>
          <a:bodyPr/>
          <a:lstStyle/>
          <a:p>
            <a:fld id="{E5BF074C-1775-4CF3-9CFA-95D3818C63E7}" type="datetimeFigureOut">
              <a:rPr lang="en-AU" smtClean="0"/>
              <a:t>25/9/2026</a:t>
            </a:fld>
            <a:endParaRPr lang="en-AU"/>
          </a:p>
        </p:txBody>
      </p:sp>
      <p:sp>
        <p:nvSpPr>
          <p:cNvPr id="6" name="Footer Placeholder 5">
            <a:extLst>
              <a:ext uri="{FF2B5EF4-FFF2-40B4-BE49-F238E27FC236}">
                <a16:creationId xmlns:a16="http://schemas.microsoft.com/office/drawing/2014/main" id="{B2E53512-D333-F27C-FA62-2D6D626AD1CC}"/>
              </a:ext>
            </a:extLst>
          </p:cNvPr>
          <p:cNvSpPr>
            <a:spLocks noGrp="1"/>
          </p:cNvSpPr>
          <p:nvPr>
            <p:ph type="ftr" sz="quarter" idx="11"/>
          </p:nvPr>
        </p:nvSpPr>
        <p:spPr/>
        <p:txBody>
          <a:bodyPr/>
          <a:lstStyle/>
          <a:p>
            <a:endParaRPr lang="en-AU"/>
          </a:p>
        </p:txBody>
      </p:sp>
      <p:sp>
        <p:nvSpPr>
          <p:cNvPr id="7" name="Slide Number Placeholder 6">
            <a:extLst>
              <a:ext uri="{FF2B5EF4-FFF2-40B4-BE49-F238E27FC236}">
                <a16:creationId xmlns:a16="http://schemas.microsoft.com/office/drawing/2014/main" id="{2E326B4B-35FD-594C-461D-73FB077E727C}"/>
              </a:ext>
            </a:extLst>
          </p:cNvPr>
          <p:cNvSpPr>
            <a:spLocks noGrp="1"/>
          </p:cNvSpPr>
          <p:nvPr>
            <p:ph type="sldNum" sz="quarter" idx="12"/>
          </p:nvPr>
        </p:nvSpPr>
        <p:spPr/>
        <p:txBody>
          <a:bodyPr/>
          <a:lstStyle/>
          <a:p>
            <a:fld id="{3BAFDF43-DACD-40EF-801D-14F8956C6332}" type="slidenum">
              <a:rPr lang="en-AU" smtClean="0"/>
              <a:t>‹#›</a:t>
            </a:fld>
            <a:endParaRPr lang="en-AU"/>
          </a:p>
        </p:txBody>
      </p:sp>
    </p:spTree>
    <p:extLst>
      <p:ext uri="{BB962C8B-B14F-4D97-AF65-F5344CB8AC3E}">
        <p14:creationId xmlns:p14="http://schemas.microsoft.com/office/powerpoint/2010/main" val="214952603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C98FB18-6446-C345-2715-2FCD4BBD208B}"/>
              </a:ext>
            </a:extLst>
          </p:cNvPr>
          <p:cNvSpPr>
            <a:spLocks noGrp="1"/>
          </p:cNvSpPr>
          <p:nvPr>
            <p:ph type="title"/>
          </p:nvPr>
        </p:nvSpPr>
        <p:spPr>
          <a:xfrm>
            <a:off x="839788" y="365125"/>
            <a:ext cx="10515600" cy="1325563"/>
          </a:xfrm>
        </p:spPr>
        <p:txBody>
          <a:bodyPr/>
          <a:lstStyle/>
          <a:p>
            <a:r>
              <a:rPr lang="en-US"/>
              <a:t>Click to edit Master title style</a:t>
            </a:r>
            <a:endParaRPr lang="en-AU"/>
          </a:p>
        </p:txBody>
      </p:sp>
      <p:sp>
        <p:nvSpPr>
          <p:cNvPr id="3" name="Text Placeholder 2">
            <a:extLst>
              <a:ext uri="{FF2B5EF4-FFF2-40B4-BE49-F238E27FC236}">
                <a16:creationId xmlns:a16="http://schemas.microsoft.com/office/drawing/2014/main" id="{CD51CA7F-8671-00FB-2759-AE7473DA2FD4}"/>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D5592E17-C65A-E73A-04CA-7B10C867F42C}"/>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5" name="Text Placeholder 4">
            <a:extLst>
              <a:ext uri="{FF2B5EF4-FFF2-40B4-BE49-F238E27FC236}">
                <a16:creationId xmlns:a16="http://schemas.microsoft.com/office/drawing/2014/main" id="{212DC5BF-9F4A-A4A9-2DCD-D39C08A7EE1D}"/>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8520E987-78C7-89E8-B39B-214F536731A9}"/>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7" name="Date Placeholder 6">
            <a:extLst>
              <a:ext uri="{FF2B5EF4-FFF2-40B4-BE49-F238E27FC236}">
                <a16:creationId xmlns:a16="http://schemas.microsoft.com/office/drawing/2014/main" id="{35BB3663-DCDB-9D47-2A05-8C8A1751BD15}"/>
              </a:ext>
            </a:extLst>
          </p:cNvPr>
          <p:cNvSpPr>
            <a:spLocks noGrp="1"/>
          </p:cNvSpPr>
          <p:nvPr>
            <p:ph type="dt" sz="half" idx="10"/>
          </p:nvPr>
        </p:nvSpPr>
        <p:spPr/>
        <p:txBody>
          <a:bodyPr/>
          <a:lstStyle/>
          <a:p>
            <a:fld id="{E5BF074C-1775-4CF3-9CFA-95D3818C63E7}" type="datetimeFigureOut">
              <a:rPr lang="en-AU" smtClean="0"/>
              <a:t>25/9/2026</a:t>
            </a:fld>
            <a:endParaRPr lang="en-AU"/>
          </a:p>
        </p:txBody>
      </p:sp>
      <p:sp>
        <p:nvSpPr>
          <p:cNvPr id="8" name="Footer Placeholder 7">
            <a:extLst>
              <a:ext uri="{FF2B5EF4-FFF2-40B4-BE49-F238E27FC236}">
                <a16:creationId xmlns:a16="http://schemas.microsoft.com/office/drawing/2014/main" id="{9A1E0899-2FB9-D5F8-C7D9-6A64DF55DCD1}"/>
              </a:ext>
            </a:extLst>
          </p:cNvPr>
          <p:cNvSpPr>
            <a:spLocks noGrp="1"/>
          </p:cNvSpPr>
          <p:nvPr>
            <p:ph type="ftr" sz="quarter" idx="11"/>
          </p:nvPr>
        </p:nvSpPr>
        <p:spPr/>
        <p:txBody>
          <a:bodyPr/>
          <a:lstStyle/>
          <a:p>
            <a:endParaRPr lang="en-AU"/>
          </a:p>
        </p:txBody>
      </p:sp>
      <p:sp>
        <p:nvSpPr>
          <p:cNvPr id="9" name="Slide Number Placeholder 8">
            <a:extLst>
              <a:ext uri="{FF2B5EF4-FFF2-40B4-BE49-F238E27FC236}">
                <a16:creationId xmlns:a16="http://schemas.microsoft.com/office/drawing/2014/main" id="{31B0A265-38DC-25F3-63F7-264C7CBC5749}"/>
              </a:ext>
            </a:extLst>
          </p:cNvPr>
          <p:cNvSpPr>
            <a:spLocks noGrp="1"/>
          </p:cNvSpPr>
          <p:nvPr>
            <p:ph type="sldNum" sz="quarter" idx="12"/>
          </p:nvPr>
        </p:nvSpPr>
        <p:spPr/>
        <p:txBody>
          <a:bodyPr/>
          <a:lstStyle/>
          <a:p>
            <a:fld id="{3BAFDF43-DACD-40EF-801D-14F8956C6332}" type="slidenum">
              <a:rPr lang="en-AU" smtClean="0"/>
              <a:t>‹#›</a:t>
            </a:fld>
            <a:endParaRPr lang="en-AU"/>
          </a:p>
        </p:txBody>
      </p:sp>
    </p:spTree>
    <p:extLst>
      <p:ext uri="{BB962C8B-B14F-4D97-AF65-F5344CB8AC3E}">
        <p14:creationId xmlns:p14="http://schemas.microsoft.com/office/powerpoint/2010/main" val="119633127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175A0DD-9672-EA32-8499-5F359273C84D}"/>
              </a:ext>
            </a:extLst>
          </p:cNvPr>
          <p:cNvSpPr>
            <a:spLocks noGrp="1"/>
          </p:cNvSpPr>
          <p:nvPr>
            <p:ph type="title"/>
          </p:nvPr>
        </p:nvSpPr>
        <p:spPr/>
        <p:txBody>
          <a:bodyPr/>
          <a:lstStyle/>
          <a:p>
            <a:r>
              <a:rPr lang="en-US"/>
              <a:t>Click to edit Master title style</a:t>
            </a:r>
            <a:endParaRPr lang="en-AU"/>
          </a:p>
        </p:txBody>
      </p:sp>
      <p:sp>
        <p:nvSpPr>
          <p:cNvPr id="3" name="Date Placeholder 2">
            <a:extLst>
              <a:ext uri="{FF2B5EF4-FFF2-40B4-BE49-F238E27FC236}">
                <a16:creationId xmlns:a16="http://schemas.microsoft.com/office/drawing/2014/main" id="{77A619D4-673B-7869-BDA8-90EF6AE1A4FC}"/>
              </a:ext>
            </a:extLst>
          </p:cNvPr>
          <p:cNvSpPr>
            <a:spLocks noGrp="1"/>
          </p:cNvSpPr>
          <p:nvPr>
            <p:ph type="dt" sz="half" idx="10"/>
          </p:nvPr>
        </p:nvSpPr>
        <p:spPr/>
        <p:txBody>
          <a:bodyPr/>
          <a:lstStyle/>
          <a:p>
            <a:fld id="{E5BF074C-1775-4CF3-9CFA-95D3818C63E7}" type="datetimeFigureOut">
              <a:rPr lang="en-AU" smtClean="0"/>
              <a:t>25/9/2026</a:t>
            </a:fld>
            <a:endParaRPr lang="en-AU"/>
          </a:p>
        </p:txBody>
      </p:sp>
      <p:sp>
        <p:nvSpPr>
          <p:cNvPr id="4" name="Footer Placeholder 3">
            <a:extLst>
              <a:ext uri="{FF2B5EF4-FFF2-40B4-BE49-F238E27FC236}">
                <a16:creationId xmlns:a16="http://schemas.microsoft.com/office/drawing/2014/main" id="{3DC3F31B-821F-4600-8E2D-5409A083DDD2}"/>
              </a:ext>
            </a:extLst>
          </p:cNvPr>
          <p:cNvSpPr>
            <a:spLocks noGrp="1"/>
          </p:cNvSpPr>
          <p:nvPr>
            <p:ph type="ftr" sz="quarter" idx="11"/>
          </p:nvPr>
        </p:nvSpPr>
        <p:spPr/>
        <p:txBody>
          <a:bodyPr/>
          <a:lstStyle/>
          <a:p>
            <a:endParaRPr lang="en-AU"/>
          </a:p>
        </p:txBody>
      </p:sp>
      <p:sp>
        <p:nvSpPr>
          <p:cNvPr id="5" name="Slide Number Placeholder 4">
            <a:extLst>
              <a:ext uri="{FF2B5EF4-FFF2-40B4-BE49-F238E27FC236}">
                <a16:creationId xmlns:a16="http://schemas.microsoft.com/office/drawing/2014/main" id="{999563D0-06DF-DDC6-6DE6-F286B2AD4396}"/>
              </a:ext>
            </a:extLst>
          </p:cNvPr>
          <p:cNvSpPr>
            <a:spLocks noGrp="1"/>
          </p:cNvSpPr>
          <p:nvPr>
            <p:ph type="sldNum" sz="quarter" idx="12"/>
          </p:nvPr>
        </p:nvSpPr>
        <p:spPr/>
        <p:txBody>
          <a:bodyPr/>
          <a:lstStyle/>
          <a:p>
            <a:fld id="{3BAFDF43-DACD-40EF-801D-14F8956C6332}" type="slidenum">
              <a:rPr lang="en-AU" smtClean="0"/>
              <a:t>‹#›</a:t>
            </a:fld>
            <a:endParaRPr lang="en-AU"/>
          </a:p>
        </p:txBody>
      </p:sp>
    </p:spTree>
    <p:extLst>
      <p:ext uri="{BB962C8B-B14F-4D97-AF65-F5344CB8AC3E}">
        <p14:creationId xmlns:p14="http://schemas.microsoft.com/office/powerpoint/2010/main" val="49110717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08C158A0-525F-DBD6-072B-A32480F33201}"/>
              </a:ext>
            </a:extLst>
          </p:cNvPr>
          <p:cNvSpPr>
            <a:spLocks noGrp="1"/>
          </p:cNvSpPr>
          <p:nvPr>
            <p:ph type="dt" sz="half" idx="10"/>
          </p:nvPr>
        </p:nvSpPr>
        <p:spPr/>
        <p:txBody>
          <a:bodyPr/>
          <a:lstStyle/>
          <a:p>
            <a:fld id="{E5BF074C-1775-4CF3-9CFA-95D3818C63E7}" type="datetimeFigureOut">
              <a:rPr lang="en-AU" smtClean="0"/>
              <a:t>25/9/2026</a:t>
            </a:fld>
            <a:endParaRPr lang="en-AU"/>
          </a:p>
        </p:txBody>
      </p:sp>
      <p:sp>
        <p:nvSpPr>
          <p:cNvPr id="3" name="Footer Placeholder 2">
            <a:extLst>
              <a:ext uri="{FF2B5EF4-FFF2-40B4-BE49-F238E27FC236}">
                <a16:creationId xmlns:a16="http://schemas.microsoft.com/office/drawing/2014/main" id="{EC38CD13-2E9D-DA86-8592-84CB918BBA01}"/>
              </a:ext>
            </a:extLst>
          </p:cNvPr>
          <p:cNvSpPr>
            <a:spLocks noGrp="1"/>
          </p:cNvSpPr>
          <p:nvPr>
            <p:ph type="ftr" sz="quarter" idx="11"/>
          </p:nvPr>
        </p:nvSpPr>
        <p:spPr/>
        <p:txBody>
          <a:bodyPr/>
          <a:lstStyle/>
          <a:p>
            <a:endParaRPr lang="en-AU"/>
          </a:p>
        </p:txBody>
      </p:sp>
      <p:sp>
        <p:nvSpPr>
          <p:cNvPr id="4" name="Slide Number Placeholder 3">
            <a:extLst>
              <a:ext uri="{FF2B5EF4-FFF2-40B4-BE49-F238E27FC236}">
                <a16:creationId xmlns:a16="http://schemas.microsoft.com/office/drawing/2014/main" id="{91326335-F22B-E001-C43D-596FB3594366}"/>
              </a:ext>
            </a:extLst>
          </p:cNvPr>
          <p:cNvSpPr>
            <a:spLocks noGrp="1"/>
          </p:cNvSpPr>
          <p:nvPr>
            <p:ph type="sldNum" sz="quarter" idx="12"/>
          </p:nvPr>
        </p:nvSpPr>
        <p:spPr/>
        <p:txBody>
          <a:bodyPr/>
          <a:lstStyle/>
          <a:p>
            <a:fld id="{3BAFDF43-DACD-40EF-801D-14F8956C6332}" type="slidenum">
              <a:rPr lang="en-AU" smtClean="0"/>
              <a:t>‹#›</a:t>
            </a:fld>
            <a:endParaRPr lang="en-AU"/>
          </a:p>
        </p:txBody>
      </p:sp>
    </p:spTree>
    <p:extLst>
      <p:ext uri="{BB962C8B-B14F-4D97-AF65-F5344CB8AC3E}">
        <p14:creationId xmlns:p14="http://schemas.microsoft.com/office/powerpoint/2010/main" val="79393476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D88F21E-74D4-6662-046B-D00B43AFFAD6}"/>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AU"/>
          </a:p>
        </p:txBody>
      </p:sp>
      <p:sp>
        <p:nvSpPr>
          <p:cNvPr id="3" name="Content Placeholder 2">
            <a:extLst>
              <a:ext uri="{FF2B5EF4-FFF2-40B4-BE49-F238E27FC236}">
                <a16:creationId xmlns:a16="http://schemas.microsoft.com/office/drawing/2014/main" id="{EE6EBDC0-FB04-159F-A56E-FCD49D6E2AB5}"/>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4" name="Text Placeholder 3">
            <a:extLst>
              <a:ext uri="{FF2B5EF4-FFF2-40B4-BE49-F238E27FC236}">
                <a16:creationId xmlns:a16="http://schemas.microsoft.com/office/drawing/2014/main" id="{C14CC297-D38C-33F2-3923-309BA88C816E}"/>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7F45D466-15C2-9CF9-49C4-908884E657CA}"/>
              </a:ext>
            </a:extLst>
          </p:cNvPr>
          <p:cNvSpPr>
            <a:spLocks noGrp="1"/>
          </p:cNvSpPr>
          <p:nvPr>
            <p:ph type="dt" sz="half" idx="10"/>
          </p:nvPr>
        </p:nvSpPr>
        <p:spPr/>
        <p:txBody>
          <a:bodyPr/>
          <a:lstStyle/>
          <a:p>
            <a:fld id="{E5BF074C-1775-4CF3-9CFA-95D3818C63E7}" type="datetimeFigureOut">
              <a:rPr lang="en-AU" smtClean="0"/>
              <a:t>25/9/2026</a:t>
            </a:fld>
            <a:endParaRPr lang="en-AU"/>
          </a:p>
        </p:txBody>
      </p:sp>
      <p:sp>
        <p:nvSpPr>
          <p:cNvPr id="6" name="Footer Placeholder 5">
            <a:extLst>
              <a:ext uri="{FF2B5EF4-FFF2-40B4-BE49-F238E27FC236}">
                <a16:creationId xmlns:a16="http://schemas.microsoft.com/office/drawing/2014/main" id="{E51A267D-366B-4133-F6AE-178CB1C41310}"/>
              </a:ext>
            </a:extLst>
          </p:cNvPr>
          <p:cNvSpPr>
            <a:spLocks noGrp="1"/>
          </p:cNvSpPr>
          <p:nvPr>
            <p:ph type="ftr" sz="quarter" idx="11"/>
          </p:nvPr>
        </p:nvSpPr>
        <p:spPr/>
        <p:txBody>
          <a:bodyPr/>
          <a:lstStyle/>
          <a:p>
            <a:endParaRPr lang="en-AU"/>
          </a:p>
        </p:txBody>
      </p:sp>
      <p:sp>
        <p:nvSpPr>
          <p:cNvPr id="7" name="Slide Number Placeholder 6">
            <a:extLst>
              <a:ext uri="{FF2B5EF4-FFF2-40B4-BE49-F238E27FC236}">
                <a16:creationId xmlns:a16="http://schemas.microsoft.com/office/drawing/2014/main" id="{D9CE10DC-6374-4602-A4F6-08445FF5D481}"/>
              </a:ext>
            </a:extLst>
          </p:cNvPr>
          <p:cNvSpPr>
            <a:spLocks noGrp="1"/>
          </p:cNvSpPr>
          <p:nvPr>
            <p:ph type="sldNum" sz="quarter" idx="12"/>
          </p:nvPr>
        </p:nvSpPr>
        <p:spPr/>
        <p:txBody>
          <a:bodyPr/>
          <a:lstStyle/>
          <a:p>
            <a:fld id="{3BAFDF43-DACD-40EF-801D-14F8956C6332}" type="slidenum">
              <a:rPr lang="en-AU" smtClean="0"/>
              <a:t>‹#›</a:t>
            </a:fld>
            <a:endParaRPr lang="en-AU"/>
          </a:p>
        </p:txBody>
      </p:sp>
    </p:spTree>
    <p:extLst>
      <p:ext uri="{BB962C8B-B14F-4D97-AF65-F5344CB8AC3E}">
        <p14:creationId xmlns:p14="http://schemas.microsoft.com/office/powerpoint/2010/main" val="83169847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250875E-4B02-5185-26A1-8AA35D4581BE}"/>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AU"/>
          </a:p>
        </p:txBody>
      </p:sp>
      <p:sp>
        <p:nvSpPr>
          <p:cNvPr id="3" name="Picture Placeholder 2">
            <a:extLst>
              <a:ext uri="{FF2B5EF4-FFF2-40B4-BE49-F238E27FC236}">
                <a16:creationId xmlns:a16="http://schemas.microsoft.com/office/drawing/2014/main" id="{8A93C0B0-4CE7-414A-A922-9910F4AE40F5}"/>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AU"/>
          </a:p>
        </p:txBody>
      </p:sp>
      <p:sp>
        <p:nvSpPr>
          <p:cNvPr id="4" name="Text Placeholder 3">
            <a:extLst>
              <a:ext uri="{FF2B5EF4-FFF2-40B4-BE49-F238E27FC236}">
                <a16:creationId xmlns:a16="http://schemas.microsoft.com/office/drawing/2014/main" id="{0A186429-E09E-E274-D9B2-B9FF7D73DCD2}"/>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DD2BDFA4-C431-D3D2-E11D-6B0825CAC2E6}"/>
              </a:ext>
            </a:extLst>
          </p:cNvPr>
          <p:cNvSpPr>
            <a:spLocks noGrp="1"/>
          </p:cNvSpPr>
          <p:nvPr>
            <p:ph type="dt" sz="half" idx="10"/>
          </p:nvPr>
        </p:nvSpPr>
        <p:spPr/>
        <p:txBody>
          <a:bodyPr/>
          <a:lstStyle/>
          <a:p>
            <a:fld id="{E5BF074C-1775-4CF3-9CFA-95D3818C63E7}" type="datetimeFigureOut">
              <a:rPr lang="en-AU" smtClean="0"/>
              <a:t>25/9/2026</a:t>
            </a:fld>
            <a:endParaRPr lang="en-AU"/>
          </a:p>
        </p:txBody>
      </p:sp>
      <p:sp>
        <p:nvSpPr>
          <p:cNvPr id="6" name="Footer Placeholder 5">
            <a:extLst>
              <a:ext uri="{FF2B5EF4-FFF2-40B4-BE49-F238E27FC236}">
                <a16:creationId xmlns:a16="http://schemas.microsoft.com/office/drawing/2014/main" id="{D68A784D-C53A-7D39-41EB-A5FAB54CAA0A}"/>
              </a:ext>
            </a:extLst>
          </p:cNvPr>
          <p:cNvSpPr>
            <a:spLocks noGrp="1"/>
          </p:cNvSpPr>
          <p:nvPr>
            <p:ph type="ftr" sz="quarter" idx="11"/>
          </p:nvPr>
        </p:nvSpPr>
        <p:spPr/>
        <p:txBody>
          <a:bodyPr/>
          <a:lstStyle/>
          <a:p>
            <a:endParaRPr lang="en-AU"/>
          </a:p>
        </p:txBody>
      </p:sp>
      <p:sp>
        <p:nvSpPr>
          <p:cNvPr id="7" name="Slide Number Placeholder 6">
            <a:extLst>
              <a:ext uri="{FF2B5EF4-FFF2-40B4-BE49-F238E27FC236}">
                <a16:creationId xmlns:a16="http://schemas.microsoft.com/office/drawing/2014/main" id="{79DF602B-2F43-D06E-EEA1-A5842078DF46}"/>
              </a:ext>
            </a:extLst>
          </p:cNvPr>
          <p:cNvSpPr>
            <a:spLocks noGrp="1"/>
          </p:cNvSpPr>
          <p:nvPr>
            <p:ph type="sldNum" sz="quarter" idx="12"/>
          </p:nvPr>
        </p:nvSpPr>
        <p:spPr/>
        <p:txBody>
          <a:bodyPr/>
          <a:lstStyle/>
          <a:p>
            <a:fld id="{3BAFDF43-DACD-40EF-801D-14F8956C6332}" type="slidenum">
              <a:rPr lang="en-AU" smtClean="0"/>
              <a:t>‹#›</a:t>
            </a:fld>
            <a:endParaRPr lang="en-AU"/>
          </a:p>
        </p:txBody>
      </p:sp>
    </p:spTree>
    <p:extLst>
      <p:ext uri="{BB962C8B-B14F-4D97-AF65-F5344CB8AC3E}">
        <p14:creationId xmlns:p14="http://schemas.microsoft.com/office/powerpoint/2010/main" val="244696548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ADBFF24-BA52-E356-2969-BBEC613C5B37}"/>
              </a:ext>
            </a:extLst>
          </p:cNvPr>
          <p:cNvSpPr>
            <a:spLocks noGrp="1"/>
          </p:cNvSpPr>
          <p:nvPr>
            <p:ph type="title"/>
          </p:nvPr>
        </p:nvSpPr>
        <p:spPr/>
        <p:txBody>
          <a:bodyPr/>
          <a:lstStyle/>
          <a:p>
            <a:r>
              <a:rPr lang="en-US"/>
              <a:t>Click to edit Master title style</a:t>
            </a:r>
            <a:endParaRPr lang="en-AU"/>
          </a:p>
        </p:txBody>
      </p:sp>
      <p:sp>
        <p:nvSpPr>
          <p:cNvPr id="3" name="Vertical Text Placeholder 2">
            <a:extLst>
              <a:ext uri="{FF2B5EF4-FFF2-40B4-BE49-F238E27FC236}">
                <a16:creationId xmlns:a16="http://schemas.microsoft.com/office/drawing/2014/main" id="{5FE647FD-F15F-0F7E-6331-911A43B4580C}"/>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4" name="Date Placeholder 3">
            <a:extLst>
              <a:ext uri="{FF2B5EF4-FFF2-40B4-BE49-F238E27FC236}">
                <a16:creationId xmlns:a16="http://schemas.microsoft.com/office/drawing/2014/main" id="{F229ABCC-425E-F40B-430F-6DBE435D59CB}"/>
              </a:ext>
            </a:extLst>
          </p:cNvPr>
          <p:cNvSpPr>
            <a:spLocks noGrp="1"/>
          </p:cNvSpPr>
          <p:nvPr>
            <p:ph type="dt" sz="half" idx="10"/>
          </p:nvPr>
        </p:nvSpPr>
        <p:spPr/>
        <p:txBody>
          <a:bodyPr/>
          <a:lstStyle/>
          <a:p>
            <a:fld id="{E5BF074C-1775-4CF3-9CFA-95D3818C63E7}" type="datetimeFigureOut">
              <a:rPr lang="en-AU" smtClean="0"/>
              <a:t>25/9/2026</a:t>
            </a:fld>
            <a:endParaRPr lang="en-AU"/>
          </a:p>
        </p:txBody>
      </p:sp>
      <p:sp>
        <p:nvSpPr>
          <p:cNvPr id="5" name="Footer Placeholder 4">
            <a:extLst>
              <a:ext uri="{FF2B5EF4-FFF2-40B4-BE49-F238E27FC236}">
                <a16:creationId xmlns:a16="http://schemas.microsoft.com/office/drawing/2014/main" id="{66ADAE07-2F6D-543D-8ADD-06E28BD16A30}"/>
              </a:ext>
            </a:extLst>
          </p:cNvPr>
          <p:cNvSpPr>
            <a:spLocks noGrp="1"/>
          </p:cNvSpPr>
          <p:nvPr>
            <p:ph type="ftr" sz="quarter" idx="11"/>
          </p:nvPr>
        </p:nvSpPr>
        <p:spPr/>
        <p:txBody>
          <a:bodyPr/>
          <a:lstStyle/>
          <a:p>
            <a:endParaRPr lang="en-AU"/>
          </a:p>
        </p:txBody>
      </p:sp>
      <p:sp>
        <p:nvSpPr>
          <p:cNvPr id="6" name="Slide Number Placeholder 5">
            <a:extLst>
              <a:ext uri="{FF2B5EF4-FFF2-40B4-BE49-F238E27FC236}">
                <a16:creationId xmlns:a16="http://schemas.microsoft.com/office/drawing/2014/main" id="{76E3D450-00E6-5570-3748-99DB1FFF86AE}"/>
              </a:ext>
            </a:extLst>
          </p:cNvPr>
          <p:cNvSpPr>
            <a:spLocks noGrp="1"/>
          </p:cNvSpPr>
          <p:nvPr>
            <p:ph type="sldNum" sz="quarter" idx="12"/>
          </p:nvPr>
        </p:nvSpPr>
        <p:spPr/>
        <p:txBody>
          <a:bodyPr/>
          <a:lstStyle/>
          <a:p>
            <a:fld id="{3BAFDF43-DACD-40EF-801D-14F8956C6332}" type="slidenum">
              <a:rPr lang="en-AU" smtClean="0"/>
              <a:t>‹#›</a:t>
            </a:fld>
            <a:endParaRPr lang="en-AU"/>
          </a:p>
        </p:txBody>
      </p:sp>
    </p:spTree>
    <p:extLst>
      <p:ext uri="{BB962C8B-B14F-4D97-AF65-F5344CB8AC3E}">
        <p14:creationId xmlns:p14="http://schemas.microsoft.com/office/powerpoint/2010/main" val="107843099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B3977934-68A4-5202-087B-135726E7E48A}"/>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AU"/>
          </a:p>
        </p:txBody>
      </p:sp>
      <p:sp>
        <p:nvSpPr>
          <p:cNvPr id="3" name="Vertical Text Placeholder 2">
            <a:extLst>
              <a:ext uri="{FF2B5EF4-FFF2-40B4-BE49-F238E27FC236}">
                <a16:creationId xmlns:a16="http://schemas.microsoft.com/office/drawing/2014/main" id="{10513942-979E-AFC8-F6F0-1B745E88E91A}"/>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4" name="Date Placeholder 3">
            <a:extLst>
              <a:ext uri="{FF2B5EF4-FFF2-40B4-BE49-F238E27FC236}">
                <a16:creationId xmlns:a16="http://schemas.microsoft.com/office/drawing/2014/main" id="{AADD712E-6F85-5F6F-2C74-2CEEBD8D63A8}"/>
              </a:ext>
            </a:extLst>
          </p:cNvPr>
          <p:cNvSpPr>
            <a:spLocks noGrp="1"/>
          </p:cNvSpPr>
          <p:nvPr>
            <p:ph type="dt" sz="half" idx="10"/>
          </p:nvPr>
        </p:nvSpPr>
        <p:spPr/>
        <p:txBody>
          <a:bodyPr/>
          <a:lstStyle/>
          <a:p>
            <a:fld id="{E5BF074C-1775-4CF3-9CFA-95D3818C63E7}" type="datetimeFigureOut">
              <a:rPr lang="en-AU" smtClean="0"/>
              <a:t>25/9/2026</a:t>
            </a:fld>
            <a:endParaRPr lang="en-AU"/>
          </a:p>
        </p:txBody>
      </p:sp>
      <p:sp>
        <p:nvSpPr>
          <p:cNvPr id="5" name="Footer Placeholder 4">
            <a:extLst>
              <a:ext uri="{FF2B5EF4-FFF2-40B4-BE49-F238E27FC236}">
                <a16:creationId xmlns:a16="http://schemas.microsoft.com/office/drawing/2014/main" id="{8B04549D-D6FE-6A64-0BA2-1D595DEB1892}"/>
              </a:ext>
            </a:extLst>
          </p:cNvPr>
          <p:cNvSpPr>
            <a:spLocks noGrp="1"/>
          </p:cNvSpPr>
          <p:nvPr>
            <p:ph type="ftr" sz="quarter" idx="11"/>
          </p:nvPr>
        </p:nvSpPr>
        <p:spPr/>
        <p:txBody>
          <a:bodyPr/>
          <a:lstStyle/>
          <a:p>
            <a:endParaRPr lang="en-AU"/>
          </a:p>
        </p:txBody>
      </p:sp>
      <p:sp>
        <p:nvSpPr>
          <p:cNvPr id="6" name="Slide Number Placeholder 5">
            <a:extLst>
              <a:ext uri="{FF2B5EF4-FFF2-40B4-BE49-F238E27FC236}">
                <a16:creationId xmlns:a16="http://schemas.microsoft.com/office/drawing/2014/main" id="{B8DA3E06-3B8D-A569-B398-19316245599C}"/>
              </a:ext>
            </a:extLst>
          </p:cNvPr>
          <p:cNvSpPr>
            <a:spLocks noGrp="1"/>
          </p:cNvSpPr>
          <p:nvPr>
            <p:ph type="sldNum" sz="quarter" idx="12"/>
          </p:nvPr>
        </p:nvSpPr>
        <p:spPr/>
        <p:txBody>
          <a:bodyPr/>
          <a:lstStyle/>
          <a:p>
            <a:fld id="{3BAFDF43-DACD-40EF-801D-14F8956C6332}" type="slidenum">
              <a:rPr lang="en-AU" smtClean="0"/>
              <a:t>‹#›</a:t>
            </a:fld>
            <a:endParaRPr lang="en-AU"/>
          </a:p>
        </p:txBody>
      </p:sp>
    </p:spTree>
    <p:extLst>
      <p:ext uri="{BB962C8B-B14F-4D97-AF65-F5344CB8AC3E}">
        <p14:creationId xmlns:p14="http://schemas.microsoft.com/office/powerpoint/2010/main" val="3880623764"/>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userDrawn="1">
  <p:cSld name="1_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59F2001-A193-4D5D-A091-B92800E3CAF8}"/>
              </a:ext>
            </a:extLst>
          </p:cNvPr>
          <p:cNvSpPr>
            <a:spLocks noGrp="1"/>
          </p:cNvSpPr>
          <p:nvPr>
            <p:ph type="title"/>
          </p:nvPr>
        </p:nvSpPr>
        <p:spPr>
          <a:xfrm>
            <a:off x="695326" y="555852"/>
            <a:ext cx="10801350" cy="523220"/>
          </a:xfrm>
        </p:spPr>
        <p:txBody>
          <a:bodyPr/>
          <a:lstStyle>
            <a:lvl1pPr>
              <a:defRPr sz="4000"/>
            </a:lvl1pPr>
          </a:lstStyle>
          <a:p>
            <a:r>
              <a:rPr lang="en-US"/>
              <a:t>Click to edit Master title style</a:t>
            </a:r>
            <a:endParaRPr lang="en-AU"/>
          </a:p>
        </p:txBody>
      </p:sp>
    </p:spTree>
    <p:extLst>
      <p:ext uri="{BB962C8B-B14F-4D97-AF65-F5344CB8AC3E}">
        <p14:creationId xmlns:p14="http://schemas.microsoft.com/office/powerpoint/2010/main" val="2105043567"/>
      </p:ext>
    </p:extLst>
  </p:cSld>
  <p:clrMapOvr>
    <a:masterClrMapping/>
  </p:clrMapOvr>
  <p:extLst>
    <p:ext uri="{DCECCB84-F9BA-43D5-87BE-67443E8EF086}">
      <p15:sldGuideLst xmlns:p15="http://schemas.microsoft.com/office/powerpoint/2012/main">
        <p15:guide id="1" pos="3840">
          <p15:clr>
            <a:srgbClr val="FBAE40"/>
          </p15:clr>
        </p15:guide>
      </p15:sldGuideLst>
    </p:ext>
  </p:extLst>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slideLayout" Target="../slideLayouts/slideLayout12.xml"/><Relationship Id="rId13"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E8A2D69F-858A-1B9A-29B7-9C2FE4AA8D2E}"/>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AU"/>
          </a:p>
        </p:txBody>
      </p:sp>
      <p:sp>
        <p:nvSpPr>
          <p:cNvPr id="3" name="Text Placeholder 2">
            <a:extLst>
              <a:ext uri="{FF2B5EF4-FFF2-40B4-BE49-F238E27FC236}">
                <a16:creationId xmlns:a16="http://schemas.microsoft.com/office/drawing/2014/main" id="{A8B2ED96-8E16-D26A-34FC-9612F0C054BD}"/>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4" name="Date Placeholder 3">
            <a:extLst>
              <a:ext uri="{FF2B5EF4-FFF2-40B4-BE49-F238E27FC236}">
                <a16:creationId xmlns:a16="http://schemas.microsoft.com/office/drawing/2014/main" id="{04CBCBF3-792B-3F72-232C-3BB15CC787FE}"/>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E5BF074C-1775-4CF3-9CFA-95D3818C63E7}" type="datetimeFigureOut">
              <a:rPr lang="en-AU" smtClean="0"/>
              <a:t>25/9/2026</a:t>
            </a:fld>
            <a:endParaRPr lang="en-AU"/>
          </a:p>
        </p:txBody>
      </p:sp>
      <p:sp>
        <p:nvSpPr>
          <p:cNvPr id="5" name="Footer Placeholder 4">
            <a:extLst>
              <a:ext uri="{FF2B5EF4-FFF2-40B4-BE49-F238E27FC236}">
                <a16:creationId xmlns:a16="http://schemas.microsoft.com/office/drawing/2014/main" id="{B22C0ED6-9CA2-5575-50F9-C6F846B01562}"/>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AU"/>
          </a:p>
        </p:txBody>
      </p:sp>
      <p:sp>
        <p:nvSpPr>
          <p:cNvPr id="6" name="Slide Number Placeholder 5">
            <a:extLst>
              <a:ext uri="{FF2B5EF4-FFF2-40B4-BE49-F238E27FC236}">
                <a16:creationId xmlns:a16="http://schemas.microsoft.com/office/drawing/2014/main" id="{FD4396C1-8D9B-39FF-FBFF-EAB2040EDBBB}"/>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3BAFDF43-DACD-40EF-801D-14F8956C6332}" type="slidenum">
              <a:rPr lang="en-AU" smtClean="0"/>
              <a:t>‹#›</a:t>
            </a:fld>
            <a:endParaRPr lang="en-AU"/>
          </a:p>
        </p:txBody>
      </p:sp>
    </p:spTree>
    <p:extLst>
      <p:ext uri="{BB962C8B-B14F-4D97-AF65-F5344CB8AC3E}">
        <p14:creationId xmlns:p14="http://schemas.microsoft.com/office/powerpoint/2010/main" val="1684930766"/>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tags" Target="../tags/tag1.xml"/><Relationship Id="rId2" Type="http://schemas.openxmlformats.org/officeDocument/2006/relationships/slideLayout" Target="../slideLayouts/slideLayout7.xml"/><Relationship Id="rId3" Type="http://schemas.openxmlformats.org/officeDocument/2006/relationships/notesSlide" Target="../notesSlides/notesSlide1.xml"/><Relationship Id="rId4" Type="http://schemas.openxmlformats.org/officeDocument/2006/relationships/image" Target="../media/image1.jpe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 Id="rId3" Type="http://schemas.microsoft.com/office/2018/10/relationships/comments" Target="../comments/modernComment_346_3E00D4D8.xml"/><Relationship Id="rId4" Type="http://schemas.openxmlformats.org/officeDocument/2006/relationships/image" Target="../media/image2.sv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 Id="rId3" Type="http://schemas.openxmlformats.org/officeDocument/2006/relationships/image" Target="../media/image3.jpe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 Id="rId3" Type="http://schemas.microsoft.com/office/2018/10/relationships/comments" Target="../comments/modernComment_34C_A86DA66C.xml"/><Relationship Id="rId4" Type="http://schemas.openxmlformats.org/officeDocument/2006/relationships/image" Target="../media/image4.sv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8.xml"/></Relationships>
</file>

<file path=ppt/slides/_rels/slide6.xml.rels><?xml version='1.0' encoding='UTF-8' standalone='yes'?>
<Relationships xmlns="http://schemas.openxmlformats.org/package/2006/relationships"><Relationship Id="rId1" Type="http://schemas.openxmlformats.org/officeDocument/2006/relationships/tags" Target="../tags/tag2.xml"/><Relationship Id="rId2" Type="http://schemas.openxmlformats.org/officeDocument/2006/relationships/slideLayout" Target="../slideLayouts/slideLayout7.xml"/><Relationship Id="rId3" Type="http://schemas.openxmlformats.org/officeDocument/2006/relationships/notesSlide" Target="../notesSlides/notesSlide5.xml"/><Relationship Id="rId4" Type="http://schemas.openxmlformats.org/officeDocument/2006/relationships/image" Target="../media/image5.png"/><Relationship Id="rId5" Type="http://schemas.openxmlformats.org/officeDocument/2006/relationships/image" Target="../media/image6.sv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8.xml.rels><?xml version='1.0' encoding='UTF-8' standalone='yes'?>
<Relationships xmlns="http://schemas.openxmlformats.org/package/2006/relationships"><Relationship Id="rId1" Type="http://schemas.openxmlformats.org/officeDocument/2006/relationships/tags" Target="../tags/tag3.xml"/><Relationship Id="rId2" Type="http://schemas.microsoft.com/office/2007/relationships/media" Target="../media/media1.mp4"/><Relationship Id="rId3" Type="http://schemas.openxmlformats.org/officeDocument/2006/relationships/video" Target="../media/media1.mp4"/><Relationship Id="rId4" Type="http://schemas.openxmlformats.org/officeDocument/2006/relationships/slideLayout" Target="../slideLayouts/slideLayout12.xml"/><Relationship Id="rId5" Type="http://schemas.openxmlformats.org/officeDocument/2006/relationships/notesSlide" Target="../notesSlides/notesSlide7.xml"/><Relationship Id="rId6" Type="http://schemas.openxmlformats.org/officeDocument/2006/relationships/image" Target="../media/image7.svg"/><Relationship Id="rId7" Type="http://schemas.openxmlformats.org/officeDocument/2006/relationships/image" Target="../media/image8.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 Id="rId3" Type="http://schemas.openxmlformats.org/officeDocument/2006/relationships/image" Target="../media/image9.jpeg"/><Relationship Id="rId4" Type="http://schemas.openxmlformats.org/officeDocument/2006/relationships/image" Target="../media/image2.sv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9.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 Id="rId3" Type="http://schemas.openxmlformats.org/officeDocument/2006/relationships/image" Target="../media/image10.png"/><Relationship Id="rId4" Type="http://schemas.openxmlformats.org/officeDocument/2006/relationships/image" Target="../media/image11.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xml"/><Relationship Id="rId3" Type="http://schemas.openxmlformats.org/officeDocument/2006/relationships/image" Target="../media/image12.png"/><Relationship Id="rId4" Type="http://schemas.openxmlformats.org/officeDocument/2006/relationships/image" Target="../media/image13.png"/></Relationships>
</file>

<file path=ppt/slides/_rels/slide18.xml.rels><?xml version='1.0' encoding='UTF-8' standalone='yes'?>
<Relationships xmlns="http://schemas.openxmlformats.org/package/2006/relationships"><Relationship Id="rId1" Type="http://schemas.openxmlformats.org/officeDocument/2006/relationships/tags" Target="../tags/tag4.xml"/><Relationship Id="rId2" Type="http://schemas.openxmlformats.org/officeDocument/2006/relationships/slideLayout" Target="../slideLayouts/slideLayout1.xml"/><Relationship Id="rId3" Type="http://schemas.openxmlformats.org/officeDocument/2006/relationships/notesSlide" Target="../notesSlides/notesSlide16.xml"/><Relationship Id="rId4" Type="http://schemas.openxmlformats.org/officeDocument/2006/relationships/image" Target="../media/image14.png"/><Relationship Id="rId5" Type="http://schemas.openxmlformats.org/officeDocument/2006/relationships/image" Target="../media/image15.png"/><Relationship Id="rId6" Type="http://schemas.openxmlformats.org/officeDocument/2006/relationships/image" Target="../media/image16.png"/><Relationship Id="rId7" Type="http://schemas.openxmlformats.org/officeDocument/2006/relationships/image" Target="../media/image17.jpeg"/><Relationship Id="rId8" Type="http://schemas.openxmlformats.org/officeDocument/2006/relationships/image" Target="../media/image18.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xml"/><Relationship Id="rId3" Type="http://schemas.openxmlformats.org/officeDocument/2006/relationships/image" Target="../media/image2.sv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03CD1B9-A570-DB32-424F-E4936D559176}"/>
            </a:ext>
          </a:extLst>
        </p:cNvPr>
        <p:cNvGrpSpPr/>
        <p:nvPr/>
      </p:nvGrpSpPr>
      <p:grpSpPr>
        <a:xfrm>
          <a:off x="0" y="0"/>
          <a:ext cx="0" cy="0"/>
          <a:chOff x="0" y="0"/>
          <a:chExt cx="0" cy="0"/>
        </a:xfrm>
      </p:grpSpPr>
      <p:sp>
        <p:nvSpPr>
          <p:cNvPr id="13" name="Oval 12"/>
          <p:cNvSpPr/>
          <p:nvPr/>
        </p:nvSpPr>
        <p:spPr>
          <a:xfrm>
            <a:off x="8549640" y="4663440"/>
            <a:ext cx="4873752" cy="4873752"/>
          </a:xfrm>
          <a:prstGeom prst="ellipse">
            <a:avLst/>
          </a:prstGeom>
          <a:solidFill>
            <a:srgbClr val="EDE8F8"/>
          </a:solidFill>
          <a:ln>
            <a:noFill/>
          </a:ln>
        </p:spPr>
        <p:txBody>
          <a:bodyPr rtlCol="0" anchor="ctr"/>
          <a:lstStyle/>
          <a:p>
            <a:pPr algn="ctr"/>
            <a:endParaRPr/>
          </a:p>
        </p:txBody>
      </p:sp>
      <p:pic>
        <p:nvPicPr>
          <p:cNvPr id="4" name="Picture 3">
            <a:extLst>
              <a:ext uri="{FF2B5EF4-FFF2-40B4-BE49-F238E27FC236}">
                <a16:creationId xmlns:a16="http://schemas.microsoft.com/office/drawing/2014/main" id="{FE5D2DEF-3A6F-22DF-DC11-FD415D02042D}"/>
              </a:ext>
            </a:extLst>
          </p:cNvPr>
          <p:cNvPicPr>
            <a:picLocks noChangeAspect="1"/>
          </p:cNvPicPr>
          <p:nvPr/>
        </p:nvPicPr>
        <p:blipFill>
          <a:blip r:embed="rId4">
            <a:extLst>
              <a:ext uri="{28A0092B-C50C-407E-A947-70E740481C1C}">
                <a14:useLocalDpi xmlns:a14="http://schemas.microsoft.com/office/drawing/2010/main" val="0"/>
              </a:ext>
            </a:extLst>
          </a:blip>
          <a:srcRect l="8535" r="8535"/>
          <a:stretch>
            <a:fillRect/>
          </a:stretch>
        </p:blipFill>
        <p:spPr>
          <a:xfrm>
            <a:off x="0" y="0"/>
            <a:ext cx="6766560" cy="6858000"/>
          </a:xfrm>
          <a:prstGeom prst="rect">
            <a:avLst/>
          </a:prstGeom>
          <a:scene3d>
            <a:camera prst="orthographicFront">
              <a:rot lat="0" lon="10800000" rev="0"/>
            </a:camera>
            <a:lightRig rig="threePt" dir="t"/>
          </a:scene3d>
        </p:spPr>
      </p:pic>
      <p:sp>
        <p:nvSpPr>
          <p:cNvPr id="12" name="Title 3">
            <a:extLst>
              <a:ext uri="{FF2B5EF4-FFF2-40B4-BE49-F238E27FC236}">
                <a16:creationId xmlns:a16="http://schemas.microsoft.com/office/drawing/2014/main" id="{1F7B0FA0-9D53-70A9-352A-BBC0EC34F991}"/>
              </a:ext>
            </a:extLst>
          </p:cNvPr>
          <p:cNvSpPr txBox="1">
            <a:spLocks/>
          </p:cNvSpPr>
          <p:nvPr/>
        </p:nvSpPr>
        <p:spPr>
          <a:xfrm>
            <a:off x="7269480" y="1097280"/>
            <a:ext cx="4297680" cy="4206240"/>
          </a:xfrm>
          <a:prstGeom prst="rect">
            <a:avLst/>
          </a:prstGeom>
          <a:solidFill>
            <a:schemeClr val="bg1"/>
          </a:solidFill>
        </p:spPr>
        <p:txBody>
          <a:bodyPr vert="horz" wrap="square" lIns="0" tIns="0" rIns="0" bIns="0" rtlCol="0" anchor="ctr">
            <a:noAutofit/>
          </a:bodyPr>
          <a:lstStyle>
            <a:lvl1pPr algn="l" defTabSz="914400" rtl="0" eaLnBrk="1" latinLnBrk="0" hangingPunct="1">
              <a:lnSpc>
                <a:spcPct val="90000"/>
              </a:lnSpc>
              <a:spcBef>
                <a:spcPct val="0"/>
              </a:spcBef>
              <a:buNone/>
              <a:defRPr sz="4400" b="1" kern="1200">
                <a:solidFill>
                  <a:schemeClr val="tx1"/>
                </a:solidFill>
                <a:latin typeface="+mj-lt"/>
                <a:ea typeface="+mj-ea"/>
                <a:cs typeface="+mj-cs"/>
              </a:defRPr>
            </a:lvl1pPr>
          </a:lstStyle>
          <a:p>
            <a:pPr marL="0" indent="0" algn="l">
              <a:lnSpc>
                <a:spcPct val="100000"/>
              </a:lnSpc>
              <a:spcBef>
                <a:spcPts val="0"/>
              </a:spcBef>
              <a:buNone/>
            </a:pPr>
            <a:r>
              <a:rPr lang="en-AU" sz="1600" b="1" dirty="0">
                <a:solidFill>
                  <a:srgbClr val="584099"/>
                </a:solidFill>
                <a:latin typeface="Arial"/>
                <a:ea typeface="Arial"/>
                <a:cs typeface="Arial"/>
              </a:rPr>
              <a:t>Early Career Teachers · Session 5</a:t>
            </a:r>
          </a:p>
          <a:p>
            <a:pPr marL="0" indent="0" algn="l">
              <a:lnSpc>
                <a:spcPct val="95000"/>
              </a:lnSpc>
              <a:spcBef>
                <a:spcPts val="1000"/>
              </a:spcBef>
              <a:buNone/>
            </a:pPr>
            <a:r>
              <a:rPr lang="en-AU" sz="3600" b="0" dirty="0">
                <a:solidFill>
                  <a:srgbClr val="584099"/>
                </a:solidFill>
                <a:latin typeface="Arial Black"/>
                <a:ea typeface="Arial Black"/>
                <a:cs typeface="Arial Black"/>
              </a:rPr>
              <a:t>Working in Partnership</a:t>
            </a:r>
          </a:p>
        </p:txBody>
      </p:sp>
    </p:spTree>
    <p:custDataLst>
      <p:tags r:id="rId1"/>
    </p:custDataLst>
    <p:extLst>
      <p:ext uri="{BB962C8B-B14F-4D97-AF65-F5344CB8AC3E}">
        <p14:creationId xmlns:p14="http://schemas.microsoft.com/office/powerpoint/2010/main" val="271510204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B9382F8-452B-88C6-A84D-650D7D2C348F}"/>
            </a:ext>
          </a:extLst>
        </p:cNvPr>
        <p:cNvGrpSpPr/>
        <p:nvPr/>
      </p:nvGrpSpPr>
      <p:grpSpPr>
        <a:xfrm>
          <a:off x="0" y="0"/>
          <a:ext cx="0" cy="0"/>
          <a:chOff x="0" y="0"/>
          <a:chExt cx="0" cy="0"/>
        </a:xfrm>
      </p:grpSpPr>
      <p:sp>
        <p:nvSpPr>
          <p:cNvPr id="5" name="Title 4">
            <a:extLst>
              <a:ext uri="{FF2B5EF4-FFF2-40B4-BE49-F238E27FC236}">
                <a16:creationId xmlns:a16="http://schemas.microsoft.com/office/drawing/2014/main" id="{05A4E05F-DA50-6B99-BED1-648587EBB414}"/>
              </a:ext>
            </a:extLst>
          </p:cNvPr>
          <p:cNvSpPr>
            <a:spLocks noGrp="1"/>
          </p:cNvSpPr>
          <p:nvPr>
            <p:ph type="title"/>
          </p:nvPr>
        </p:nvSpPr>
        <p:spPr>
          <a:xfrm>
            <a:off x="685800" y="457200"/>
            <a:ext cx="10789920" cy="777240"/>
          </a:xfrm>
        </p:spPr>
        <p:txBody>
          <a:bodyPr wrap="square" lIns="0" tIns="0" rIns="0" bIns="0" anchor="t">
            <a:noAutofit/>
          </a:bodyPr>
          <a:lstStyle/>
          <a:p>
            <a:pPr marL="0" indent="0" algn="l">
              <a:lnSpc>
                <a:spcPct val="95000"/>
              </a:lnSpc>
              <a:spcBef>
                <a:spcPts val="0"/>
              </a:spcBef>
              <a:buNone/>
            </a:pPr>
            <a:r>
              <a:rPr lang="en-AU" sz="3600" b="0">
                <a:solidFill>
                  <a:srgbClr val="584099"/>
                </a:solidFill>
                <a:latin typeface="Arial Black"/>
                <a:ea typeface="Arial Black"/>
                <a:cs typeface="Arial Black"/>
              </a:rPr>
              <a:t>Working in partnership</a:t>
            </a:r>
          </a:p>
        </p:txBody>
      </p:sp>
      <p:sp>
        <p:nvSpPr>
          <p:cNvPr id="6" name="Oval 5"/>
          <p:cNvSpPr/>
          <p:nvPr/>
        </p:nvSpPr>
        <p:spPr>
          <a:xfrm>
            <a:off x="1097280" y="1737360"/>
            <a:ext cx="3200400" cy="3200400"/>
          </a:xfrm>
          <a:prstGeom prst="ellipse">
            <a:avLst/>
          </a:prstGeom>
          <a:solidFill>
            <a:srgbClr val="C9BCE0">
              <a:alpha val="45000"/>
            </a:srgbClr>
          </a:solidFill>
          <a:ln w="19050">
            <a:solidFill>
              <a:srgbClr val="584099"/>
            </a:solidFill>
          </a:ln>
        </p:spPr>
        <p:txBody>
          <a:bodyPr rtlCol="0" anchor="ctr"/>
          <a:lstStyle/>
          <a:p>
            <a:pPr algn="ctr"/>
            <a:endParaRPr/>
          </a:p>
        </p:txBody>
      </p:sp>
      <p:sp>
        <p:nvSpPr>
          <p:cNvPr id="7" name="TextBox 6"/>
          <p:cNvSpPr txBox="1"/>
          <p:nvPr/>
        </p:nvSpPr>
        <p:spPr>
          <a:xfrm>
            <a:off x="1234440" y="2971800"/>
            <a:ext cx="2377440" cy="411480"/>
          </a:xfrm>
          <a:prstGeom prst="rect">
            <a:avLst/>
          </a:prstGeom>
          <a:noFill/>
        </p:spPr>
        <p:txBody>
          <a:bodyPr wrap="square" lIns="0" tIns="0" rIns="0" bIns="0" anchor="ctr">
            <a:noAutofit/>
          </a:bodyPr>
          <a:lstStyle/>
          <a:p>
            <a:pPr marL="0" indent="0" algn="ctr">
              <a:lnSpc>
                <a:spcPct val="100000"/>
              </a:lnSpc>
              <a:spcBef>
                <a:spcPts val="0"/>
              </a:spcBef>
              <a:buNone/>
            </a:pPr>
            <a:r>
              <a:rPr lang="en-AU" sz="1700" b="1">
                <a:solidFill>
                  <a:srgbClr val="3D2A6B"/>
                </a:solidFill>
                <a:latin typeface="Arial"/>
                <a:ea typeface="Arial"/>
                <a:cs typeface="Arial"/>
              </a:rPr>
              <a:t>Family</a:t>
            </a:r>
          </a:p>
        </p:txBody>
      </p:sp>
      <p:sp>
        <p:nvSpPr>
          <p:cNvPr id="8" name="Oval 7"/>
          <p:cNvSpPr/>
          <p:nvPr/>
        </p:nvSpPr>
        <p:spPr>
          <a:xfrm>
            <a:off x="2834640" y="1737360"/>
            <a:ext cx="3200400" cy="3200400"/>
          </a:xfrm>
          <a:prstGeom prst="ellipse">
            <a:avLst/>
          </a:prstGeom>
          <a:solidFill>
            <a:srgbClr val="C9BCE0">
              <a:alpha val="45000"/>
            </a:srgbClr>
          </a:solidFill>
          <a:ln w="19050">
            <a:solidFill>
              <a:srgbClr val="584099"/>
            </a:solidFill>
          </a:ln>
        </p:spPr>
        <p:txBody>
          <a:bodyPr rtlCol="0" anchor="ctr"/>
          <a:lstStyle/>
          <a:p>
            <a:pPr algn="ctr"/>
            <a:endParaRPr/>
          </a:p>
        </p:txBody>
      </p:sp>
      <p:sp>
        <p:nvSpPr>
          <p:cNvPr id="9" name="TextBox 8"/>
          <p:cNvSpPr txBox="1"/>
          <p:nvPr/>
        </p:nvSpPr>
        <p:spPr>
          <a:xfrm>
            <a:off x="3611880" y="2971800"/>
            <a:ext cx="2377440" cy="411480"/>
          </a:xfrm>
          <a:prstGeom prst="rect">
            <a:avLst/>
          </a:prstGeom>
          <a:noFill/>
        </p:spPr>
        <p:txBody>
          <a:bodyPr wrap="square" lIns="0" tIns="0" rIns="0" bIns="0" anchor="ctr">
            <a:noAutofit/>
          </a:bodyPr>
          <a:lstStyle/>
          <a:p>
            <a:pPr marL="0" indent="0" algn="ctr">
              <a:lnSpc>
                <a:spcPct val="100000"/>
              </a:lnSpc>
              <a:spcBef>
                <a:spcPts val="0"/>
              </a:spcBef>
              <a:buNone/>
            </a:pPr>
            <a:r>
              <a:rPr lang="en-AU" sz="1700" b="1">
                <a:solidFill>
                  <a:srgbClr val="3D2A6B"/>
                </a:solidFill>
                <a:latin typeface="Arial"/>
                <a:ea typeface="Arial"/>
                <a:cs typeface="Arial"/>
              </a:rPr>
              <a:t>School staff</a:t>
            </a:r>
          </a:p>
        </p:txBody>
      </p:sp>
      <p:sp>
        <p:nvSpPr>
          <p:cNvPr id="10" name="Oval 9"/>
          <p:cNvSpPr/>
          <p:nvPr/>
        </p:nvSpPr>
        <p:spPr>
          <a:xfrm>
            <a:off x="1965960" y="3154680"/>
            <a:ext cx="3200400" cy="3200400"/>
          </a:xfrm>
          <a:prstGeom prst="ellipse">
            <a:avLst/>
          </a:prstGeom>
          <a:solidFill>
            <a:srgbClr val="C9BCE0">
              <a:alpha val="45000"/>
            </a:srgbClr>
          </a:solidFill>
          <a:ln w="19050">
            <a:solidFill>
              <a:srgbClr val="584099"/>
            </a:solidFill>
          </a:ln>
        </p:spPr>
        <p:txBody>
          <a:bodyPr rtlCol="0" anchor="ctr"/>
          <a:lstStyle/>
          <a:p>
            <a:pPr algn="ctr"/>
            <a:endParaRPr/>
          </a:p>
        </p:txBody>
      </p:sp>
      <p:sp>
        <p:nvSpPr>
          <p:cNvPr id="11" name="TextBox 10"/>
          <p:cNvSpPr txBox="1"/>
          <p:nvPr/>
        </p:nvSpPr>
        <p:spPr>
          <a:xfrm>
            <a:off x="2377440" y="5303520"/>
            <a:ext cx="2377440" cy="411480"/>
          </a:xfrm>
          <a:prstGeom prst="rect">
            <a:avLst/>
          </a:prstGeom>
          <a:noFill/>
        </p:spPr>
        <p:txBody>
          <a:bodyPr wrap="square" lIns="0" tIns="0" rIns="0" bIns="0" anchor="ctr">
            <a:noAutofit/>
          </a:bodyPr>
          <a:lstStyle/>
          <a:p>
            <a:pPr marL="0" indent="0" algn="ctr">
              <a:lnSpc>
                <a:spcPct val="100000"/>
              </a:lnSpc>
              <a:spcBef>
                <a:spcPts val="0"/>
              </a:spcBef>
              <a:buNone/>
            </a:pPr>
            <a:r>
              <a:rPr lang="en-AU" sz="1700" b="1">
                <a:solidFill>
                  <a:srgbClr val="3D2A6B"/>
                </a:solidFill>
                <a:latin typeface="Arial"/>
                <a:ea typeface="Arial"/>
                <a:cs typeface="Arial"/>
              </a:rPr>
              <a:t>Paraprofessionals</a:t>
            </a:r>
          </a:p>
        </p:txBody>
      </p:sp>
      <p:sp>
        <p:nvSpPr>
          <p:cNvPr id="12" name="Oval 11"/>
          <p:cNvSpPr/>
          <p:nvPr/>
        </p:nvSpPr>
        <p:spPr>
          <a:xfrm>
            <a:off x="2890311" y="3337560"/>
            <a:ext cx="1316736" cy="640080"/>
          </a:xfrm>
          <a:prstGeom prst="ellipse">
            <a:avLst/>
          </a:prstGeom>
          <a:solidFill>
            <a:srgbClr val="584099"/>
          </a:solidFill>
          <a:ln>
            <a:noFill/>
          </a:ln>
        </p:spPr>
        <p:txBody>
          <a:bodyPr rtlCol="0" anchor="ctr"/>
          <a:lstStyle/>
          <a:p>
            <a:pPr algn="ctr"/>
            <a:endParaRPr/>
          </a:p>
        </p:txBody>
      </p:sp>
      <p:sp>
        <p:nvSpPr>
          <p:cNvPr id="14" name="Rounded Rectangle 13"/>
          <p:cNvSpPr/>
          <p:nvPr/>
        </p:nvSpPr>
        <p:spPr>
          <a:xfrm>
            <a:off x="6949440" y="1920240"/>
            <a:ext cx="4556455" cy="3291840"/>
          </a:xfrm>
          <a:prstGeom prst="roundRect">
            <a:avLst>
              <a:gd name="adj" fmla="val 8000"/>
            </a:avLst>
          </a:prstGeom>
          <a:solidFill>
            <a:srgbClr val="F3F0FA"/>
          </a:solidFill>
          <a:ln>
            <a:noFill/>
          </a:ln>
        </p:spPr>
        <p:txBody>
          <a:bodyPr rtlCol="0" anchor="ctr"/>
          <a:lstStyle/>
          <a:p>
            <a:pPr algn="ctr"/>
            <a:endParaRPr/>
          </a:p>
        </p:txBody>
      </p:sp>
      <p:pic>
        <p:nvPicPr>
          <p:cNvPr id="15" name="Discussion icon" descr="Speech bubbles"/>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7269480" y="2240280"/>
            <a:ext cx="658368" cy="658368"/>
          </a:xfrm>
          <a:prstGeom prst="rect">
            <a:avLst/>
          </a:prstGeom>
        </p:spPr>
      </p:pic>
      <p:sp>
        <p:nvSpPr>
          <p:cNvPr id="16" name="TextBox 15"/>
          <p:cNvSpPr txBox="1"/>
          <p:nvPr/>
        </p:nvSpPr>
        <p:spPr>
          <a:xfrm>
            <a:off x="7269480" y="3017520"/>
            <a:ext cx="3931920" cy="2011680"/>
          </a:xfrm>
          <a:prstGeom prst="rect">
            <a:avLst/>
          </a:prstGeom>
          <a:noFill/>
        </p:spPr>
        <p:txBody>
          <a:bodyPr wrap="square" lIns="0" tIns="0" rIns="0" bIns="0" anchor="t">
            <a:noAutofit/>
          </a:bodyPr>
          <a:lstStyle/>
          <a:p>
            <a:pPr marL="0" indent="0" algn="l">
              <a:lnSpc>
                <a:spcPct val="105000"/>
              </a:lnSpc>
              <a:spcBef>
                <a:spcPts val="0"/>
              </a:spcBef>
              <a:buNone/>
            </a:pPr>
            <a:r>
              <a:rPr lang="en-AU" sz="2200" b="1">
                <a:solidFill>
                  <a:srgbClr val="3D2A6B"/>
                </a:solidFill>
                <a:latin typeface="Arial"/>
                <a:ea typeface="Arial"/>
                <a:cs typeface="Arial"/>
              </a:rPr>
              <a:t>What is the goal of these intersecting partnerships?</a:t>
            </a:r>
          </a:p>
          <a:p>
            <a:pPr marL="0" indent="0" algn="l">
              <a:lnSpc>
                <a:spcPct val="100000"/>
              </a:lnSpc>
              <a:spcBef>
                <a:spcPts val="1200"/>
              </a:spcBef>
              <a:buNone/>
            </a:pPr>
            <a:r>
              <a:rPr lang="en-AU" sz="1600" b="0">
                <a:solidFill>
                  <a:srgbClr val="2D2440"/>
                </a:solidFill>
                <a:latin typeface="Arial"/>
                <a:ea typeface="Arial"/>
                <a:cs typeface="Arial"/>
              </a:rPr>
              <a:t>Every partner brings different knowledge and a different relationship with the student.</a:t>
            </a:r>
          </a:p>
          <a:p>
            <a:pPr marL="0" indent="0" algn="l">
              <a:lnSpc>
                <a:spcPct val="100000"/>
              </a:lnSpc>
              <a:spcBef>
                <a:spcPts val="1200"/>
              </a:spcBef>
              <a:buNone/>
            </a:pPr>
            <a:r>
              <a:rPr lang="en-AU" sz="1600" b="1">
                <a:solidFill>
                  <a:srgbClr val="584099"/>
                </a:solidFill>
                <a:latin typeface="Arial"/>
                <a:ea typeface="Arial"/>
                <a:cs typeface="Arial"/>
              </a:rPr>
              <a:t>The student is at the centre of every partnership.</a:t>
            </a:r>
          </a:p>
        </p:txBody>
      </p:sp>
      <p:sp>
        <p:nvSpPr>
          <p:cNvPr id="2" name="TextBox 1">
            <a:extLst>
              <a:ext uri="{FF2B5EF4-FFF2-40B4-BE49-F238E27FC236}">
                <a16:creationId xmlns:a16="http://schemas.microsoft.com/office/drawing/2014/main" id="{C758B936-5435-16D0-6819-E05EF9A278A0}"/>
              </a:ext>
            </a:extLst>
          </p:cNvPr>
          <p:cNvSpPr txBox="1"/>
          <p:nvPr/>
        </p:nvSpPr>
        <p:spPr>
          <a:xfrm>
            <a:off x="2743200" y="3322768"/>
            <a:ext cx="1645920" cy="640080"/>
          </a:xfrm>
          <a:prstGeom prst="rect">
            <a:avLst/>
          </a:prstGeom>
          <a:noFill/>
        </p:spPr>
        <p:txBody>
          <a:bodyPr wrap="square" lIns="0" tIns="0" rIns="0" bIns="0" anchor="ctr">
            <a:noAutofit/>
          </a:bodyPr>
          <a:lstStyle/>
          <a:p>
            <a:pPr marL="0" indent="0" algn="ctr">
              <a:lnSpc>
                <a:spcPct val="100000"/>
              </a:lnSpc>
              <a:spcBef>
                <a:spcPts val="0"/>
              </a:spcBef>
              <a:buNone/>
            </a:pPr>
            <a:r>
              <a:rPr lang="en-AU" sz="1700" b="0">
                <a:solidFill>
                  <a:srgbClr val="FFFFFF"/>
                </a:solidFill>
                <a:latin typeface="Arial Black"/>
                <a:ea typeface="Arial Black"/>
                <a:cs typeface="Arial Black"/>
              </a:rPr>
              <a:t>Student</a:t>
            </a:r>
          </a:p>
        </p:txBody>
      </p:sp>
    </p:spTree>
    <p:extLst>
      <p:ext uri="{BB962C8B-B14F-4D97-AF65-F5344CB8AC3E}">
        <p14:creationId xmlns:p14="http://schemas.microsoft.com/office/powerpoint/2010/main" val="1040241880"/>
      </p:ext>
    </p:extLst>
  </p:cSld>
  <p:clrMapOvr>
    <a:masterClrMapping/>
  </p:clrMapOvr>
  <p:extLst>
    <p:ext uri="{6950BFC3-D8DA-4A85-94F7-54DA5524770B}">
      <p188:commentRel xmlns:p188="http://schemas.microsoft.com/office/powerpoint/2018/8/main" r:id="rId3"/>
    </p:ext>
  </p:extLs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7B72A71-DB4E-97BC-3132-9E28665CA63F}"/>
            </a:ext>
          </a:extLst>
        </p:cNvPr>
        <p:cNvGrpSpPr/>
        <p:nvPr/>
      </p:nvGrpSpPr>
      <p:grpSpPr>
        <a:xfrm>
          <a:off x="0" y="0"/>
          <a:ext cx="0" cy="0"/>
          <a:chOff x="0" y="0"/>
          <a:chExt cx="0" cy="0"/>
        </a:xfrm>
      </p:grpSpPr>
      <p:sp>
        <p:nvSpPr>
          <p:cNvPr id="8" name="TextBox 7">
            <a:extLst>
              <a:ext uri="{FF2B5EF4-FFF2-40B4-BE49-F238E27FC236}">
                <a16:creationId xmlns:a16="http://schemas.microsoft.com/office/drawing/2014/main" id="{EB504D76-083F-2200-C970-1C646DB25B35}"/>
              </a:ext>
            </a:extLst>
          </p:cNvPr>
          <p:cNvSpPr txBox="1"/>
          <p:nvPr/>
        </p:nvSpPr>
        <p:spPr>
          <a:xfrm>
            <a:off x="685800" y="457200"/>
            <a:ext cx="5445106" cy="1188720"/>
          </a:xfrm>
          <a:prstGeom prst="rect">
            <a:avLst/>
          </a:prstGeom>
          <a:solidFill>
            <a:schemeClr val="bg1"/>
          </a:solidFill>
        </p:spPr>
        <p:txBody>
          <a:bodyPr wrap="square" lIns="0" tIns="0" rIns="0" bIns="0" rtlCol="0" anchor="t">
            <a:noAutofit/>
          </a:bodyPr>
          <a:lstStyle/>
          <a:p>
            <a:pPr marL="0" indent="0" algn="l">
              <a:lnSpc>
                <a:spcPct val="95000"/>
              </a:lnSpc>
              <a:spcBef>
                <a:spcPts val="0"/>
              </a:spcBef>
              <a:buNone/>
            </a:pPr>
            <a:r>
              <a:rPr lang="en-AU" sz="3000" b="0">
                <a:solidFill>
                  <a:srgbClr val="584099"/>
                </a:solidFill>
                <a:latin typeface="Arial Black"/>
                <a:ea typeface="Arial Black"/>
                <a:cs typeface="Arial Black"/>
              </a:rPr>
              <a:t>Building a home-school partnership</a:t>
            </a:r>
          </a:p>
        </p:txBody>
      </p:sp>
      <p:pic>
        <p:nvPicPr>
          <p:cNvPr id="7" name="Picture 6">
            <a:extLst>
              <a:ext uri="{FF2B5EF4-FFF2-40B4-BE49-F238E27FC236}">
                <a16:creationId xmlns:a16="http://schemas.microsoft.com/office/drawing/2014/main" id="{5C0225A2-F084-EEFE-AA8A-46A192737F61}"/>
              </a:ext>
            </a:extLst>
          </p:cNvPr>
          <p:cNvPicPr>
            <a:picLocks noChangeAspect="1"/>
          </p:cNvPicPr>
          <p:nvPr/>
        </p:nvPicPr>
        <p:blipFill>
          <a:blip r:embed="rId3">
            <a:extLst>
              <a:ext uri="{28A0092B-C50C-407E-A947-70E740481C1C}">
                <a14:useLocalDpi xmlns:a14="http://schemas.microsoft.com/office/drawing/2010/main" val="0"/>
              </a:ext>
            </a:extLst>
          </a:blip>
          <a:srcRect l="3919" r="29143"/>
          <a:stretch>
            <a:fillRect/>
          </a:stretch>
        </p:blipFill>
        <p:spPr>
          <a:xfrm>
            <a:off x="6405226" y="0"/>
            <a:ext cx="6878775" cy="6857990"/>
          </a:xfrm>
          <a:custGeom>
            <a:avLst/>
            <a:gdLst/>
            <a:ahLst/>
            <a:cxnLst/>
            <a:rect l="l" t="t" r="r" b="b"/>
            <a:pathLst>
              <a:path w="6878775" h="6858000">
                <a:moveTo>
                  <a:pt x="1102973" y="0"/>
                </a:moveTo>
                <a:lnTo>
                  <a:pt x="1160688" y="0"/>
                </a:lnTo>
                <a:lnTo>
                  <a:pt x="983189" y="331786"/>
                </a:lnTo>
                <a:cubicBezTo>
                  <a:pt x="914866" y="469145"/>
                  <a:pt x="850355" y="608712"/>
                  <a:pt x="789261" y="750263"/>
                </a:cubicBezTo>
                <a:cubicBezTo>
                  <a:pt x="774307" y="784928"/>
                  <a:pt x="759992" y="819849"/>
                  <a:pt x="745295" y="854514"/>
                </a:cubicBezTo>
                <a:cubicBezTo>
                  <a:pt x="756682" y="845393"/>
                  <a:pt x="765489" y="833492"/>
                  <a:pt x="770857" y="819975"/>
                </a:cubicBezTo>
                <a:cubicBezTo>
                  <a:pt x="879943" y="589569"/>
                  <a:pt x="999605" y="365513"/>
                  <a:pt x="1131329" y="148742"/>
                </a:cubicBezTo>
                <a:lnTo>
                  <a:pt x="1227589" y="0"/>
                </a:lnTo>
                <a:lnTo>
                  <a:pt x="6878775" y="0"/>
                </a:lnTo>
                <a:lnTo>
                  <a:pt x="6878775" y="6858000"/>
                </a:lnTo>
                <a:lnTo>
                  <a:pt x="713521" y="6858000"/>
                </a:lnTo>
                <a:lnTo>
                  <a:pt x="625642" y="6670527"/>
                </a:lnTo>
                <a:cubicBezTo>
                  <a:pt x="507232" y="6398531"/>
                  <a:pt x="403083" y="6118381"/>
                  <a:pt x="312785" y="5830359"/>
                </a:cubicBezTo>
                <a:cubicBezTo>
                  <a:pt x="278149" y="5719759"/>
                  <a:pt x="248879" y="5607635"/>
                  <a:pt x="212198" y="5480401"/>
                </a:cubicBezTo>
                <a:cubicBezTo>
                  <a:pt x="212208" y="5491601"/>
                  <a:pt x="212803" y="5502788"/>
                  <a:pt x="213988" y="5513923"/>
                </a:cubicBezTo>
                <a:cubicBezTo>
                  <a:pt x="264089" y="5723695"/>
                  <a:pt x="307290" y="5935370"/>
                  <a:pt x="365826" y="6142729"/>
                </a:cubicBezTo>
                <a:cubicBezTo>
                  <a:pt x="433152" y="6380817"/>
                  <a:pt x="510068" y="6614016"/>
                  <a:pt x="597975" y="6841549"/>
                </a:cubicBezTo>
                <a:lnTo>
                  <a:pt x="604824" y="6858000"/>
                </a:lnTo>
                <a:lnTo>
                  <a:pt x="552056" y="6858000"/>
                </a:lnTo>
                <a:lnTo>
                  <a:pt x="539576" y="6828295"/>
                </a:lnTo>
                <a:cubicBezTo>
                  <a:pt x="380597" y="6414594"/>
                  <a:pt x="260223" y="5988893"/>
                  <a:pt x="171555" y="5552906"/>
                </a:cubicBezTo>
                <a:cubicBezTo>
                  <a:pt x="91163" y="5157998"/>
                  <a:pt x="43746" y="4758899"/>
                  <a:pt x="12305" y="4357388"/>
                </a:cubicBezTo>
                <a:cubicBezTo>
                  <a:pt x="-14281" y="4013908"/>
                  <a:pt x="4507" y="3672965"/>
                  <a:pt x="46684" y="3331516"/>
                </a:cubicBezTo>
                <a:cubicBezTo>
                  <a:pt x="127203" y="2664286"/>
                  <a:pt x="277819" y="2007265"/>
                  <a:pt x="496065" y="1371196"/>
                </a:cubicBezTo>
                <a:cubicBezTo>
                  <a:pt x="636273" y="966066"/>
                  <a:pt x="800445" y="573253"/>
                  <a:pt x="995723" y="196614"/>
                </a:cubicBezTo>
                <a:close/>
              </a:path>
            </a:pathLst>
          </a:custGeom>
        </p:spPr>
      </p:pic>
      <p:sp>
        <p:nvSpPr>
          <p:cNvPr id="9" name="Rounded Rectangle 8"/>
          <p:cNvSpPr/>
          <p:nvPr/>
        </p:nvSpPr>
        <p:spPr>
          <a:xfrm>
            <a:off x="685800" y="1783080"/>
            <a:ext cx="5353666" cy="603504"/>
          </a:xfrm>
          <a:prstGeom prst="roundRect">
            <a:avLst>
              <a:gd name="adj" fmla="val 25000"/>
            </a:avLst>
          </a:prstGeom>
          <a:solidFill>
            <a:srgbClr val="F3F0FA"/>
          </a:solidFill>
          <a:ln>
            <a:noFill/>
          </a:ln>
        </p:spPr>
        <p:txBody>
          <a:bodyPr rtlCol="0" anchor="ctr"/>
          <a:lstStyle/>
          <a:p>
            <a:pPr algn="ctr"/>
            <a:endParaRPr/>
          </a:p>
        </p:txBody>
      </p:sp>
      <p:sp>
        <p:nvSpPr>
          <p:cNvPr id="10" name="TextBox 9"/>
          <p:cNvSpPr txBox="1"/>
          <p:nvPr/>
        </p:nvSpPr>
        <p:spPr>
          <a:xfrm>
            <a:off x="960120" y="1783080"/>
            <a:ext cx="4896466" cy="603504"/>
          </a:xfrm>
          <a:prstGeom prst="rect">
            <a:avLst/>
          </a:prstGeom>
          <a:noFill/>
        </p:spPr>
        <p:txBody>
          <a:bodyPr wrap="square" lIns="0" tIns="0" rIns="0" bIns="0" anchor="ctr">
            <a:noAutofit/>
          </a:bodyPr>
          <a:lstStyle/>
          <a:p>
            <a:pPr marL="0" indent="0" algn="l">
              <a:lnSpc>
                <a:spcPct val="100000"/>
              </a:lnSpc>
              <a:spcBef>
                <a:spcPts val="0"/>
              </a:spcBef>
              <a:buNone/>
            </a:pPr>
            <a:r>
              <a:rPr lang="en-AU" sz="1400" b="1">
                <a:solidFill>
                  <a:srgbClr val="3D2A6B"/>
                </a:solidFill>
                <a:latin typeface="Arial"/>
                <a:ea typeface="Arial"/>
                <a:cs typeface="Arial"/>
              </a:rPr>
              <a:t>Parents and families are the first and continuing educators of their children</a:t>
            </a:r>
          </a:p>
        </p:txBody>
      </p:sp>
      <p:sp>
        <p:nvSpPr>
          <p:cNvPr id="11" name="Rounded Rectangle 10"/>
          <p:cNvSpPr/>
          <p:nvPr/>
        </p:nvSpPr>
        <p:spPr>
          <a:xfrm>
            <a:off x="685800" y="2478024"/>
            <a:ext cx="5353666" cy="603504"/>
          </a:xfrm>
          <a:prstGeom prst="roundRect">
            <a:avLst>
              <a:gd name="adj" fmla="val 25000"/>
            </a:avLst>
          </a:prstGeom>
          <a:solidFill>
            <a:srgbClr val="F3F0FA"/>
          </a:solidFill>
          <a:ln>
            <a:noFill/>
          </a:ln>
        </p:spPr>
        <p:txBody>
          <a:bodyPr rtlCol="0" anchor="ctr"/>
          <a:lstStyle/>
          <a:p>
            <a:pPr algn="ctr"/>
            <a:endParaRPr/>
          </a:p>
        </p:txBody>
      </p:sp>
      <p:sp>
        <p:nvSpPr>
          <p:cNvPr id="12" name="TextBox 11"/>
          <p:cNvSpPr txBox="1"/>
          <p:nvPr/>
        </p:nvSpPr>
        <p:spPr>
          <a:xfrm>
            <a:off x="960120" y="2478024"/>
            <a:ext cx="4896466" cy="603504"/>
          </a:xfrm>
          <a:prstGeom prst="rect">
            <a:avLst/>
          </a:prstGeom>
          <a:noFill/>
        </p:spPr>
        <p:txBody>
          <a:bodyPr wrap="square" lIns="0" tIns="0" rIns="0" bIns="0" anchor="ctr">
            <a:noAutofit/>
          </a:bodyPr>
          <a:lstStyle/>
          <a:p>
            <a:pPr marL="0" indent="0" algn="l">
              <a:lnSpc>
                <a:spcPct val="100000"/>
              </a:lnSpc>
              <a:spcBef>
                <a:spcPts val="0"/>
              </a:spcBef>
              <a:buNone/>
            </a:pPr>
            <a:r>
              <a:rPr lang="en-AU" sz="1400" b="1">
                <a:solidFill>
                  <a:srgbClr val="3D2A6B"/>
                </a:solidFill>
                <a:latin typeface="Arial"/>
                <a:ea typeface="Arial"/>
                <a:cs typeface="Arial"/>
              </a:rPr>
              <a:t>Learning is lifelong and occurs in multiple settings</a:t>
            </a:r>
          </a:p>
        </p:txBody>
      </p:sp>
      <p:sp>
        <p:nvSpPr>
          <p:cNvPr id="13" name="Rounded Rectangle 12"/>
          <p:cNvSpPr/>
          <p:nvPr/>
        </p:nvSpPr>
        <p:spPr>
          <a:xfrm>
            <a:off x="685800" y="3172968"/>
            <a:ext cx="5353666" cy="603504"/>
          </a:xfrm>
          <a:prstGeom prst="roundRect">
            <a:avLst>
              <a:gd name="adj" fmla="val 25000"/>
            </a:avLst>
          </a:prstGeom>
          <a:solidFill>
            <a:srgbClr val="F3F0FA"/>
          </a:solidFill>
          <a:ln>
            <a:noFill/>
          </a:ln>
        </p:spPr>
        <p:txBody>
          <a:bodyPr rtlCol="0" anchor="ctr"/>
          <a:lstStyle/>
          <a:p>
            <a:pPr algn="ctr"/>
            <a:endParaRPr/>
          </a:p>
        </p:txBody>
      </p:sp>
      <p:sp>
        <p:nvSpPr>
          <p:cNvPr id="14" name="TextBox 13"/>
          <p:cNvSpPr txBox="1"/>
          <p:nvPr/>
        </p:nvSpPr>
        <p:spPr>
          <a:xfrm>
            <a:off x="960120" y="3172968"/>
            <a:ext cx="4896466" cy="603504"/>
          </a:xfrm>
          <a:prstGeom prst="rect">
            <a:avLst/>
          </a:prstGeom>
          <a:noFill/>
        </p:spPr>
        <p:txBody>
          <a:bodyPr wrap="square" lIns="0" tIns="0" rIns="0" bIns="0" anchor="ctr">
            <a:noAutofit/>
          </a:bodyPr>
          <a:lstStyle/>
          <a:p>
            <a:pPr marL="0" indent="0" algn="l">
              <a:lnSpc>
                <a:spcPct val="100000"/>
              </a:lnSpc>
              <a:spcBef>
                <a:spcPts val="0"/>
              </a:spcBef>
              <a:buNone/>
            </a:pPr>
            <a:r>
              <a:rPr lang="en-AU" sz="1400" b="1">
                <a:solidFill>
                  <a:srgbClr val="3D2A6B"/>
                </a:solidFill>
                <a:latin typeface="Arial"/>
                <a:ea typeface="Arial"/>
                <a:cs typeface="Arial"/>
              </a:rPr>
              <a:t>Partnerships, schools and school communities flourish when the diversity and strengths of families are valued and leveraged</a:t>
            </a:r>
          </a:p>
        </p:txBody>
      </p:sp>
      <p:sp>
        <p:nvSpPr>
          <p:cNvPr id="15" name="Rounded Rectangle 14"/>
          <p:cNvSpPr/>
          <p:nvPr/>
        </p:nvSpPr>
        <p:spPr>
          <a:xfrm>
            <a:off x="685800" y="3867912"/>
            <a:ext cx="5353666" cy="603504"/>
          </a:xfrm>
          <a:prstGeom prst="roundRect">
            <a:avLst>
              <a:gd name="adj" fmla="val 25000"/>
            </a:avLst>
          </a:prstGeom>
          <a:solidFill>
            <a:srgbClr val="F3F0FA"/>
          </a:solidFill>
          <a:ln>
            <a:noFill/>
          </a:ln>
        </p:spPr>
        <p:txBody>
          <a:bodyPr rtlCol="0" anchor="ctr"/>
          <a:lstStyle/>
          <a:p>
            <a:pPr algn="ctr"/>
            <a:endParaRPr/>
          </a:p>
        </p:txBody>
      </p:sp>
      <p:sp>
        <p:nvSpPr>
          <p:cNvPr id="16" name="TextBox 15"/>
          <p:cNvSpPr txBox="1"/>
          <p:nvPr/>
        </p:nvSpPr>
        <p:spPr>
          <a:xfrm>
            <a:off x="960120" y="3867912"/>
            <a:ext cx="4896466" cy="603504"/>
          </a:xfrm>
          <a:prstGeom prst="rect">
            <a:avLst/>
          </a:prstGeom>
          <a:noFill/>
        </p:spPr>
        <p:txBody>
          <a:bodyPr wrap="square" lIns="0" tIns="0" rIns="0" bIns="0" anchor="ctr">
            <a:noAutofit/>
          </a:bodyPr>
          <a:lstStyle/>
          <a:p>
            <a:pPr marL="0" indent="0" algn="l">
              <a:lnSpc>
                <a:spcPct val="100000"/>
              </a:lnSpc>
              <a:spcBef>
                <a:spcPts val="0"/>
              </a:spcBef>
              <a:buNone/>
            </a:pPr>
            <a:r>
              <a:rPr lang="en-AU" sz="1400" b="1">
                <a:solidFill>
                  <a:srgbClr val="3D2A6B"/>
                </a:solidFill>
                <a:latin typeface="Arial"/>
                <a:ea typeface="Arial"/>
                <a:cs typeface="Arial"/>
              </a:rPr>
              <a:t>Community engagement expands responsibility and resources</a:t>
            </a:r>
          </a:p>
        </p:txBody>
      </p:sp>
      <p:sp>
        <p:nvSpPr>
          <p:cNvPr id="17" name="Rounded Rectangle 16"/>
          <p:cNvSpPr/>
          <p:nvPr/>
        </p:nvSpPr>
        <p:spPr>
          <a:xfrm>
            <a:off x="685800" y="4562856"/>
            <a:ext cx="5353666" cy="603504"/>
          </a:xfrm>
          <a:prstGeom prst="roundRect">
            <a:avLst>
              <a:gd name="adj" fmla="val 25000"/>
            </a:avLst>
          </a:prstGeom>
          <a:solidFill>
            <a:srgbClr val="F3F0FA"/>
          </a:solidFill>
          <a:ln>
            <a:noFill/>
          </a:ln>
        </p:spPr>
        <p:txBody>
          <a:bodyPr rtlCol="0" anchor="ctr"/>
          <a:lstStyle/>
          <a:p>
            <a:pPr algn="ctr"/>
            <a:endParaRPr/>
          </a:p>
        </p:txBody>
      </p:sp>
      <p:sp>
        <p:nvSpPr>
          <p:cNvPr id="18" name="TextBox 17"/>
          <p:cNvSpPr txBox="1"/>
          <p:nvPr/>
        </p:nvSpPr>
        <p:spPr>
          <a:xfrm>
            <a:off x="960120" y="4562856"/>
            <a:ext cx="4896466" cy="603504"/>
          </a:xfrm>
          <a:prstGeom prst="rect">
            <a:avLst/>
          </a:prstGeom>
          <a:noFill/>
        </p:spPr>
        <p:txBody>
          <a:bodyPr wrap="square" lIns="0" tIns="0" rIns="0" bIns="0" anchor="ctr">
            <a:noAutofit/>
          </a:bodyPr>
          <a:lstStyle/>
          <a:p>
            <a:pPr marL="0" indent="0" algn="l">
              <a:lnSpc>
                <a:spcPct val="100000"/>
              </a:lnSpc>
              <a:spcBef>
                <a:spcPts val="0"/>
              </a:spcBef>
              <a:buNone/>
            </a:pPr>
            <a:r>
              <a:rPr lang="en-AU" sz="1400" b="1">
                <a:solidFill>
                  <a:srgbClr val="3D2A6B"/>
                </a:solidFill>
                <a:latin typeface="Arial"/>
                <a:ea typeface="Arial"/>
                <a:cs typeface="Arial"/>
              </a:rPr>
              <a:t>Partnerships grow from mutual trust, respect and responsibility</a:t>
            </a:r>
          </a:p>
        </p:txBody>
      </p:sp>
      <p:sp>
        <p:nvSpPr>
          <p:cNvPr id="19" name="Rounded Rectangle 18"/>
          <p:cNvSpPr/>
          <p:nvPr/>
        </p:nvSpPr>
        <p:spPr>
          <a:xfrm>
            <a:off x="685800" y="5257800"/>
            <a:ext cx="5353666" cy="603504"/>
          </a:xfrm>
          <a:prstGeom prst="roundRect">
            <a:avLst>
              <a:gd name="adj" fmla="val 25000"/>
            </a:avLst>
          </a:prstGeom>
          <a:solidFill>
            <a:srgbClr val="F3F0FA"/>
          </a:solidFill>
          <a:ln>
            <a:noFill/>
          </a:ln>
        </p:spPr>
        <p:txBody>
          <a:bodyPr rtlCol="0" anchor="ctr"/>
          <a:lstStyle/>
          <a:p>
            <a:pPr algn="ctr"/>
            <a:endParaRPr/>
          </a:p>
        </p:txBody>
      </p:sp>
      <p:sp>
        <p:nvSpPr>
          <p:cNvPr id="20" name="TextBox 19"/>
          <p:cNvSpPr txBox="1"/>
          <p:nvPr/>
        </p:nvSpPr>
        <p:spPr>
          <a:xfrm>
            <a:off x="960120" y="5257800"/>
            <a:ext cx="4896466" cy="603504"/>
          </a:xfrm>
          <a:prstGeom prst="rect">
            <a:avLst/>
          </a:prstGeom>
          <a:noFill/>
        </p:spPr>
        <p:txBody>
          <a:bodyPr wrap="square" lIns="0" tIns="0" rIns="0" bIns="0" anchor="ctr">
            <a:noAutofit/>
          </a:bodyPr>
          <a:lstStyle/>
          <a:p>
            <a:pPr marL="0" indent="0" algn="l">
              <a:lnSpc>
                <a:spcPct val="100000"/>
              </a:lnSpc>
              <a:spcBef>
                <a:spcPts val="0"/>
              </a:spcBef>
              <a:buNone/>
            </a:pPr>
            <a:r>
              <a:rPr lang="en-AU" sz="1400" b="1">
                <a:solidFill>
                  <a:srgbClr val="3D2A6B"/>
                </a:solidFill>
                <a:latin typeface="Arial"/>
                <a:ea typeface="Arial"/>
                <a:cs typeface="Arial"/>
              </a:rPr>
              <a:t>Partnerships need committed, collaborative and creative leadership</a:t>
            </a:r>
          </a:p>
        </p:txBody>
      </p:sp>
      <p:sp>
        <p:nvSpPr>
          <p:cNvPr id="21" name="TextBox 20"/>
          <p:cNvSpPr txBox="1"/>
          <p:nvPr/>
        </p:nvSpPr>
        <p:spPr>
          <a:xfrm>
            <a:off x="685800" y="5998464"/>
            <a:ext cx="5353666" cy="365760"/>
          </a:xfrm>
          <a:prstGeom prst="rect">
            <a:avLst/>
          </a:prstGeom>
          <a:noFill/>
        </p:spPr>
        <p:txBody>
          <a:bodyPr wrap="square" lIns="0" tIns="0" rIns="0" bIns="0" anchor="t">
            <a:noAutofit/>
          </a:bodyPr>
          <a:lstStyle/>
          <a:p>
            <a:pPr marL="0" indent="0" algn="l">
              <a:lnSpc>
                <a:spcPct val="100000"/>
              </a:lnSpc>
              <a:spcBef>
                <a:spcPts val="0"/>
              </a:spcBef>
              <a:buNone/>
            </a:pPr>
            <a:r>
              <a:rPr lang="en-AU" sz="1100" b="0">
                <a:solidFill>
                  <a:srgbClr val="5B5670"/>
                </a:solidFill>
                <a:latin typeface="Arial"/>
                <a:ea typeface="Arial"/>
                <a:cs typeface="Arial"/>
              </a:rPr>
              <a:t>Family-School Partnerships Framework, Department of Education, 2020</a:t>
            </a:r>
          </a:p>
        </p:txBody>
      </p:sp>
    </p:spTree>
    <p:extLst>
      <p:ext uri="{BB962C8B-B14F-4D97-AF65-F5344CB8AC3E}">
        <p14:creationId xmlns:p14="http://schemas.microsoft.com/office/powerpoint/2010/main" val="5897107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469244D-510C-C6BB-761F-A461E115D58C}"/>
            </a:ext>
          </a:extLst>
        </p:cNvPr>
        <p:cNvGrpSpPr/>
        <p:nvPr/>
      </p:nvGrpSpPr>
      <p:grpSpPr>
        <a:xfrm>
          <a:off x="0" y="0"/>
          <a:ext cx="0" cy="0"/>
          <a:chOff x="0" y="0"/>
          <a:chExt cx="0" cy="0"/>
        </a:xfrm>
      </p:grpSpPr>
      <p:sp>
        <p:nvSpPr>
          <p:cNvPr id="5" name="Title 4">
            <a:extLst>
              <a:ext uri="{FF2B5EF4-FFF2-40B4-BE49-F238E27FC236}">
                <a16:creationId xmlns:a16="http://schemas.microsoft.com/office/drawing/2014/main" id="{867876DD-2B34-7063-87FE-E7FB353BEA9D}"/>
              </a:ext>
            </a:extLst>
          </p:cNvPr>
          <p:cNvSpPr>
            <a:spLocks noGrp="1"/>
          </p:cNvSpPr>
          <p:nvPr>
            <p:ph type="title"/>
          </p:nvPr>
        </p:nvSpPr>
        <p:spPr>
          <a:xfrm>
            <a:off x="685800" y="457200"/>
            <a:ext cx="10789920" cy="777240"/>
          </a:xfrm>
        </p:spPr>
        <p:txBody>
          <a:bodyPr wrap="square" lIns="0" tIns="0" rIns="0" bIns="0" anchor="t">
            <a:noAutofit/>
          </a:bodyPr>
          <a:lstStyle/>
          <a:p>
            <a:pPr marL="0" indent="0" algn="l">
              <a:lnSpc>
                <a:spcPct val="95000"/>
              </a:lnSpc>
              <a:spcBef>
                <a:spcPts val="0"/>
              </a:spcBef>
              <a:buNone/>
            </a:pPr>
            <a:r>
              <a:rPr lang="en-AU" sz="3600" b="0">
                <a:solidFill>
                  <a:srgbClr val="584099"/>
                </a:solidFill>
                <a:latin typeface="Arial Black"/>
                <a:ea typeface="Arial Black"/>
                <a:cs typeface="Arial Black"/>
              </a:rPr>
              <a:t>What is effective collaboration?</a:t>
            </a:r>
          </a:p>
        </p:txBody>
      </p:sp>
      <p:pic>
        <p:nvPicPr>
          <p:cNvPr id="3" name="Graphic 2" descr="Open hand with plant with solid fill">
            <a:extLst>
              <a:ext uri="{FF2B5EF4-FFF2-40B4-BE49-F238E27FC236}">
                <a16:creationId xmlns:a16="http://schemas.microsoft.com/office/drawing/2014/main" id="{3100122F-92D3-EF73-C7AD-7DFAAD7A4BFE}"/>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4632808" y="2148840"/>
            <a:ext cx="2926080" cy="2926080"/>
          </a:xfrm>
          <a:prstGeom prst="rect">
            <a:avLst/>
          </a:prstGeom>
        </p:spPr>
      </p:pic>
      <p:sp>
        <p:nvSpPr>
          <p:cNvPr id="23" name="Rounded Rectangle 22"/>
          <p:cNvSpPr/>
          <p:nvPr/>
        </p:nvSpPr>
        <p:spPr>
          <a:xfrm>
            <a:off x="685800" y="1737360"/>
            <a:ext cx="3931920" cy="731520"/>
          </a:xfrm>
          <a:prstGeom prst="roundRect">
            <a:avLst>
              <a:gd name="adj" fmla="val 25000"/>
            </a:avLst>
          </a:prstGeom>
          <a:solidFill>
            <a:srgbClr val="F3F0FA"/>
          </a:solidFill>
          <a:ln>
            <a:noFill/>
          </a:ln>
        </p:spPr>
        <p:txBody>
          <a:bodyPr rtlCol="0" anchor="ctr"/>
          <a:lstStyle/>
          <a:p>
            <a:pPr algn="ctr"/>
            <a:endParaRPr/>
          </a:p>
        </p:txBody>
      </p:sp>
      <p:sp>
        <p:nvSpPr>
          <p:cNvPr id="24" name="TextBox 23"/>
          <p:cNvSpPr txBox="1"/>
          <p:nvPr/>
        </p:nvSpPr>
        <p:spPr>
          <a:xfrm>
            <a:off x="960120" y="1737360"/>
            <a:ext cx="3383280" cy="731520"/>
          </a:xfrm>
          <a:prstGeom prst="rect">
            <a:avLst/>
          </a:prstGeom>
          <a:noFill/>
        </p:spPr>
        <p:txBody>
          <a:bodyPr wrap="square" lIns="0" tIns="0" rIns="0" bIns="0" anchor="ctr">
            <a:noAutofit/>
          </a:bodyPr>
          <a:lstStyle/>
          <a:p>
            <a:pPr marL="0" indent="0" algn="l">
              <a:lnSpc>
                <a:spcPct val="100000"/>
              </a:lnSpc>
              <a:spcBef>
                <a:spcPts val="0"/>
              </a:spcBef>
              <a:buNone/>
            </a:pPr>
            <a:r>
              <a:rPr lang="en-AU" sz="1900" b="1">
                <a:solidFill>
                  <a:srgbClr val="3D2A6B"/>
                </a:solidFill>
                <a:latin typeface="Arial"/>
                <a:ea typeface="Arial"/>
                <a:cs typeface="Arial"/>
              </a:rPr>
              <a:t>Shared goals</a:t>
            </a:r>
          </a:p>
        </p:txBody>
      </p:sp>
      <p:sp>
        <p:nvSpPr>
          <p:cNvPr id="25" name="Rounded Rectangle 24"/>
          <p:cNvSpPr/>
          <p:nvPr/>
        </p:nvSpPr>
        <p:spPr>
          <a:xfrm>
            <a:off x="685800" y="2624328"/>
            <a:ext cx="3931920" cy="731520"/>
          </a:xfrm>
          <a:prstGeom prst="roundRect">
            <a:avLst>
              <a:gd name="adj" fmla="val 25000"/>
            </a:avLst>
          </a:prstGeom>
          <a:solidFill>
            <a:srgbClr val="F3F0FA"/>
          </a:solidFill>
          <a:ln>
            <a:noFill/>
          </a:ln>
        </p:spPr>
        <p:txBody>
          <a:bodyPr rtlCol="0" anchor="ctr"/>
          <a:lstStyle/>
          <a:p>
            <a:pPr algn="ctr"/>
            <a:endParaRPr/>
          </a:p>
        </p:txBody>
      </p:sp>
      <p:sp>
        <p:nvSpPr>
          <p:cNvPr id="26" name="TextBox 25"/>
          <p:cNvSpPr txBox="1"/>
          <p:nvPr/>
        </p:nvSpPr>
        <p:spPr>
          <a:xfrm>
            <a:off x="960120" y="2624328"/>
            <a:ext cx="3383280" cy="731520"/>
          </a:xfrm>
          <a:prstGeom prst="rect">
            <a:avLst/>
          </a:prstGeom>
          <a:noFill/>
        </p:spPr>
        <p:txBody>
          <a:bodyPr wrap="square" lIns="0" tIns="0" rIns="0" bIns="0" anchor="ctr">
            <a:noAutofit/>
          </a:bodyPr>
          <a:lstStyle/>
          <a:p>
            <a:pPr marL="0" indent="0" algn="l">
              <a:lnSpc>
                <a:spcPct val="100000"/>
              </a:lnSpc>
              <a:spcBef>
                <a:spcPts val="0"/>
              </a:spcBef>
              <a:buNone/>
            </a:pPr>
            <a:r>
              <a:rPr lang="en-AU" sz="1900" b="1">
                <a:solidFill>
                  <a:srgbClr val="3D2A6B"/>
                </a:solidFill>
                <a:latin typeface="Arial"/>
                <a:ea typeface="Arial"/>
                <a:cs typeface="Arial"/>
              </a:rPr>
              <a:t>Shared values</a:t>
            </a:r>
          </a:p>
        </p:txBody>
      </p:sp>
      <p:sp>
        <p:nvSpPr>
          <p:cNvPr id="27" name="Rounded Rectangle 26"/>
          <p:cNvSpPr/>
          <p:nvPr/>
        </p:nvSpPr>
        <p:spPr>
          <a:xfrm>
            <a:off x="685800" y="3511296"/>
            <a:ext cx="3931920" cy="731520"/>
          </a:xfrm>
          <a:prstGeom prst="roundRect">
            <a:avLst>
              <a:gd name="adj" fmla="val 25000"/>
            </a:avLst>
          </a:prstGeom>
          <a:solidFill>
            <a:srgbClr val="F3F0FA"/>
          </a:solidFill>
          <a:ln>
            <a:noFill/>
          </a:ln>
        </p:spPr>
        <p:txBody>
          <a:bodyPr rtlCol="0" anchor="ctr"/>
          <a:lstStyle/>
          <a:p>
            <a:pPr algn="ctr"/>
            <a:endParaRPr/>
          </a:p>
        </p:txBody>
      </p:sp>
      <p:sp>
        <p:nvSpPr>
          <p:cNvPr id="28" name="TextBox 27"/>
          <p:cNvSpPr txBox="1"/>
          <p:nvPr/>
        </p:nvSpPr>
        <p:spPr>
          <a:xfrm>
            <a:off x="960120" y="3511296"/>
            <a:ext cx="3383280" cy="731520"/>
          </a:xfrm>
          <a:prstGeom prst="rect">
            <a:avLst/>
          </a:prstGeom>
          <a:noFill/>
        </p:spPr>
        <p:txBody>
          <a:bodyPr wrap="square" lIns="0" tIns="0" rIns="0" bIns="0" anchor="ctr">
            <a:noAutofit/>
          </a:bodyPr>
          <a:lstStyle/>
          <a:p>
            <a:pPr marL="0" indent="0" algn="l">
              <a:lnSpc>
                <a:spcPct val="100000"/>
              </a:lnSpc>
              <a:spcBef>
                <a:spcPts val="0"/>
              </a:spcBef>
              <a:buNone/>
            </a:pPr>
            <a:r>
              <a:rPr lang="en-AU" sz="1900" b="1">
                <a:solidFill>
                  <a:srgbClr val="3D2A6B"/>
                </a:solidFill>
                <a:latin typeface="Arial"/>
                <a:ea typeface="Arial"/>
                <a:cs typeface="Arial"/>
              </a:rPr>
              <a:t>Mutual trust and respect</a:t>
            </a:r>
          </a:p>
        </p:txBody>
      </p:sp>
      <p:sp>
        <p:nvSpPr>
          <p:cNvPr id="29" name="Rounded Rectangle 28"/>
          <p:cNvSpPr/>
          <p:nvPr/>
        </p:nvSpPr>
        <p:spPr>
          <a:xfrm>
            <a:off x="685800" y="4398264"/>
            <a:ext cx="3931920" cy="731520"/>
          </a:xfrm>
          <a:prstGeom prst="roundRect">
            <a:avLst>
              <a:gd name="adj" fmla="val 25000"/>
            </a:avLst>
          </a:prstGeom>
          <a:solidFill>
            <a:srgbClr val="F3F0FA"/>
          </a:solidFill>
          <a:ln>
            <a:noFill/>
          </a:ln>
        </p:spPr>
        <p:txBody>
          <a:bodyPr rtlCol="0" anchor="ctr"/>
          <a:lstStyle/>
          <a:p>
            <a:pPr algn="ctr"/>
            <a:endParaRPr/>
          </a:p>
        </p:txBody>
      </p:sp>
      <p:sp>
        <p:nvSpPr>
          <p:cNvPr id="30" name="TextBox 29"/>
          <p:cNvSpPr txBox="1"/>
          <p:nvPr/>
        </p:nvSpPr>
        <p:spPr>
          <a:xfrm>
            <a:off x="960120" y="4398264"/>
            <a:ext cx="3383280" cy="731520"/>
          </a:xfrm>
          <a:prstGeom prst="rect">
            <a:avLst/>
          </a:prstGeom>
          <a:noFill/>
        </p:spPr>
        <p:txBody>
          <a:bodyPr wrap="square" lIns="0" tIns="0" rIns="0" bIns="0" anchor="ctr">
            <a:noAutofit/>
          </a:bodyPr>
          <a:lstStyle/>
          <a:p>
            <a:pPr marL="0" indent="0" algn="l">
              <a:lnSpc>
                <a:spcPct val="100000"/>
              </a:lnSpc>
              <a:spcBef>
                <a:spcPts val="0"/>
              </a:spcBef>
              <a:buNone/>
            </a:pPr>
            <a:r>
              <a:rPr lang="en-AU" sz="1900" b="1">
                <a:solidFill>
                  <a:srgbClr val="3D2A6B"/>
                </a:solidFill>
                <a:latin typeface="Arial"/>
                <a:ea typeface="Arial"/>
                <a:cs typeface="Arial"/>
              </a:rPr>
              <a:t>Consult on decision-making</a:t>
            </a:r>
          </a:p>
        </p:txBody>
      </p:sp>
      <p:sp>
        <p:nvSpPr>
          <p:cNvPr id="31" name="Rounded Rectangle 30"/>
          <p:cNvSpPr/>
          <p:nvPr/>
        </p:nvSpPr>
        <p:spPr>
          <a:xfrm>
            <a:off x="7573975" y="1737360"/>
            <a:ext cx="3931920" cy="731520"/>
          </a:xfrm>
          <a:prstGeom prst="roundRect">
            <a:avLst>
              <a:gd name="adj" fmla="val 25000"/>
            </a:avLst>
          </a:prstGeom>
          <a:solidFill>
            <a:srgbClr val="F3F0FA"/>
          </a:solidFill>
          <a:ln>
            <a:noFill/>
          </a:ln>
        </p:spPr>
        <p:txBody>
          <a:bodyPr rtlCol="0" anchor="ctr"/>
          <a:lstStyle/>
          <a:p>
            <a:pPr algn="ctr"/>
            <a:endParaRPr/>
          </a:p>
        </p:txBody>
      </p:sp>
      <p:sp>
        <p:nvSpPr>
          <p:cNvPr id="32" name="TextBox 31"/>
          <p:cNvSpPr txBox="1"/>
          <p:nvPr/>
        </p:nvSpPr>
        <p:spPr>
          <a:xfrm>
            <a:off x="7848295" y="1737360"/>
            <a:ext cx="3383280" cy="731520"/>
          </a:xfrm>
          <a:prstGeom prst="rect">
            <a:avLst/>
          </a:prstGeom>
          <a:noFill/>
        </p:spPr>
        <p:txBody>
          <a:bodyPr wrap="square" lIns="0" tIns="0" rIns="0" bIns="0" anchor="ctr">
            <a:noAutofit/>
          </a:bodyPr>
          <a:lstStyle/>
          <a:p>
            <a:pPr marL="0" indent="0" algn="l">
              <a:lnSpc>
                <a:spcPct val="100000"/>
              </a:lnSpc>
              <a:spcBef>
                <a:spcPts val="0"/>
              </a:spcBef>
              <a:buNone/>
            </a:pPr>
            <a:r>
              <a:rPr lang="en-AU" sz="1900" b="1">
                <a:solidFill>
                  <a:srgbClr val="3D2A6B"/>
                </a:solidFill>
                <a:latin typeface="Arial"/>
                <a:ea typeface="Arial"/>
                <a:cs typeface="Arial"/>
              </a:rPr>
              <a:t>Seeing other perspectives</a:t>
            </a:r>
          </a:p>
        </p:txBody>
      </p:sp>
      <p:sp>
        <p:nvSpPr>
          <p:cNvPr id="33" name="Rounded Rectangle 32"/>
          <p:cNvSpPr/>
          <p:nvPr/>
        </p:nvSpPr>
        <p:spPr>
          <a:xfrm>
            <a:off x="7573975" y="2624328"/>
            <a:ext cx="3931920" cy="914400"/>
          </a:xfrm>
          <a:prstGeom prst="roundRect">
            <a:avLst>
              <a:gd name="adj" fmla="val 25000"/>
            </a:avLst>
          </a:prstGeom>
          <a:solidFill>
            <a:srgbClr val="F3F0FA"/>
          </a:solidFill>
          <a:ln>
            <a:noFill/>
          </a:ln>
        </p:spPr>
        <p:txBody>
          <a:bodyPr rtlCol="0" anchor="ctr"/>
          <a:lstStyle/>
          <a:p>
            <a:pPr algn="ctr"/>
            <a:endParaRPr/>
          </a:p>
        </p:txBody>
      </p:sp>
      <p:sp>
        <p:nvSpPr>
          <p:cNvPr id="34" name="TextBox 33"/>
          <p:cNvSpPr txBox="1"/>
          <p:nvPr/>
        </p:nvSpPr>
        <p:spPr>
          <a:xfrm>
            <a:off x="7848295" y="2624328"/>
            <a:ext cx="3383280" cy="914400"/>
          </a:xfrm>
          <a:prstGeom prst="rect">
            <a:avLst/>
          </a:prstGeom>
          <a:noFill/>
        </p:spPr>
        <p:txBody>
          <a:bodyPr wrap="square" lIns="0" tIns="0" rIns="0" bIns="0" anchor="ctr">
            <a:noAutofit/>
          </a:bodyPr>
          <a:lstStyle/>
          <a:p>
            <a:pPr marL="0" indent="0" algn="l">
              <a:lnSpc>
                <a:spcPct val="100000"/>
              </a:lnSpc>
              <a:spcBef>
                <a:spcPts val="0"/>
              </a:spcBef>
              <a:buNone/>
            </a:pPr>
            <a:r>
              <a:rPr lang="en-AU" sz="1700" b="1">
                <a:solidFill>
                  <a:srgbClr val="3D2A6B"/>
                </a:solidFill>
                <a:latin typeface="Arial"/>
                <a:ea typeface="Arial"/>
                <a:cs typeface="Arial"/>
              </a:rPr>
              <a:t>Invite curiosity: How could we work together for better learning outcomes?</a:t>
            </a:r>
          </a:p>
        </p:txBody>
      </p:sp>
      <p:sp>
        <p:nvSpPr>
          <p:cNvPr id="35" name="Rounded Rectangle 34"/>
          <p:cNvSpPr/>
          <p:nvPr/>
        </p:nvSpPr>
        <p:spPr>
          <a:xfrm>
            <a:off x="7573975" y="3694176"/>
            <a:ext cx="3931920" cy="731520"/>
          </a:xfrm>
          <a:prstGeom prst="roundRect">
            <a:avLst>
              <a:gd name="adj" fmla="val 25000"/>
            </a:avLst>
          </a:prstGeom>
          <a:solidFill>
            <a:srgbClr val="F3F0FA"/>
          </a:solidFill>
          <a:ln>
            <a:noFill/>
          </a:ln>
        </p:spPr>
        <p:txBody>
          <a:bodyPr rtlCol="0" anchor="ctr"/>
          <a:lstStyle/>
          <a:p>
            <a:pPr algn="ctr"/>
            <a:endParaRPr/>
          </a:p>
        </p:txBody>
      </p:sp>
      <p:sp>
        <p:nvSpPr>
          <p:cNvPr id="36" name="TextBox 35"/>
          <p:cNvSpPr txBox="1"/>
          <p:nvPr/>
        </p:nvSpPr>
        <p:spPr>
          <a:xfrm>
            <a:off x="7848295" y="3694176"/>
            <a:ext cx="3383280" cy="731520"/>
          </a:xfrm>
          <a:prstGeom prst="rect">
            <a:avLst/>
          </a:prstGeom>
          <a:noFill/>
        </p:spPr>
        <p:txBody>
          <a:bodyPr wrap="square" lIns="0" tIns="0" rIns="0" bIns="0" anchor="ctr">
            <a:noAutofit/>
          </a:bodyPr>
          <a:lstStyle/>
          <a:p>
            <a:pPr marL="0" indent="0" algn="l">
              <a:lnSpc>
                <a:spcPct val="100000"/>
              </a:lnSpc>
              <a:spcBef>
                <a:spcPts val="0"/>
              </a:spcBef>
              <a:buNone/>
            </a:pPr>
            <a:r>
              <a:rPr lang="en-AU" sz="1900" b="1">
                <a:solidFill>
                  <a:srgbClr val="3D2A6B"/>
                </a:solidFill>
                <a:latin typeface="Arial"/>
                <a:ea typeface="Arial"/>
                <a:cs typeface="Arial"/>
              </a:rPr>
              <a:t>Centring student voice</a:t>
            </a:r>
          </a:p>
        </p:txBody>
      </p:sp>
      <p:sp>
        <p:nvSpPr>
          <p:cNvPr id="37" name="Rounded Rectangle 36"/>
          <p:cNvSpPr/>
          <p:nvPr/>
        </p:nvSpPr>
        <p:spPr>
          <a:xfrm>
            <a:off x="7573975" y="4581144"/>
            <a:ext cx="3931920" cy="731520"/>
          </a:xfrm>
          <a:prstGeom prst="roundRect">
            <a:avLst>
              <a:gd name="adj" fmla="val 25000"/>
            </a:avLst>
          </a:prstGeom>
          <a:solidFill>
            <a:srgbClr val="F3F0FA"/>
          </a:solidFill>
          <a:ln>
            <a:noFill/>
          </a:ln>
        </p:spPr>
        <p:txBody>
          <a:bodyPr rtlCol="0" anchor="ctr"/>
          <a:lstStyle/>
          <a:p>
            <a:pPr algn="ctr"/>
            <a:endParaRPr/>
          </a:p>
        </p:txBody>
      </p:sp>
      <p:sp>
        <p:nvSpPr>
          <p:cNvPr id="38" name="TextBox 37"/>
          <p:cNvSpPr txBox="1"/>
          <p:nvPr/>
        </p:nvSpPr>
        <p:spPr>
          <a:xfrm>
            <a:off x="7848295" y="4581144"/>
            <a:ext cx="3383280" cy="731520"/>
          </a:xfrm>
          <a:prstGeom prst="rect">
            <a:avLst/>
          </a:prstGeom>
          <a:noFill/>
        </p:spPr>
        <p:txBody>
          <a:bodyPr wrap="square" lIns="0" tIns="0" rIns="0" bIns="0" anchor="ctr">
            <a:noAutofit/>
          </a:bodyPr>
          <a:lstStyle/>
          <a:p>
            <a:pPr marL="0" indent="0" algn="l">
              <a:lnSpc>
                <a:spcPct val="100000"/>
              </a:lnSpc>
              <a:spcBef>
                <a:spcPts val="0"/>
              </a:spcBef>
              <a:buNone/>
            </a:pPr>
            <a:r>
              <a:rPr lang="en-AU" sz="1900" b="1">
                <a:solidFill>
                  <a:srgbClr val="3D2A6B"/>
                </a:solidFill>
                <a:latin typeface="Arial"/>
                <a:ea typeface="Arial"/>
                <a:cs typeface="Arial"/>
              </a:rPr>
              <a:t>Assume good intent</a:t>
            </a:r>
          </a:p>
        </p:txBody>
      </p:sp>
    </p:spTree>
    <p:extLst>
      <p:ext uri="{BB962C8B-B14F-4D97-AF65-F5344CB8AC3E}">
        <p14:creationId xmlns:p14="http://schemas.microsoft.com/office/powerpoint/2010/main" val="2825758316"/>
      </p:ext>
    </p:extLst>
  </p:cSld>
  <p:clrMapOvr>
    <a:masterClrMapping/>
  </p:clrMapOvr>
  <p:extLst>
    <p:ext uri="{6950BFC3-D8DA-4A85-94F7-54DA5524770B}">
      <p188:commentRel xmlns:p188="http://schemas.microsoft.com/office/powerpoint/2018/8/main" r:id="rId3"/>
    </p:ext>
  </p:extLst>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Oval 2"/>
          <p:cNvSpPr/>
          <p:nvPr/>
        </p:nvSpPr>
        <p:spPr>
          <a:xfrm>
            <a:off x="8549640" y="3840480"/>
            <a:ext cx="4873752" cy="4873752"/>
          </a:xfrm>
          <a:prstGeom prst="ellipse">
            <a:avLst/>
          </a:prstGeom>
          <a:solidFill>
            <a:srgbClr val="EDE8F8"/>
          </a:solidFill>
          <a:ln>
            <a:noFill/>
          </a:ln>
        </p:spPr>
        <p:txBody>
          <a:bodyPr rtlCol="0" anchor="ctr"/>
          <a:lstStyle/>
          <a:p>
            <a:pPr algn="ctr"/>
          </a:p>
        </p:txBody>
      </p:sp>
      <p:sp>
        <p:nvSpPr>
          <p:cNvPr id="2" name="Title"/>
          <p:cNvSpPr txBox="1"/>
          <p:nvPr/>
        </p:nvSpPr>
        <p:spPr>
          <a:xfrm>
            <a:off x="685800" y="457200"/>
            <a:ext cx="10789920" cy="777240"/>
          </a:xfrm>
          <a:prstGeom prst="rect">
            <a:avLst/>
          </a:prstGeom>
          <a:noFill/>
        </p:spPr>
        <p:txBody>
          <a:bodyPr wrap="square" lIns="0" rIns="0" tIns="0" bIns="0" anchor="t">
            <a:noAutofit/>
          </a:bodyPr>
          <a:lstStyle/>
          <a:p>
            <a:pPr algn="l" marL="0" indent="0">
              <a:lnSpc>
                <a:spcPct val="95000"/>
              </a:lnSpc>
              <a:spcBef>
                <a:spcPts val="0"/>
              </a:spcBef>
              <a:buNone/>
            </a:pPr>
            <a:r>
              <a:rPr lang="en-AU" sz="3600" b="0">
                <a:solidFill>
                  <a:srgbClr val="584099"/>
                </a:solidFill>
                <a:latin typeface="Arial Black"/>
                <a:ea typeface="Arial Black"/>
                <a:cs typeface="Arial Black"/>
              </a:rPr>
              <a:t>Families near the start of the journey</a:t>
            </a:r>
          </a:p>
        </p:txBody>
      </p:sp>
      <p:sp>
        <p:nvSpPr>
          <p:cNvPr id="4" name="TextBox 3"/>
          <p:cNvSpPr txBox="1"/>
          <p:nvPr/>
        </p:nvSpPr>
        <p:spPr>
          <a:xfrm>
            <a:off x="685800" y="1325880"/>
            <a:ext cx="10789920" cy="548640"/>
          </a:xfrm>
          <a:prstGeom prst="rect">
            <a:avLst/>
          </a:prstGeom>
          <a:noFill/>
        </p:spPr>
        <p:txBody>
          <a:bodyPr wrap="square" lIns="0" rIns="0" tIns="0" bIns="0" anchor="t">
            <a:noAutofit/>
          </a:bodyPr>
          <a:lstStyle/>
          <a:p>
            <a:pPr algn="l" marL="0" indent="0">
              <a:lnSpc>
                <a:spcPct val="100000"/>
              </a:lnSpc>
              <a:spcBef>
                <a:spcPts val="0"/>
              </a:spcBef>
              <a:buNone/>
            </a:pPr>
            <a:r>
              <a:rPr lang="en-AU" sz="2000" b="1">
                <a:solidFill>
                  <a:srgbClr val="3D2A6B"/>
                </a:solidFill>
                <a:latin typeface="Arial"/>
                <a:ea typeface="Arial"/>
                <a:cs typeface="Arial"/>
              </a:rPr>
              <a:t>Start with where the family is now.</a:t>
            </a:r>
          </a:p>
        </p:txBody>
      </p:sp>
      <p:sp>
        <p:nvSpPr>
          <p:cNvPr id="5" name="Rounded Rectangle 4"/>
          <p:cNvSpPr/>
          <p:nvPr/>
        </p:nvSpPr>
        <p:spPr>
          <a:xfrm>
            <a:off x="685800" y="2103120"/>
            <a:ext cx="2554148" cy="2651760"/>
          </a:xfrm>
          <a:prstGeom prst="roundRect">
            <a:avLst>
              <a:gd name="adj" fmla="val 10000"/>
            </a:avLst>
          </a:prstGeom>
          <a:solidFill>
            <a:srgbClr val="F3F0FA"/>
          </a:solidFill>
          <a:ln>
            <a:noFill/>
          </a:ln>
        </p:spPr>
        <p:txBody>
          <a:bodyPr rtlCol="0" anchor="ctr"/>
          <a:lstStyle/>
          <a:p>
            <a:pPr algn="ctr"/>
          </a:p>
        </p:txBody>
      </p:sp>
      <p:sp>
        <p:nvSpPr>
          <p:cNvPr id="6" name="TextBox 5"/>
          <p:cNvSpPr txBox="1"/>
          <p:nvPr/>
        </p:nvSpPr>
        <p:spPr>
          <a:xfrm>
            <a:off x="960120" y="2377440"/>
            <a:ext cx="2005508" cy="2194560"/>
          </a:xfrm>
          <a:prstGeom prst="rect">
            <a:avLst/>
          </a:prstGeom>
          <a:noFill/>
        </p:spPr>
        <p:txBody>
          <a:bodyPr wrap="square" lIns="0" rIns="0" tIns="0" bIns="0" anchor="t">
            <a:noAutofit/>
          </a:bodyPr>
          <a:lstStyle/>
          <a:p>
            <a:pPr algn="l" marL="0" indent="0">
              <a:lnSpc>
                <a:spcPct val="100000"/>
              </a:lnSpc>
              <a:spcBef>
                <a:spcPts val="0"/>
              </a:spcBef>
              <a:buNone/>
            </a:pPr>
            <a:r>
              <a:rPr lang="en-AU" sz="2000" b="1">
                <a:solidFill>
                  <a:srgbClr val="584099"/>
                </a:solidFill>
                <a:latin typeface="Arial"/>
                <a:ea typeface="Arial"/>
                <a:cs typeface="Arial"/>
              </a:rPr>
              <a:t>Around diagnosis</a:t>
            </a:r>
          </a:p>
          <a:p>
            <a:pPr algn="l" marL="0" indent="0">
              <a:lnSpc>
                <a:spcPct val="100000"/>
              </a:lnSpc>
              <a:spcBef>
                <a:spcPts val="800"/>
              </a:spcBef>
              <a:buNone/>
            </a:pPr>
            <a:r>
              <a:rPr lang="en-AU" sz="1600" b="0">
                <a:solidFill>
                  <a:srgbClr val="3D2A6B"/>
                </a:solidFill>
                <a:latin typeface="Arial"/>
                <a:ea typeface="Arial"/>
                <a:cs typeface="Arial"/>
              </a:rPr>
              <a:t>Some families are new to autism, new terms and new services.</a:t>
            </a:r>
          </a:p>
        </p:txBody>
      </p:sp>
      <p:sp>
        <p:nvSpPr>
          <p:cNvPr id="7" name="Rounded Rectangle 6"/>
          <p:cNvSpPr/>
          <p:nvPr/>
        </p:nvSpPr>
        <p:spPr>
          <a:xfrm>
            <a:off x="3441116" y="2103120"/>
            <a:ext cx="2554148" cy="2651760"/>
          </a:xfrm>
          <a:prstGeom prst="roundRect">
            <a:avLst>
              <a:gd name="adj" fmla="val 10000"/>
            </a:avLst>
          </a:prstGeom>
          <a:solidFill>
            <a:srgbClr val="F3F0FA"/>
          </a:solidFill>
          <a:ln>
            <a:noFill/>
          </a:ln>
        </p:spPr>
        <p:txBody>
          <a:bodyPr rtlCol="0" anchor="ctr"/>
          <a:lstStyle/>
          <a:p>
            <a:pPr algn="ctr"/>
          </a:p>
        </p:txBody>
      </p:sp>
      <p:sp>
        <p:nvSpPr>
          <p:cNvPr id="8" name="TextBox 7"/>
          <p:cNvSpPr txBox="1"/>
          <p:nvPr/>
        </p:nvSpPr>
        <p:spPr>
          <a:xfrm>
            <a:off x="3715436" y="2377440"/>
            <a:ext cx="2005508" cy="2194560"/>
          </a:xfrm>
          <a:prstGeom prst="rect">
            <a:avLst/>
          </a:prstGeom>
          <a:noFill/>
        </p:spPr>
        <p:txBody>
          <a:bodyPr wrap="square" lIns="0" rIns="0" tIns="0" bIns="0" anchor="t">
            <a:noAutofit/>
          </a:bodyPr>
          <a:lstStyle/>
          <a:p>
            <a:pPr algn="l" marL="0" indent="0">
              <a:lnSpc>
                <a:spcPct val="100000"/>
              </a:lnSpc>
              <a:spcBef>
                <a:spcPts val="0"/>
              </a:spcBef>
              <a:buNone/>
            </a:pPr>
            <a:r>
              <a:rPr lang="en-AU" sz="2000" b="1">
                <a:solidFill>
                  <a:srgbClr val="584099"/>
                </a:solidFill>
                <a:latin typeface="Arial"/>
                <a:ea typeface="Arial"/>
                <a:cs typeface="Arial"/>
              </a:rPr>
              <a:t>First meetings</a:t>
            </a:r>
          </a:p>
          <a:p>
            <a:pPr algn="l" marL="0" indent="0">
              <a:lnSpc>
                <a:spcPct val="100000"/>
              </a:lnSpc>
              <a:spcBef>
                <a:spcPts val="800"/>
              </a:spcBef>
              <a:buNone/>
            </a:pPr>
            <a:r>
              <a:rPr lang="en-AU" sz="1600" b="0">
                <a:solidFill>
                  <a:srgbClr val="3D2A6B"/>
                </a:solidFill>
                <a:latin typeface="Arial"/>
                <a:ea typeface="Arial"/>
                <a:cs typeface="Arial"/>
              </a:rPr>
              <a:t>Meeting a new teacher can bring back earlier experiences with school.</a:t>
            </a:r>
          </a:p>
        </p:txBody>
      </p:sp>
      <p:sp>
        <p:nvSpPr>
          <p:cNvPr id="9" name="Rounded Rectangle 8"/>
          <p:cNvSpPr/>
          <p:nvPr/>
        </p:nvSpPr>
        <p:spPr>
          <a:xfrm>
            <a:off x="6196432" y="2103120"/>
            <a:ext cx="2554148" cy="2651760"/>
          </a:xfrm>
          <a:prstGeom prst="roundRect">
            <a:avLst>
              <a:gd name="adj" fmla="val 10000"/>
            </a:avLst>
          </a:prstGeom>
          <a:solidFill>
            <a:srgbClr val="F3F0FA"/>
          </a:solidFill>
          <a:ln>
            <a:noFill/>
          </a:ln>
        </p:spPr>
        <p:txBody>
          <a:bodyPr rtlCol="0" anchor="ctr"/>
          <a:lstStyle/>
          <a:p>
            <a:pPr algn="ctr"/>
          </a:p>
        </p:txBody>
      </p:sp>
      <p:sp>
        <p:nvSpPr>
          <p:cNvPr id="10" name="TextBox 9"/>
          <p:cNvSpPr txBox="1"/>
          <p:nvPr/>
        </p:nvSpPr>
        <p:spPr>
          <a:xfrm>
            <a:off x="6470752" y="2377440"/>
            <a:ext cx="2005508" cy="2194560"/>
          </a:xfrm>
          <a:prstGeom prst="rect">
            <a:avLst/>
          </a:prstGeom>
          <a:noFill/>
        </p:spPr>
        <p:txBody>
          <a:bodyPr wrap="square" lIns="0" rIns="0" tIns="0" bIns="0" anchor="t">
            <a:noAutofit/>
          </a:bodyPr>
          <a:lstStyle/>
          <a:p>
            <a:pPr algn="l" marL="0" indent="0">
              <a:lnSpc>
                <a:spcPct val="100000"/>
              </a:lnSpc>
              <a:spcBef>
                <a:spcPts val="0"/>
              </a:spcBef>
              <a:buNone/>
            </a:pPr>
            <a:r>
              <a:rPr lang="en-AU" sz="2000" b="1">
                <a:solidFill>
                  <a:srgbClr val="584099"/>
                </a:solidFill>
                <a:latin typeface="Arial"/>
                <a:ea typeface="Arial"/>
                <a:cs typeface="Arial"/>
              </a:rPr>
              <a:t>Transition points</a:t>
            </a:r>
          </a:p>
          <a:p>
            <a:pPr algn="l" marL="0" indent="0">
              <a:lnSpc>
                <a:spcPct val="100000"/>
              </a:lnSpc>
              <a:spcBef>
                <a:spcPts val="800"/>
              </a:spcBef>
              <a:buNone/>
            </a:pPr>
            <a:r>
              <a:rPr lang="en-AU" sz="1600" b="0">
                <a:solidFill>
                  <a:srgbClr val="3D2A6B"/>
                </a:solidFill>
                <a:latin typeface="Arial"/>
                <a:ea typeface="Arial"/>
                <a:cs typeface="Arial"/>
              </a:rPr>
              <a:t>Starting school, a new year or a new school can be a hard time.</a:t>
            </a:r>
          </a:p>
        </p:txBody>
      </p:sp>
      <p:sp>
        <p:nvSpPr>
          <p:cNvPr id="11" name="Rounded Rectangle 10"/>
          <p:cNvSpPr/>
          <p:nvPr/>
        </p:nvSpPr>
        <p:spPr>
          <a:xfrm>
            <a:off x="8951747" y="2103120"/>
            <a:ext cx="2554148" cy="2651760"/>
          </a:xfrm>
          <a:prstGeom prst="roundRect">
            <a:avLst>
              <a:gd name="adj" fmla="val 10000"/>
            </a:avLst>
          </a:prstGeom>
          <a:solidFill>
            <a:srgbClr val="F3F0FA"/>
          </a:solidFill>
          <a:ln>
            <a:noFill/>
          </a:ln>
        </p:spPr>
        <p:txBody>
          <a:bodyPr rtlCol="0" anchor="ctr"/>
          <a:lstStyle/>
          <a:p>
            <a:pPr algn="ctr"/>
          </a:p>
        </p:txBody>
      </p:sp>
      <p:sp>
        <p:nvSpPr>
          <p:cNvPr id="12" name="TextBox 11"/>
          <p:cNvSpPr txBox="1"/>
          <p:nvPr/>
        </p:nvSpPr>
        <p:spPr>
          <a:xfrm>
            <a:off x="9226067" y="2377440"/>
            <a:ext cx="2005508" cy="2194560"/>
          </a:xfrm>
          <a:prstGeom prst="rect">
            <a:avLst/>
          </a:prstGeom>
          <a:noFill/>
        </p:spPr>
        <p:txBody>
          <a:bodyPr wrap="square" lIns="0" rIns="0" tIns="0" bIns="0" anchor="t">
            <a:noAutofit/>
          </a:bodyPr>
          <a:lstStyle/>
          <a:p>
            <a:pPr algn="l" marL="0" indent="0">
              <a:lnSpc>
                <a:spcPct val="100000"/>
              </a:lnSpc>
              <a:spcBef>
                <a:spcPts val="0"/>
              </a:spcBef>
              <a:buNone/>
            </a:pPr>
            <a:r>
              <a:rPr lang="en-AU" sz="2000" b="1">
                <a:solidFill>
                  <a:srgbClr val="584099"/>
                </a:solidFill>
                <a:latin typeface="Arial"/>
                <a:ea typeface="Arial"/>
                <a:cs typeface="Arial"/>
              </a:rPr>
              <a:t>What helps</a:t>
            </a:r>
          </a:p>
          <a:p>
            <a:pPr algn="l" marL="0" indent="0">
              <a:lnSpc>
                <a:spcPct val="100000"/>
              </a:lnSpc>
              <a:spcBef>
                <a:spcPts val="800"/>
              </a:spcBef>
              <a:buNone/>
            </a:pPr>
            <a:r>
              <a:rPr lang="en-AU" sz="1600" b="0">
                <a:solidFill>
                  <a:srgbClr val="3D2A6B"/>
                </a:solidFill>
                <a:latin typeface="Arial"/>
                <a:ea typeface="Arial"/>
                <a:cs typeface="Arial"/>
              </a:rPr>
              <a:t>A clear purpose, plain language, time for questions and a next step everyone understands.</a:t>
            </a:r>
          </a:p>
        </p:txBody>
      </p:sp>
      <p:sp>
        <p:nvSpPr>
          <p:cNvPr id="13" name="Rounded Rectangle 12"/>
          <p:cNvSpPr/>
          <p:nvPr/>
        </p:nvSpPr>
        <p:spPr>
          <a:xfrm>
            <a:off x="685800" y="5257800"/>
            <a:ext cx="10820095" cy="566928"/>
          </a:xfrm>
          <a:prstGeom prst="roundRect">
            <a:avLst>
              <a:gd name="adj" fmla="val 50000"/>
            </a:avLst>
          </a:prstGeom>
          <a:solidFill>
            <a:srgbClr val="FFFFFF"/>
          </a:solidFill>
          <a:ln w="19050">
            <a:solidFill>
              <a:srgbClr val="584099"/>
            </a:solidFill>
          </a:ln>
        </p:spPr>
        <p:txBody>
          <a:bodyPr rtlCol="0" anchor="ctr"/>
          <a:lstStyle/>
          <a:p>
            <a:pPr algn="ctr"/>
          </a:p>
        </p:txBody>
      </p:sp>
      <p:sp>
        <p:nvSpPr>
          <p:cNvPr id="14" name="TextBox 13"/>
          <p:cNvSpPr txBox="1"/>
          <p:nvPr/>
        </p:nvSpPr>
        <p:spPr>
          <a:xfrm>
            <a:off x="960120" y="5257800"/>
            <a:ext cx="10271455" cy="566928"/>
          </a:xfrm>
          <a:prstGeom prst="rect">
            <a:avLst/>
          </a:prstGeom>
          <a:noFill/>
        </p:spPr>
        <p:txBody>
          <a:bodyPr wrap="square" lIns="0" rIns="0" tIns="0" bIns="0" anchor="ctr">
            <a:noAutofit/>
          </a:bodyPr>
          <a:lstStyle/>
          <a:p>
            <a:pPr algn="ctr" marL="0" indent="0">
              <a:lnSpc>
                <a:spcPct val="100000"/>
              </a:lnSpc>
              <a:spcBef>
                <a:spcPts val="0"/>
              </a:spcBef>
              <a:buNone/>
            </a:pPr>
            <a:r>
              <a:rPr lang="en-AU" sz="1800" b="1">
                <a:solidFill>
                  <a:srgbClr val="584099"/>
                </a:solidFill>
                <a:latin typeface="Arial"/>
                <a:ea typeface="Arial"/>
                <a:cs typeface="Arial"/>
              </a:rPr>
              <a:t>You don't need every answer. Curiosity and clear information help more.</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040FC69C-54F3-05A7-B346-4E036CA9F2D3}"/>
              </a:ext>
            </a:extLst>
          </p:cNvPr>
          <p:cNvPicPr>
            <a:picLocks noChangeAspect="1"/>
          </p:cNvPicPr>
          <p:nvPr/>
        </p:nvPicPr>
        <p:blipFill>
          <a:blip r:embed="rId4"/>
          <a:stretch>
            <a:fillRect/>
          </a:stretch>
        </p:blipFill>
        <p:spPr>
          <a:xfrm>
            <a:off x="5078454" y="2003743"/>
            <a:ext cx="6608395" cy="3094461"/>
          </a:xfrm>
          <a:prstGeom prst="rect">
            <a:avLst/>
          </a:prstGeom>
        </p:spPr>
      </p:pic>
      <p:sp>
        <p:nvSpPr>
          <p:cNvPr id="3" name="Title 3">
            <a:extLst>
              <a:ext uri="{FF2B5EF4-FFF2-40B4-BE49-F238E27FC236}">
                <a16:creationId xmlns:a16="http://schemas.microsoft.com/office/drawing/2014/main" id="{017F69A2-4E80-48E0-BDCA-6D087D9DE7AF}"/>
              </a:ext>
            </a:extLst>
          </p:cNvPr>
          <p:cNvSpPr txBox="1">
            <a:spLocks/>
          </p:cNvSpPr>
          <p:nvPr/>
        </p:nvSpPr>
        <p:spPr>
          <a:xfrm>
            <a:off x="685800" y="457200"/>
            <a:ext cx="10789920" cy="777240"/>
          </a:xfrm>
          <a:prstGeom prst="rect">
            <a:avLst/>
          </a:prstGeom>
        </p:spPr>
        <p:txBody>
          <a:bodyPr wrap="square" lIns="0" tIns="0" rIns="0" bIns="0" anchor="t">
            <a:noAutofit/>
          </a:bodyPr>
          <a:lstStyle>
            <a:lvl1pPr algn="l" defTabSz="914400" rtl="0" eaLnBrk="1" latinLnBrk="0" hangingPunct="1">
              <a:lnSpc>
                <a:spcPct val="90000"/>
              </a:lnSpc>
              <a:spcBef>
                <a:spcPct val="0"/>
              </a:spcBef>
              <a:buNone/>
              <a:defRPr sz="4400" b="1" kern="1200">
                <a:solidFill>
                  <a:schemeClr val="tx1"/>
                </a:solidFill>
                <a:latin typeface="+mj-lt"/>
                <a:ea typeface="+mj-ea"/>
                <a:cs typeface="+mj-cs"/>
              </a:defRPr>
            </a:lvl1pPr>
          </a:lstStyle>
          <a:p>
            <a:pPr marL="0" indent="0" algn="l">
              <a:lnSpc>
                <a:spcPct val="95000"/>
              </a:lnSpc>
              <a:spcBef>
                <a:spcPts val="0"/>
              </a:spcBef>
              <a:buNone/>
            </a:pPr>
            <a:r>
              <a:rPr lang="en-AU" sz="3600" b="0">
                <a:solidFill>
                  <a:srgbClr val="584099"/>
                </a:solidFill>
                <a:latin typeface="Arial Black"/>
                <a:ea typeface="Arial Black"/>
                <a:cs typeface="Arial Black"/>
              </a:rPr>
              <a:t>Power dynamics</a:t>
            </a:r>
          </a:p>
        </p:txBody>
      </p:sp>
      <p:sp>
        <p:nvSpPr>
          <p:cNvPr id="5" name="TextBox 4">
            <a:extLst>
              <a:ext uri="{FF2B5EF4-FFF2-40B4-BE49-F238E27FC236}">
                <a16:creationId xmlns:a16="http://schemas.microsoft.com/office/drawing/2014/main" id="{5C3E7BD3-ACD6-4A5D-B3A7-83716831489D}"/>
              </a:ext>
            </a:extLst>
          </p:cNvPr>
          <p:cNvSpPr txBox="1"/>
          <p:nvPr/>
        </p:nvSpPr>
        <p:spPr>
          <a:xfrm>
            <a:off x="9123426" y="4227460"/>
            <a:ext cx="1887474" cy="584775"/>
          </a:xfrm>
          <a:prstGeom prst="rect">
            <a:avLst/>
          </a:prstGeom>
          <a:noFill/>
        </p:spPr>
        <p:txBody>
          <a:bodyPr wrap="square" rtlCol="0">
            <a:spAutoFit/>
          </a:bodyPr>
          <a:lstStyle/>
          <a:p>
            <a:pPr algn="ctr"/>
            <a:r>
              <a:rPr lang="en-AU" sz="2000" b="1">
                <a:solidFill>
                  <a:srgbClr val="3D2A6B"/>
                </a:solidFill>
                <a:latin typeface="Arial Black" panose="020B0A04020102020204" pitchFamily="34" charset="0"/>
                <a:cs typeface="Arial" panose="020B0604020202020204" pitchFamily="34" charset="0"/>
              </a:rPr>
              <a:t>School</a:t>
            </a:r>
          </a:p>
        </p:txBody>
      </p:sp>
      <p:sp>
        <p:nvSpPr>
          <p:cNvPr id="8" name="TextBox 7">
            <a:extLst>
              <a:ext uri="{FF2B5EF4-FFF2-40B4-BE49-F238E27FC236}">
                <a16:creationId xmlns:a16="http://schemas.microsoft.com/office/drawing/2014/main" id="{A39AF474-49DB-4994-9B0B-E907B650A5BE}"/>
              </a:ext>
            </a:extLst>
          </p:cNvPr>
          <p:cNvSpPr txBox="1"/>
          <p:nvPr/>
        </p:nvSpPr>
        <p:spPr>
          <a:xfrm>
            <a:off x="5424419" y="4227461"/>
            <a:ext cx="1751167" cy="584775"/>
          </a:xfrm>
          <a:prstGeom prst="rect">
            <a:avLst/>
          </a:prstGeom>
          <a:noFill/>
        </p:spPr>
        <p:txBody>
          <a:bodyPr wrap="square" rtlCol="0">
            <a:spAutoFit/>
          </a:bodyPr>
          <a:lstStyle/>
          <a:p>
            <a:pPr algn="ctr"/>
            <a:r>
              <a:rPr lang="en-AU" sz="2000" b="1">
                <a:solidFill>
                  <a:srgbClr val="3D2A6B"/>
                </a:solidFill>
                <a:latin typeface="Arial Black" panose="020B0A04020102020204" pitchFamily="34" charset="0"/>
                <a:cs typeface="Arial" panose="020B0604020202020204" pitchFamily="34" charset="0"/>
              </a:rPr>
              <a:t>Home</a:t>
            </a:r>
          </a:p>
        </p:txBody>
      </p:sp>
      <p:pic>
        <p:nvPicPr>
          <p:cNvPr id="7" name="Graphic 6" descr="Confused person">
            <a:extLst>
              <a:ext uri="{FF2B5EF4-FFF2-40B4-BE49-F238E27FC236}">
                <a16:creationId xmlns:a16="http://schemas.microsoft.com/office/drawing/2014/main" id="{5436BB0C-EB1E-4C4A-A071-D6F24BFC669F}"/>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7502768" y="2132525"/>
            <a:ext cx="1503427" cy="1418449"/>
          </a:xfrm>
          <a:prstGeom prst="rect">
            <a:avLst/>
          </a:prstGeom>
        </p:spPr>
      </p:pic>
      <p:sp>
        <p:nvSpPr>
          <p:cNvPr id="9" name="TextBox 8">
            <a:extLst>
              <a:ext uri="{FF2B5EF4-FFF2-40B4-BE49-F238E27FC236}">
                <a16:creationId xmlns:a16="http://schemas.microsoft.com/office/drawing/2014/main" id="{FB9EA08C-CE5C-4006-A049-2F14C8C74149}"/>
              </a:ext>
            </a:extLst>
          </p:cNvPr>
          <p:cNvSpPr txBox="1"/>
          <p:nvPr/>
        </p:nvSpPr>
        <p:spPr>
          <a:xfrm>
            <a:off x="7255326" y="1283934"/>
            <a:ext cx="1998309" cy="584775"/>
          </a:xfrm>
          <a:prstGeom prst="rect">
            <a:avLst/>
          </a:prstGeom>
          <a:noFill/>
        </p:spPr>
        <p:txBody>
          <a:bodyPr wrap="square" rtlCol="0">
            <a:spAutoFit/>
          </a:bodyPr>
          <a:lstStyle/>
          <a:p>
            <a:pPr algn="ctr"/>
            <a:r>
              <a:rPr lang="en-AU" sz="2000" b="1">
                <a:solidFill>
                  <a:srgbClr val="3D2A6B"/>
                </a:solidFill>
                <a:latin typeface="Arial Black" panose="020B0A04020102020204" pitchFamily="34" charset="0"/>
                <a:cs typeface="Arial" panose="020B0604020202020204" pitchFamily="34" charset="0"/>
              </a:rPr>
              <a:t>Student</a:t>
            </a:r>
          </a:p>
        </p:txBody>
      </p:sp>
      <p:sp>
        <p:nvSpPr>
          <p:cNvPr id="11" name="TextBox 10"/>
          <p:cNvSpPr txBox="1"/>
          <p:nvPr/>
        </p:nvSpPr>
        <p:spPr>
          <a:xfrm>
            <a:off x="685800" y="1325880"/>
            <a:ext cx="4206240" cy="457200"/>
          </a:xfrm>
          <a:prstGeom prst="rect">
            <a:avLst/>
          </a:prstGeom>
          <a:noFill/>
        </p:spPr>
        <p:txBody>
          <a:bodyPr wrap="square" lIns="0" tIns="0" rIns="0" bIns="0" anchor="t">
            <a:noAutofit/>
          </a:bodyPr>
          <a:lstStyle/>
          <a:p>
            <a:pPr marL="0" indent="0" algn="l">
              <a:lnSpc>
                <a:spcPct val="100000"/>
              </a:lnSpc>
              <a:spcBef>
                <a:spcPts val="0"/>
              </a:spcBef>
              <a:buNone/>
            </a:pPr>
            <a:r>
              <a:rPr lang="en-AU" sz="2000" b="1">
                <a:solidFill>
                  <a:srgbClr val="3D2A6B"/>
                </a:solidFill>
                <a:latin typeface="Arial"/>
                <a:ea typeface="Arial"/>
                <a:cs typeface="Arial"/>
              </a:rPr>
              <a:t>Power can sit in:</a:t>
            </a:r>
          </a:p>
        </p:txBody>
      </p:sp>
      <p:sp>
        <p:nvSpPr>
          <p:cNvPr id="12" name="Rounded Rectangle 11"/>
          <p:cNvSpPr/>
          <p:nvPr/>
        </p:nvSpPr>
        <p:spPr>
          <a:xfrm>
            <a:off x="685800" y="1874520"/>
            <a:ext cx="4206240" cy="713232"/>
          </a:xfrm>
          <a:prstGeom prst="roundRect">
            <a:avLst>
              <a:gd name="adj" fmla="val 20000"/>
            </a:avLst>
          </a:prstGeom>
          <a:solidFill>
            <a:srgbClr val="F3F0FA"/>
          </a:solidFill>
          <a:ln>
            <a:noFill/>
          </a:ln>
        </p:spPr>
        <p:txBody>
          <a:bodyPr rtlCol="0" anchor="ctr"/>
          <a:lstStyle/>
          <a:p>
            <a:pPr algn="ctr"/>
            <a:endParaRPr/>
          </a:p>
        </p:txBody>
      </p:sp>
      <p:sp>
        <p:nvSpPr>
          <p:cNvPr id="13" name="TextBox 12"/>
          <p:cNvSpPr txBox="1"/>
          <p:nvPr/>
        </p:nvSpPr>
        <p:spPr>
          <a:xfrm>
            <a:off x="960120" y="1874520"/>
            <a:ext cx="3657600" cy="713232"/>
          </a:xfrm>
          <a:prstGeom prst="rect">
            <a:avLst/>
          </a:prstGeom>
          <a:noFill/>
        </p:spPr>
        <p:txBody>
          <a:bodyPr wrap="square" lIns="0" tIns="0" rIns="0" bIns="0" anchor="ctr">
            <a:noAutofit/>
          </a:bodyPr>
          <a:lstStyle/>
          <a:p>
            <a:pPr marL="0" indent="0" algn="l">
              <a:lnSpc>
                <a:spcPct val="100000"/>
              </a:lnSpc>
              <a:spcBef>
                <a:spcPts val="0"/>
              </a:spcBef>
              <a:buNone/>
            </a:pPr>
            <a:r>
              <a:rPr lang="en-AU" sz="1500" b="1">
                <a:solidFill>
                  <a:srgbClr val="3D2A6B"/>
                </a:solidFill>
                <a:latin typeface="Arial"/>
                <a:ea typeface="Arial"/>
                <a:cs typeface="Arial"/>
              </a:rPr>
              <a:t>Socio-economic status</a:t>
            </a:r>
          </a:p>
        </p:txBody>
      </p:sp>
      <p:sp>
        <p:nvSpPr>
          <p:cNvPr id="14" name="Rounded Rectangle 13"/>
          <p:cNvSpPr/>
          <p:nvPr/>
        </p:nvSpPr>
        <p:spPr>
          <a:xfrm>
            <a:off x="685800" y="2697480"/>
            <a:ext cx="4206240" cy="713232"/>
          </a:xfrm>
          <a:prstGeom prst="roundRect">
            <a:avLst>
              <a:gd name="adj" fmla="val 20000"/>
            </a:avLst>
          </a:prstGeom>
          <a:solidFill>
            <a:srgbClr val="F3F0FA"/>
          </a:solidFill>
          <a:ln>
            <a:noFill/>
          </a:ln>
        </p:spPr>
        <p:txBody>
          <a:bodyPr rtlCol="0" anchor="ctr"/>
          <a:lstStyle/>
          <a:p>
            <a:pPr algn="ctr"/>
            <a:endParaRPr/>
          </a:p>
        </p:txBody>
      </p:sp>
      <p:sp>
        <p:nvSpPr>
          <p:cNvPr id="15" name="TextBox 14"/>
          <p:cNvSpPr txBox="1"/>
          <p:nvPr/>
        </p:nvSpPr>
        <p:spPr>
          <a:xfrm>
            <a:off x="960120" y="2697480"/>
            <a:ext cx="3657600" cy="713232"/>
          </a:xfrm>
          <a:prstGeom prst="rect">
            <a:avLst/>
          </a:prstGeom>
          <a:noFill/>
        </p:spPr>
        <p:txBody>
          <a:bodyPr wrap="square" lIns="0" tIns="0" rIns="0" bIns="0" anchor="ctr">
            <a:noAutofit/>
          </a:bodyPr>
          <a:lstStyle/>
          <a:p>
            <a:pPr marL="0" indent="0" algn="l">
              <a:lnSpc>
                <a:spcPct val="100000"/>
              </a:lnSpc>
              <a:spcBef>
                <a:spcPts val="0"/>
              </a:spcBef>
              <a:buNone/>
            </a:pPr>
            <a:r>
              <a:rPr lang="en-AU" sz="1500" b="1">
                <a:solidFill>
                  <a:srgbClr val="3D2A6B"/>
                </a:solidFill>
                <a:latin typeface="Arial"/>
                <a:ea typeface="Arial"/>
                <a:cs typeface="Arial"/>
              </a:rPr>
              <a:t>Historical / cultural experiences of education</a:t>
            </a:r>
          </a:p>
        </p:txBody>
      </p:sp>
      <p:sp>
        <p:nvSpPr>
          <p:cNvPr id="16" name="Rounded Rectangle 15"/>
          <p:cNvSpPr/>
          <p:nvPr/>
        </p:nvSpPr>
        <p:spPr>
          <a:xfrm>
            <a:off x="685800" y="3520440"/>
            <a:ext cx="4206240" cy="713232"/>
          </a:xfrm>
          <a:prstGeom prst="roundRect">
            <a:avLst>
              <a:gd name="adj" fmla="val 20000"/>
            </a:avLst>
          </a:prstGeom>
          <a:solidFill>
            <a:srgbClr val="F3F0FA"/>
          </a:solidFill>
          <a:ln>
            <a:noFill/>
          </a:ln>
        </p:spPr>
        <p:txBody>
          <a:bodyPr rtlCol="0" anchor="ctr"/>
          <a:lstStyle/>
          <a:p>
            <a:pPr algn="ctr"/>
            <a:endParaRPr/>
          </a:p>
        </p:txBody>
      </p:sp>
      <p:sp>
        <p:nvSpPr>
          <p:cNvPr id="17" name="TextBox 16"/>
          <p:cNvSpPr txBox="1"/>
          <p:nvPr/>
        </p:nvSpPr>
        <p:spPr>
          <a:xfrm>
            <a:off x="960120" y="3520440"/>
            <a:ext cx="3657600" cy="713232"/>
          </a:xfrm>
          <a:prstGeom prst="rect">
            <a:avLst/>
          </a:prstGeom>
          <a:noFill/>
        </p:spPr>
        <p:txBody>
          <a:bodyPr wrap="square" lIns="0" tIns="0" rIns="0" bIns="0" anchor="ctr">
            <a:noAutofit/>
          </a:bodyPr>
          <a:lstStyle/>
          <a:p>
            <a:pPr marL="0" indent="0" algn="l">
              <a:lnSpc>
                <a:spcPct val="100000"/>
              </a:lnSpc>
              <a:spcBef>
                <a:spcPts val="0"/>
              </a:spcBef>
              <a:buNone/>
            </a:pPr>
            <a:r>
              <a:rPr lang="en-AU" sz="1500" b="1">
                <a:solidFill>
                  <a:srgbClr val="3D2A6B"/>
                </a:solidFill>
                <a:latin typeface="Arial"/>
                <a:ea typeface="Arial"/>
                <a:cs typeface="Arial"/>
              </a:rPr>
              <a:t>Speaking English vs speaking a language other than English</a:t>
            </a:r>
          </a:p>
        </p:txBody>
      </p:sp>
      <p:sp>
        <p:nvSpPr>
          <p:cNvPr id="18" name="Rounded Rectangle 17"/>
          <p:cNvSpPr/>
          <p:nvPr/>
        </p:nvSpPr>
        <p:spPr>
          <a:xfrm>
            <a:off x="685800" y="4343400"/>
            <a:ext cx="4206240" cy="713232"/>
          </a:xfrm>
          <a:prstGeom prst="roundRect">
            <a:avLst>
              <a:gd name="adj" fmla="val 20000"/>
            </a:avLst>
          </a:prstGeom>
          <a:solidFill>
            <a:srgbClr val="F3F0FA"/>
          </a:solidFill>
          <a:ln>
            <a:noFill/>
          </a:ln>
        </p:spPr>
        <p:txBody>
          <a:bodyPr rtlCol="0" anchor="ctr"/>
          <a:lstStyle/>
          <a:p>
            <a:pPr algn="ctr"/>
            <a:endParaRPr/>
          </a:p>
        </p:txBody>
      </p:sp>
      <p:sp>
        <p:nvSpPr>
          <p:cNvPr id="19" name="TextBox 18"/>
          <p:cNvSpPr txBox="1"/>
          <p:nvPr/>
        </p:nvSpPr>
        <p:spPr>
          <a:xfrm>
            <a:off x="960120" y="4343400"/>
            <a:ext cx="3657600" cy="713232"/>
          </a:xfrm>
          <a:prstGeom prst="rect">
            <a:avLst/>
          </a:prstGeom>
          <a:noFill/>
        </p:spPr>
        <p:txBody>
          <a:bodyPr wrap="square" lIns="0" tIns="0" rIns="0" bIns="0" anchor="ctr">
            <a:noAutofit/>
          </a:bodyPr>
          <a:lstStyle/>
          <a:p>
            <a:pPr marL="0" indent="0" algn="l">
              <a:lnSpc>
                <a:spcPct val="100000"/>
              </a:lnSpc>
              <a:spcBef>
                <a:spcPts val="0"/>
              </a:spcBef>
              <a:buNone/>
            </a:pPr>
            <a:r>
              <a:rPr lang="en-AU" sz="1500" b="1">
                <a:solidFill>
                  <a:srgbClr val="3D2A6B"/>
                </a:solidFill>
                <a:latin typeface="Arial"/>
                <a:ea typeface="Arial"/>
                <a:cs typeface="Arial"/>
              </a:rPr>
              <a:t>Pedagogy / understanding of school systems and curriculum</a:t>
            </a:r>
          </a:p>
        </p:txBody>
      </p:sp>
      <p:sp>
        <p:nvSpPr>
          <p:cNvPr id="20" name="Rounded Rectangle 19"/>
          <p:cNvSpPr/>
          <p:nvPr/>
        </p:nvSpPr>
        <p:spPr>
          <a:xfrm>
            <a:off x="685800" y="5166360"/>
            <a:ext cx="4206240" cy="713232"/>
          </a:xfrm>
          <a:prstGeom prst="roundRect">
            <a:avLst>
              <a:gd name="adj" fmla="val 20000"/>
            </a:avLst>
          </a:prstGeom>
          <a:solidFill>
            <a:srgbClr val="F3F0FA"/>
          </a:solidFill>
          <a:ln>
            <a:noFill/>
          </a:ln>
        </p:spPr>
        <p:txBody>
          <a:bodyPr rtlCol="0" anchor="ctr"/>
          <a:lstStyle/>
          <a:p>
            <a:pPr algn="ctr"/>
            <a:endParaRPr/>
          </a:p>
        </p:txBody>
      </p:sp>
      <p:sp>
        <p:nvSpPr>
          <p:cNvPr id="21" name="TextBox 20"/>
          <p:cNvSpPr txBox="1"/>
          <p:nvPr/>
        </p:nvSpPr>
        <p:spPr>
          <a:xfrm>
            <a:off x="960120" y="5166360"/>
            <a:ext cx="3657600" cy="713232"/>
          </a:xfrm>
          <a:prstGeom prst="rect">
            <a:avLst/>
          </a:prstGeom>
          <a:noFill/>
        </p:spPr>
        <p:txBody>
          <a:bodyPr wrap="square" lIns="0" tIns="0" rIns="0" bIns="0" anchor="ctr">
            <a:noAutofit/>
          </a:bodyPr>
          <a:lstStyle/>
          <a:p>
            <a:pPr marL="0" indent="0" algn="l">
              <a:lnSpc>
                <a:spcPct val="100000"/>
              </a:lnSpc>
              <a:spcBef>
                <a:spcPts val="0"/>
              </a:spcBef>
              <a:buNone/>
            </a:pPr>
            <a:r>
              <a:rPr lang="en-AU" sz="1500" b="1">
                <a:solidFill>
                  <a:srgbClr val="3D2A6B"/>
                </a:solidFill>
                <a:latin typeface="Arial"/>
                <a:ea typeface="Arial"/>
                <a:cs typeface="Arial"/>
              </a:rPr>
              <a:t>Perception of the importance / experience of school</a:t>
            </a:r>
          </a:p>
        </p:txBody>
      </p:sp>
    </p:spTree>
    <p:custDataLst>
      <p:tags r:id="rId1"/>
    </p:custDataLst>
    <p:extLst>
      <p:ext uri="{BB962C8B-B14F-4D97-AF65-F5344CB8AC3E}">
        <p14:creationId xmlns:p14="http://schemas.microsoft.com/office/powerpoint/2010/main" val="58030246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32" presetClass="emph" presetSubtype="0" repeatCount="indefinite" fill="hold" nodeType="withEffect">
                                  <p:stCondLst>
                                    <p:cond delay="0"/>
                                  </p:stCondLst>
                                  <p:childTnLst>
                                    <p:animRot by="120000">
                                      <p:cBhvr>
                                        <p:cTn id="6" dur="200" fill="hold">
                                          <p:stCondLst>
                                            <p:cond delay="0"/>
                                          </p:stCondLst>
                                        </p:cTn>
                                        <p:tgtEl>
                                          <p:spTgt spid="2"/>
                                        </p:tgtEl>
                                        <p:attrNameLst>
                                          <p:attrName>r</p:attrName>
                                        </p:attrNameLst>
                                      </p:cBhvr>
                                    </p:animRot>
                                    <p:animRot by="-240000">
                                      <p:cBhvr>
                                        <p:cTn id="7" dur="400" fill="hold">
                                          <p:stCondLst>
                                            <p:cond delay="400"/>
                                          </p:stCondLst>
                                        </p:cTn>
                                        <p:tgtEl>
                                          <p:spTgt spid="2"/>
                                        </p:tgtEl>
                                        <p:attrNameLst>
                                          <p:attrName>r</p:attrName>
                                        </p:attrNameLst>
                                      </p:cBhvr>
                                    </p:animRot>
                                    <p:animRot by="240000">
                                      <p:cBhvr>
                                        <p:cTn id="8" dur="400" fill="hold">
                                          <p:stCondLst>
                                            <p:cond delay="800"/>
                                          </p:stCondLst>
                                        </p:cTn>
                                        <p:tgtEl>
                                          <p:spTgt spid="2"/>
                                        </p:tgtEl>
                                        <p:attrNameLst>
                                          <p:attrName>r</p:attrName>
                                        </p:attrNameLst>
                                      </p:cBhvr>
                                    </p:animRot>
                                    <p:animRot by="-240000">
                                      <p:cBhvr>
                                        <p:cTn id="9" dur="400" fill="hold">
                                          <p:stCondLst>
                                            <p:cond delay="1200"/>
                                          </p:stCondLst>
                                        </p:cTn>
                                        <p:tgtEl>
                                          <p:spTgt spid="2"/>
                                        </p:tgtEl>
                                        <p:attrNameLst>
                                          <p:attrName>r</p:attrName>
                                        </p:attrNameLst>
                                      </p:cBhvr>
                                    </p:animRot>
                                    <p:animRot by="120000">
                                      <p:cBhvr>
                                        <p:cTn id="10" dur="400" fill="hold">
                                          <p:stCondLst>
                                            <p:cond delay="1600"/>
                                          </p:stCondLst>
                                        </p:cTn>
                                        <p:tgtEl>
                                          <p:spTgt spid="2"/>
                                        </p:tgtEl>
                                        <p:attrNameLst>
                                          <p:attrName>r</p:attrName>
                                        </p:attrNameLst>
                                      </p:cBhvr>
                                    </p:animRo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584099"/>
          </a:solidFill>
          <a:ln>
            <a:noFill/>
          </a:ln>
        </p:spPr>
        <p:txBody>
          <a:bodyPr rtlCol="0" anchor="ctr"/>
          <a:lstStyle/>
          <a:p>
            <a:pPr algn="ctr"/>
            <a:endParaRPr/>
          </a:p>
        </p:txBody>
      </p:sp>
      <p:sp>
        <p:nvSpPr>
          <p:cNvPr id="3" name="Oval 2"/>
          <p:cNvSpPr/>
          <p:nvPr/>
        </p:nvSpPr>
        <p:spPr>
          <a:xfrm>
            <a:off x="8138160" y="3291840"/>
            <a:ext cx="5669280" cy="5669280"/>
          </a:xfrm>
          <a:prstGeom prst="ellipse">
            <a:avLst/>
          </a:prstGeom>
          <a:solidFill>
            <a:srgbClr val="6A52AB"/>
          </a:solidFill>
          <a:ln>
            <a:noFill/>
          </a:ln>
        </p:spPr>
        <p:txBody>
          <a:bodyPr rtlCol="0" anchor="ctr"/>
          <a:lstStyle/>
          <a:p>
            <a:pPr algn="ctr"/>
            <a:endParaRPr/>
          </a:p>
        </p:txBody>
      </p:sp>
      <p:sp>
        <p:nvSpPr>
          <p:cNvPr id="4" name="Title"/>
          <p:cNvSpPr txBox="1"/>
          <p:nvPr/>
        </p:nvSpPr>
        <p:spPr>
          <a:xfrm>
            <a:off x="685800" y="457200"/>
            <a:ext cx="10789920" cy="777240"/>
          </a:xfrm>
          <a:prstGeom prst="rect">
            <a:avLst/>
          </a:prstGeom>
          <a:noFill/>
        </p:spPr>
        <p:txBody>
          <a:bodyPr wrap="square" lIns="0" tIns="0" rIns="0" bIns="0" anchor="t">
            <a:noAutofit/>
          </a:bodyPr>
          <a:lstStyle/>
          <a:p>
            <a:pPr marL="0" indent="0" algn="l">
              <a:lnSpc>
                <a:spcPct val="95000"/>
              </a:lnSpc>
              <a:spcBef>
                <a:spcPts val="0"/>
              </a:spcBef>
              <a:buNone/>
            </a:pPr>
            <a:r>
              <a:rPr lang="en-AU" sz="3600" b="0">
                <a:solidFill>
                  <a:srgbClr val="FFFFFF"/>
                </a:solidFill>
                <a:latin typeface="Arial Black"/>
                <a:ea typeface="Arial Black"/>
                <a:cs typeface="Arial Black"/>
              </a:rPr>
              <a:t>Power dynamics activity</a:t>
            </a:r>
          </a:p>
        </p:txBody>
      </p:sp>
      <p:sp>
        <p:nvSpPr>
          <p:cNvPr id="5" name="TextBox 4"/>
          <p:cNvSpPr txBox="1"/>
          <p:nvPr/>
        </p:nvSpPr>
        <p:spPr>
          <a:xfrm>
            <a:off x="685800" y="1325880"/>
            <a:ext cx="10058400" cy="548640"/>
          </a:xfrm>
          <a:prstGeom prst="rect">
            <a:avLst/>
          </a:prstGeom>
          <a:noFill/>
        </p:spPr>
        <p:txBody>
          <a:bodyPr wrap="square" lIns="0" tIns="0" rIns="0" bIns="0" anchor="t">
            <a:noAutofit/>
          </a:bodyPr>
          <a:lstStyle/>
          <a:p>
            <a:pPr marL="0" indent="0" algn="l">
              <a:lnSpc>
                <a:spcPct val="100000"/>
              </a:lnSpc>
              <a:spcBef>
                <a:spcPts val="0"/>
              </a:spcBef>
              <a:buNone/>
            </a:pPr>
            <a:r>
              <a:rPr lang="en-AU" sz="2200" b="1">
                <a:solidFill>
                  <a:srgbClr val="FFFFFF"/>
                </a:solidFill>
                <a:latin typeface="Arial"/>
                <a:ea typeface="Arial"/>
                <a:cs typeface="Arial"/>
              </a:rPr>
              <a:t>On Post-it notes:</a:t>
            </a:r>
          </a:p>
        </p:txBody>
      </p:sp>
      <p:sp>
        <p:nvSpPr>
          <p:cNvPr id="6" name="Oval 5"/>
          <p:cNvSpPr/>
          <p:nvPr/>
        </p:nvSpPr>
        <p:spPr>
          <a:xfrm>
            <a:off x="685800" y="2103120"/>
            <a:ext cx="457200" cy="457200"/>
          </a:xfrm>
          <a:prstGeom prst="ellipse">
            <a:avLst/>
          </a:prstGeom>
          <a:solidFill>
            <a:srgbClr val="584099"/>
          </a:solidFill>
          <a:ln w="22225">
            <a:solidFill>
              <a:srgbClr val="FFFFFF"/>
            </a:solidFill>
          </a:ln>
        </p:spPr>
        <p:txBody>
          <a:bodyPr rtlCol="0" anchor="ctr"/>
          <a:lstStyle/>
          <a:p>
            <a:pPr algn="ctr"/>
            <a:endParaRPr/>
          </a:p>
        </p:txBody>
      </p:sp>
      <p:sp>
        <p:nvSpPr>
          <p:cNvPr id="7" name="TextBox 6"/>
          <p:cNvSpPr txBox="1"/>
          <p:nvPr/>
        </p:nvSpPr>
        <p:spPr>
          <a:xfrm>
            <a:off x="685800" y="2103120"/>
            <a:ext cx="457200" cy="457200"/>
          </a:xfrm>
          <a:prstGeom prst="rect">
            <a:avLst/>
          </a:prstGeom>
          <a:noFill/>
        </p:spPr>
        <p:txBody>
          <a:bodyPr wrap="square" lIns="0" tIns="0" rIns="0" bIns="0" anchor="ctr">
            <a:noAutofit/>
          </a:bodyPr>
          <a:lstStyle/>
          <a:p>
            <a:pPr marL="0" indent="0" algn="ctr">
              <a:lnSpc>
                <a:spcPct val="100000"/>
              </a:lnSpc>
              <a:spcBef>
                <a:spcPts val="0"/>
              </a:spcBef>
              <a:buNone/>
            </a:pPr>
            <a:r>
              <a:rPr lang="en-AU" sz="1500" b="0">
                <a:solidFill>
                  <a:srgbClr val="FFFFFF"/>
                </a:solidFill>
                <a:latin typeface="Arial Black"/>
                <a:ea typeface="Arial Black"/>
                <a:cs typeface="Arial Black"/>
              </a:rPr>
              <a:t>1</a:t>
            </a:r>
          </a:p>
        </p:txBody>
      </p:sp>
      <p:sp>
        <p:nvSpPr>
          <p:cNvPr id="8" name="TextBox 7"/>
          <p:cNvSpPr txBox="1"/>
          <p:nvPr/>
        </p:nvSpPr>
        <p:spPr>
          <a:xfrm>
            <a:off x="1325880" y="1993392"/>
            <a:ext cx="9509760" cy="676656"/>
          </a:xfrm>
          <a:prstGeom prst="rect">
            <a:avLst/>
          </a:prstGeom>
          <a:noFill/>
        </p:spPr>
        <p:txBody>
          <a:bodyPr wrap="square" lIns="0" tIns="0" rIns="0" bIns="0" anchor="ctr">
            <a:noAutofit/>
          </a:bodyPr>
          <a:lstStyle/>
          <a:p>
            <a:pPr marL="0" indent="0" algn="l">
              <a:lnSpc>
                <a:spcPct val="100000"/>
              </a:lnSpc>
              <a:spcBef>
                <a:spcPts val="0"/>
              </a:spcBef>
              <a:buNone/>
            </a:pPr>
            <a:r>
              <a:rPr lang="en-AU" sz="2000" b="0">
                <a:solidFill>
                  <a:srgbClr val="E6E0F5"/>
                </a:solidFill>
                <a:latin typeface="Arial"/>
                <a:ea typeface="Arial"/>
                <a:cs typeface="Arial"/>
              </a:rPr>
              <a:t>Write an example of an imbalance in power dynamics from a home perspective.</a:t>
            </a:r>
          </a:p>
        </p:txBody>
      </p:sp>
      <p:sp>
        <p:nvSpPr>
          <p:cNvPr id="9" name="Oval 8"/>
          <p:cNvSpPr/>
          <p:nvPr/>
        </p:nvSpPr>
        <p:spPr>
          <a:xfrm>
            <a:off x="685800" y="2971800"/>
            <a:ext cx="457200" cy="457200"/>
          </a:xfrm>
          <a:prstGeom prst="ellipse">
            <a:avLst/>
          </a:prstGeom>
          <a:solidFill>
            <a:srgbClr val="584099"/>
          </a:solidFill>
          <a:ln w="22225">
            <a:solidFill>
              <a:srgbClr val="FFFFFF"/>
            </a:solidFill>
          </a:ln>
        </p:spPr>
        <p:txBody>
          <a:bodyPr rtlCol="0" anchor="ctr"/>
          <a:lstStyle/>
          <a:p>
            <a:pPr algn="ctr"/>
            <a:endParaRPr/>
          </a:p>
        </p:txBody>
      </p:sp>
      <p:sp>
        <p:nvSpPr>
          <p:cNvPr id="10" name="TextBox 9"/>
          <p:cNvSpPr txBox="1"/>
          <p:nvPr/>
        </p:nvSpPr>
        <p:spPr>
          <a:xfrm>
            <a:off x="685800" y="2971800"/>
            <a:ext cx="457200" cy="457200"/>
          </a:xfrm>
          <a:prstGeom prst="rect">
            <a:avLst/>
          </a:prstGeom>
          <a:noFill/>
        </p:spPr>
        <p:txBody>
          <a:bodyPr wrap="square" lIns="0" tIns="0" rIns="0" bIns="0" anchor="ctr">
            <a:noAutofit/>
          </a:bodyPr>
          <a:lstStyle/>
          <a:p>
            <a:pPr marL="0" indent="0" algn="ctr">
              <a:lnSpc>
                <a:spcPct val="100000"/>
              </a:lnSpc>
              <a:spcBef>
                <a:spcPts val="0"/>
              </a:spcBef>
              <a:buNone/>
            </a:pPr>
            <a:r>
              <a:rPr lang="en-AU" sz="1500" b="0">
                <a:solidFill>
                  <a:srgbClr val="FFFFFF"/>
                </a:solidFill>
                <a:latin typeface="Arial Black"/>
                <a:ea typeface="Arial Black"/>
                <a:cs typeface="Arial Black"/>
              </a:rPr>
              <a:t>2</a:t>
            </a:r>
          </a:p>
        </p:txBody>
      </p:sp>
      <p:sp>
        <p:nvSpPr>
          <p:cNvPr id="11" name="TextBox 10"/>
          <p:cNvSpPr txBox="1"/>
          <p:nvPr/>
        </p:nvSpPr>
        <p:spPr>
          <a:xfrm>
            <a:off x="1325880" y="2862072"/>
            <a:ext cx="9509760" cy="676656"/>
          </a:xfrm>
          <a:prstGeom prst="rect">
            <a:avLst/>
          </a:prstGeom>
          <a:noFill/>
        </p:spPr>
        <p:txBody>
          <a:bodyPr wrap="square" lIns="0" tIns="0" rIns="0" bIns="0" anchor="ctr">
            <a:noAutofit/>
          </a:bodyPr>
          <a:lstStyle/>
          <a:p>
            <a:pPr marL="0" indent="0" algn="l">
              <a:lnSpc>
                <a:spcPct val="100000"/>
              </a:lnSpc>
              <a:spcBef>
                <a:spcPts val="0"/>
              </a:spcBef>
              <a:buNone/>
            </a:pPr>
            <a:r>
              <a:rPr lang="en-AU" sz="2000" b="0">
                <a:solidFill>
                  <a:srgbClr val="E6E0F5"/>
                </a:solidFill>
                <a:latin typeface="Arial"/>
                <a:ea typeface="Arial"/>
                <a:cs typeface="Arial"/>
              </a:rPr>
              <a:t>Write an example of an imbalance in power dynamics from a school perspective.</a:t>
            </a:r>
          </a:p>
        </p:txBody>
      </p:sp>
      <p:sp>
        <p:nvSpPr>
          <p:cNvPr id="12" name="Oval 11"/>
          <p:cNvSpPr/>
          <p:nvPr/>
        </p:nvSpPr>
        <p:spPr>
          <a:xfrm>
            <a:off x="685800" y="3840480"/>
            <a:ext cx="457200" cy="457200"/>
          </a:xfrm>
          <a:prstGeom prst="ellipse">
            <a:avLst/>
          </a:prstGeom>
          <a:solidFill>
            <a:srgbClr val="584099"/>
          </a:solidFill>
          <a:ln w="22225">
            <a:solidFill>
              <a:srgbClr val="FFFFFF"/>
            </a:solidFill>
          </a:ln>
        </p:spPr>
        <p:txBody>
          <a:bodyPr rtlCol="0" anchor="ctr"/>
          <a:lstStyle/>
          <a:p>
            <a:pPr algn="ctr"/>
            <a:endParaRPr/>
          </a:p>
        </p:txBody>
      </p:sp>
      <p:sp>
        <p:nvSpPr>
          <p:cNvPr id="13" name="TextBox 12"/>
          <p:cNvSpPr txBox="1"/>
          <p:nvPr/>
        </p:nvSpPr>
        <p:spPr>
          <a:xfrm>
            <a:off x="685800" y="3840480"/>
            <a:ext cx="457200" cy="457200"/>
          </a:xfrm>
          <a:prstGeom prst="rect">
            <a:avLst/>
          </a:prstGeom>
          <a:noFill/>
        </p:spPr>
        <p:txBody>
          <a:bodyPr wrap="square" lIns="0" tIns="0" rIns="0" bIns="0" anchor="ctr">
            <a:noAutofit/>
          </a:bodyPr>
          <a:lstStyle/>
          <a:p>
            <a:pPr marL="0" indent="0" algn="ctr">
              <a:lnSpc>
                <a:spcPct val="100000"/>
              </a:lnSpc>
              <a:spcBef>
                <a:spcPts val="0"/>
              </a:spcBef>
              <a:buNone/>
            </a:pPr>
            <a:r>
              <a:rPr lang="en-AU" sz="1500" b="0">
                <a:solidFill>
                  <a:srgbClr val="FFFFFF"/>
                </a:solidFill>
                <a:latin typeface="Arial Black"/>
                <a:ea typeface="Arial Black"/>
                <a:cs typeface="Arial Black"/>
              </a:rPr>
              <a:t>3</a:t>
            </a:r>
          </a:p>
        </p:txBody>
      </p:sp>
      <p:sp>
        <p:nvSpPr>
          <p:cNvPr id="14" name="TextBox 13"/>
          <p:cNvSpPr txBox="1"/>
          <p:nvPr/>
        </p:nvSpPr>
        <p:spPr>
          <a:xfrm>
            <a:off x="1325880" y="3730752"/>
            <a:ext cx="9509760" cy="676656"/>
          </a:xfrm>
          <a:prstGeom prst="rect">
            <a:avLst/>
          </a:prstGeom>
          <a:noFill/>
        </p:spPr>
        <p:txBody>
          <a:bodyPr wrap="square" lIns="0" tIns="0" rIns="0" bIns="0" anchor="ctr">
            <a:noAutofit/>
          </a:bodyPr>
          <a:lstStyle/>
          <a:p>
            <a:pPr marL="0" indent="0" algn="l">
              <a:lnSpc>
                <a:spcPct val="100000"/>
              </a:lnSpc>
              <a:spcBef>
                <a:spcPts val="0"/>
              </a:spcBef>
              <a:buNone/>
            </a:pPr>
            <a:r>
              <a:rPr lang="en-AU" sz="2000" b="0">
                <a:solidFill>
                  <a:srgbClr val="E6E0F5"/>
                </a:solidFill>
                <a:latin typeface="Arial"/>
                <a:ea typeface="Arial"/>
                <a:cs typeface="Arial"/>
              </a:rPr>
              <a:t>Write how you could address these imbalances.</a:t>
            </a:r>
          </a:p>
        </p:txBody>
      </p:sp>
      <p:sp>
        <p:nvSpPr>
          <p:cNvPr id="15" name="TextBox 14"/>
          <p:cNvSpPr txBox="1"/>
          <p:nvPr/>
        </p:nvSpPr>
        <p:spPr>
          <a:xfrm>
            <a:off x="685800" y="4800600"/>
            <a:ext cx="10058400" cy="548640"/>
          </a:xfrm>
          <a:prstGeom prst="rect">
            <a:avLst/>
          </a:prstGeom>
          <a:noFill/>
        </p:spPr>
        <p:txBody>
          <a:bodyPr wrap="square" lIns="0" tIns="0" rIns="0" bIns="0" anchor="t">
            <a:noAutofit/>
          </a:bodyPr>
          <a:lstStyle/>
          <a:p>
            <a:pPr marL="0" indent="0" algn="l">
              <a:lnSpc>
                <a:spcPct val="100000"/>
              </a:lnSpc>
              <a:spcBef>
                <a:spcPts val="0"/>
              </a:spcBef>
              <a:buNone/>
            </a:pPr>
            <a:r>
              <a:rPr lang="en-AU" sz="1700" b="0">
                <a:solidFill>
                  <a:srgbClr val="E6E0F5"/>
                </a:solidFill>
                <a:latin typeface="Arial"/>
                <a:ea typeface="Arial"/>
                <a:cs typeface="Arial"/>
              </a:rPr>
              <a:t>Share at your table, or add your notes to the wall under Home, School and Solutions.</a:t>
            </a:r>
          </a:p>
        </p:txBody>
      </p:sp>
      <p:sp>
        <p:nvSpPr>
          <p:cNvPr id="16" name="Rounded Rectangle 15"/>
          <p:cNvSpPr/>
          <p:nvPr/>
        </p:nvSpPr>
        <p:spPr>
          <a:xfrm>
            <a:off x="685800" y="5669280"/>
            <a:ext cx="2103120" cy="548640"/>
          </a:xfrm>
          <a:prstGeom prst="roundRect">
            <a:avLst>
              <a:gd name="adj" fmla="val 50000"/>
            </a:avLst>
          </a:prstGeom>
          <a:solidFill>
            <a:srgbClr val="584099"/>
          </a:solidFill>
          <a:ln w="19050">
            <a:solidFill>
              <a:srgbClr val="FFFFFF"/>
            </a:solidFill>
          </a:ln>
        </p:spPr>
        <p:txBody>
          <a:bodyPr rtlCol="0" anchor="ctr"/>
          <a:lstStyle/>
          <a:p>
            <a:pPr algn="ctr"/>
            <a:endParaRPr/>
          </a:p>
        </p:txBody>
      </p:sp>
      <p:sp>
        <p:nvSpPr>
          <p:cNvPr id="17" name="TextBox 16"/>
          <p:cNvSpPr txBox="1"/>
          <p:nvPr/>
        </p:nvSpPr>
        <p:spPr>
          <a:xfrm>
            <a:off x="960120" y="5669280"/>
            <a:ext cx="1554480" cy="548640"/>
          </a:xfrm>
          <a:prstGeom prst="rect">
            <a:avLst/>
          </a:prstGeom>
          <a:noFill/>
        </p:spPr>
        <p:txBody>
          <a:bodyPr wrap="square" lIns="0" tIns="0" rIns="0" bIns="0" anchor="ctr">
            <a:noAutofit/>
          </a:bodyPr>
          <a:lstStyle/>
          <a:p>
            <a:pPr marL="0" indent="0" algn="ctr">
              <a:lnSpc>
                <a:spcPct val="100000"/>
              </a:lnSpc>
              <a:spcBef>
                <a:spcPts val="0"/>
              </a:spcBef>
              <a:buNone/>
            </a:pPr>
            <a:r>
              <a:rPr lang="en-AU" sz="1800" b="1">
                <a:solidFill>
                  <a:srgbClr val="FFFFFF"/>
                </a:solidFill>
                <a:latin typeface="Arial"/>
                <a:ea typeface="Arial"/>
                <a:cs typeface="Arial"/>
              </a:rPr>
              <a:t>6 minutes</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Oval 12"/>
          <p:cNvSpPr/>
          <p:nvPr/>
        </p:nvSpPr>
        <p:spPr>
          <a:xfrm>
            <a:off x="9052560" y="3931920"/>
            <a:ext cx="5486400" cy="5486400"/>
          </a:xfrm>
          <a:prstGeom prst="ellipse">
            <a:avLst/>
          </a:prstGeom>
          <a:solidFill>
            <a:srgbClr val="EDE8F8"/>
          </a:solidFill>
          <a:ln>
            <a:noFill/>
          </a:ln>
        </p:spPr>
        <p:txBody>
          <a:bodyPr rtlCol="0" anchor="ctr"/>
          <a:lstStyle/>
          <a:p>
            <a:pPr algn="ctr"/>
            <a:endParaRPr/>
          </a:p>
        </p:txBody>
      </p:sp>
      <p:pic>
        <p:nvPicPr>
          <p:cNvPr id="11" name="Graphic 19">
            <a:extLst>
              <a:ext uri="{FF2B5EF4-FFF2-40B4-BE49-F238E27FC236}">
                <a16:creationId xmlns:a16="http://schemas.microsoft.com/office/drawing/2014/main" id="{5AADB8DD-F243-4F8D-BC60-11443AF4F579}"/>
              </a:ext>
            </a:extLst>
          </p:cNvPr>
          <p:cNvPicPr>
            <a:picLocks noChangeAspect="1"/>
          </p:cNvPicPr>
          <p:nvPr/>
        </p:nvPicPr>
        <p:blipFill>
          <a:blip cstate="hqprint">
            <a:extLst>
              <a:ext uri="{28A0092B-C50C-407E-A947-70E740481C1C}">
                <a14:useLocalDpi xmlns:a14="http://schemas.microsoft.com/office/drawing/2010/main"/>
              </a:ext>
              <a:ext uri="{96DAC541-7B7A-43D3-8B79-37D633B846F1}">
                <asvg:svgBlip xmlns:asvg="http://schemas.microsoft.com/office/drawing/2016/SVG/main" r:embed="rId6"/>
              </a:ext>
            </a:extLst>
          </a:blip>
          <a:stretch>
            <a:fillRect/>
          </a:stretch>
        </p:blipFill>
        <p:spPr>
          <a:xfrm>
            <a:off x="685800" y="1551622"/>
            <a:ext cx="914400" cy="914400"/>
          </a:xfrm>
          <a:prstGeom prst="rect">
            <a:avLst/>
          </a:prstGeom>
        </p:spPr>
      </p:pic>
      <p:pic>
        <p:nvPicPr>
          <p:cNvPr id="9" name="Diversity_Self_care_slide_26">
            <a:hlinkClick r:id="" action="ppaction://media"/>
            <a:extLst>
              <a:ext uri="{FF2B5EF4-FFF2-40B4-BE49-F238E27FC236}">
                <a16:creationId xmlns:a16="http://schemas.microsoft.com/office/drawing/2014/main" id="{2528EEDD-2764-4D95-BAB4-AC44ACE96B2B}"/>
              </a:ext>
            </a:extLst>
          </p:cNvPr>
          <p:cNvPicPr>
            <a:picLocks noChangeAspect="1"/>
          </p:cNvPicPr>
          <p:nvPr>
            <a:videoFile r:link="rId3"/>
            <p:extLst>
              <p:ext uri="{DAA4B4D4-6D71-4841-9C94-3DE7FCFB9230}">
                <p14:media xmlns:p14="http://schemas.microsoft.com/office/powerpoint/2010/main" r:embed="rId2"/>
              </p:ext>
            </p:extLst>
          </p:nvPr>
        </p:nvPicPr>
        <p:blipFill>
          <a:blip r:embed="rId7"/>
          <a:stretch>
            <a:fillRect/>
          </a:stretch>
        </p:blipFill>
        <p:spPr>
          <a:xfrm>
            <a:off x="4830775" y="1551622"/>
            <a:ext cx="6675120" cy="3754755"/>
          </a:xfrm>
          <a:prstGeom prst="roundRect">
            <a:avLst>
              <a:gd name="adj" fmla="val 5000"/>
            </a:avLst>
          </a:prstGeom>
        </p:spPr>
      </p:pic>
      <p:sp>
        <p:nvSpPr>
          <p:cNvPr id="14" name="Title"/>
          <p:cNvSpPr txBox="1"/>
          <p:nvPr/>
        </p:nvSpPr>
        <p:spPr>
          <a:xfrm>
            <a:off x="685800" y="2740342"/>
            <a:ext cx="3687775" cy="1463040"/>
          </a:xfrm>
          <a:prstGeom prst="rect">
            <a:avLst/>
          </a:prstGeom>
          <a:noFill/>
        </p:spPr>
        <p:txBody>
          <a:bodyPr wrap="square" lIns="0" tIns="0" rIns="0" bIns="0" anchor="t">
            <a:noAutofit/>
          </a:bodyPr>
          <a:lstStyle/>
          <a:p>
            <a:pPr marL="0" indent="0" algn="l">
              <a:lnSpc>
                <a:spcPct val="95000"/>
              </a:lnSpc>
              <a:spcBef>
                <a:spcPts val="0"/>
              </a:spcBef>
              <a:buNone/>
            </a:pPr>
            <a:r>
              <a:rPr lang="en-AU" sz="3000" b="0">
                <a:solidFill>
                  <a:srgbClr val="584099"/>
                </a:solidFill>
                <a:latin typeface="Arial Black"/>
                <a:ea typeface="Arial Black"/>
                <a:cs typeface="Arial Black"/>
              </a:rPr>
              <a:t>Student voice</a:t>
            </a:r>
          </a:p>
        </p:txBody>
      </p:sp>
      <p:sp>
        <p:nvSpPr>
          <p:cNvPr id="15" name="Rounded Rectangle 14"/>
          <p:cNvSpPr/>
          <p:nvPr/>
        </p:nvSpPr>
        <p:spPr>
          <a:xfrm>
            <a:off x="685800" y="4218242"/>
            <a:ext cx="3687775" cy="1088136"/>
          </a:xfrm>
          <a:prstGeom prst="roundRect">
            <a:avLst>
              <a:gd name="adj" fmla="val 10000"/>
            </a:avLst>
          </a:prstGeom>
          <a:solidFill>
            <a:srgbClr val="F3F0FA"/>
          </a:solidFill>
          <a:ln>
            <a:noFill/>
          </a:ln>
        </p:spPr>
        <p:txBody>
          <a:bodyPr rtlCol="0" anchor="ctr"/>
          <a:lstStyle/>
          <a:p>
            <a:pPr algn="ctr"/>
            <a:endParaRPr/>
          </a:p>
        </p:txBody>
      </p:sp>
      <p:sp>
        <p:nvSpPr>
          <p:cNvPr id="16" name="TextBox 15"/>
          <p:cNvSpPr txBox="1"/>
          <p:nvPr/>
        </p:nvSpPr>
        <p:spPr>
          <a:xfrm>
            <a:off x="914400" y="4218242"/>
            <a:ext cx="3230575" cy="1088136"/>
          </a:xfrm>
          <a:prstGeom prst="rect">
            <a:avLst/>
          </a:prstGeom>
          <a:noFill/>
        </p:spPr>
        <p:txBody>
          <a:bodyPr wrap="square" lIns="0" tIns="0" rIns="0" bIns="0" anchor="ctr">
            <a:noAutofit/>
          </a:bodyPr>
          <a:lstStyle/>
          <a:p>
            <a:pPr marL="0" indent="0" algn="l">
              <a:lnSpc>
                <a:spcPct val="100000"/>
              </a:lnSpc>
              <a:spcBef>
                <a:spcPts val="0"/>
              </a:spcBef>
              <a:buNone/>
            </a:pPr>
            <a:r>
              <a:rPr lang="en-AU" sz="1600" b="1">
                <a:solidFill>
                  <a:srgbClr val="3D2A6B"/>
                </a:solidFill>
                <a:latin typeface="Arial"/>
                <a:ea typeface="Arial"/>
                <a:cs typeface="Arial"/>
              </a:rPr>
              <a:t>What decisions were made, and who made them?</a:t>
            </a:r>
          </a:p>
          <a:p>
            <a:pPr marL="0" indent="0" algn="l">
              <a:lnSpc>
                <a:spcPct val="100000"/>
              </a:lnSpc>
              <a:spcBef>
                <a:spcPts val="400"/>
              </a:spcBef>
              <a:buNone/>
            </a:pPr>
            <a:r>
              <a:rPr lang="en-AU" sz="1600" b="1">
                <a:solidFill>
                  <a:srgbClr val="3D2A6B"/>
                </a:solidFill>
                <a:latin typeface="Arial"/>
                <a:ea typeface="Arial"/>
                <a:cs typeface="Arial"/>
              </a:rPr>
              <a:t>What impact did those decisions have on Adon?</a:t>
            </a:r>
          </a:p>
        </p:txBody>
      </p:sp>
    </p:spTree>
    <p:custDataLst>
      <p:tags r:id="rId1"/>
    </p:custDataLst>
    <p:extLst>
      <p:ext uri="{BB962C8B-B14F-4D97-AF65-F5344CB8AC3E}">
        <p14:creationId xmlns:p14="http://schemas.microsoft.com/office/powerpoint/2010/main" val="374705287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mediacall" presetSubtype="0" fill="hold" nodeType="clickEffect">
                                  <p:stCondLst>
                                    <p:cond delay="0"/>
                                  </p:stCondLst>
                                  <p:childTnLst>
                                    <p:cmd type="call" cmd="playFrom(0.0)">
                                      <p:cBhvr>
                                        <p:cTn id="6" dur="111000" fill="hold"/>
                                        <p:tgtEl>
                                          <p:spTgt spid="9"/>
                                        </p:tgtEl>
                                      </p:cBhvr>
                                    </p:cmd>
                                  </p:childTnLst>
                                </p:cTn>
                              </p:par>
                            </p:childTnLst>
                          </p:cTn>
                        </p:par>
                      </p:childTnLst>
                    </p:cTn>
                  </p:par>
                </p:childTnLst>
              </p:cTn>
              <p:prevCondLst>
                <p:cond evt="onPrev" delay="0">
                  <p:tgtEl>
                    <p:sldTgt/>
                  </p:tgtEl>
                </p:cond>
              </p:prevCondLst>
              <p:nextCondLst>
                <p:cond evt="onNext" delay="0">
                  <p:tgtEl>
                    <p:sldTgt/>
                  </p:tgtEl>
                </p:cond>
              </p:nextCondLst>
            </p:seq>
            <p:video fullScrn="1">
              <p:cMediaNode vol="80000">
                <p:cTn id="7" fill="hold" display="0">
                  <p:stCondLst>
                    <p:cond delay="indefinite"/>
                  </p:stCondLst>
                </p:cTn>
                <p:tgtEl>
                  <p:spTgt spid="9"/>
                </p:tgtEl>
              </p:cMediaNode>
            </p:video>
            <p:seq concurrent="1" nextAc="seek">
              <p:cTn id="8" restart="whenNotActive" fill="hold" evtFilter="cancelBubble" nodeType="interactiveSeq">
                <p:stCondLst>
                  <p:cond evt="onClick" delay="0">
                    <p:tgtEl>
                      <p:spTgt spid="9"/>
                    </p:tgtEl>
                  </p:cond>
                </p:stCondLst>
                <p:endSync evt="end" delay="0">
                  <p:rtn val="all"/>
                </p:endSync>
                <p:childTnLst>
                  <p:par>
                    <p:cTn id="9" fill="hold">
                      <p:stCondLst>
                        <p:cond delay="0"/>
                      </p:stCondLst>
                      <p:childTnLst>
                        <p:par>
                          <p:cTn id="10" fill="hold">
                            <p:stCondLst>
                              <p:cond delay="0"/>
                            </p:stCondLst>
                            <p:childTnLst>
                              <p:par>
                                <p:cTn id="11" presetID="2" presetClass="mediacall" presetSubtype="0" fill="hold" nodeType="clickEffect">
                                  <p:stCondLst>
                                    <p:cond delay="0"/>
                                  </p:stCondLst>
                                  <p:childTnLst>
                                    <p:cmd type="call" cmd="togglePause">
                                      <p:cBhvr>
                                        <p:cTn id="12" dur="1" fill="hold"/>
                                        <p:tgtEl>
                                          <p:spTgt spid="9"/>
                                        </p:tgtEl>
                                      </p:cBhvr>
                                    </p:cmd>
                                  </p:childTnLst>
                                </p:cTn>
                              </p:par>
                            </p:childTnLst>
                          </p:cTn>
                        </p:par>
                      </p:childTnLst>
                    </p:cTn>
                  </p:par>
                </p:childTnLst>
              </p:cTn>
              <p:nextCondLst>
                <p:cond evt="onClick" delay="0">
                  <p:tgtEl>
                    <p:spTgt spid="9"/>
                  </p:tgtEl>
                </p:cond>
              </p:nextCondLst>
            </p:seq>
          </p:childTnLst>
        </p:cTn>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4CDC6C6-9BF4-BACA-5DF6-0792FC905A71}"/>
            </a:ext>
          </a:extLst>
        </p:cNvPr>
        <p:cNvGrpSpPr/>
        <p:nvPr/>
      </p:nvGrpSpPr>
      <p:grpSpPr>
        <a:xfrm>
          <a:off x="0" y="0"/>
          <a:ext cx="0" cy="0"/>
          <a:chOff x="0" y="0"/>
          <a:chExt cx="0" cy="0"/>
        </a:xfrm>
      </p:grpSpPr>
      <p:sp>
        <p:nvSpPr>
          <p:cNvPr id="5" name="Title 4">
            <a:extLst>
              <a:ext uri="{FF2B5EF4-FFF2-40B4-BE49-F238E27FC236}">
                <a16:creationId xmlns:a16="http://schemas.microsoft.com/office/drawing/2014/main" id="{86555D9F-B869-6745-EE48-E0ACD4DE0054}"/>
              </a:ext>
            </a:extLst>
          </p:cNvPr>
          <p:cNvSpPr>
            <a:spLocks noGrp="1"/>
          </p:cNvSpPr>
          <p:nvPr>
            <p:ph type="title"/>
          </p:nvPr>
        </p:nvSpPr>
        <p:spPr>
          <a:xfrm>
            <a:off x="685800" y="457200"/>
            <a:ext cx="10789920" cy="777240"/>
          </a:xfrm>
        </p:spPr>
        <p:txBody>
          <a:bodyPr wrap="square" lIns="0" tIns="0" rIns="0" bIns="0" anchor="t">
            <a:noAutofit/>
          </a:bodyPr>
          <a:lstStyle/>
          <a:p>
            <a:pPr marL="0" indent="0" algn="l">
              <a:lnSpc>
                <a:spcPct val="95000"/>
              </a:lnSpc>
              <a:spcBef>
                <a:spcPts val="0"/>
              </a:spcBef>
              <a:buNone/>
            </a:pPr>
            <a:r>
              <a:rPr lang="en-AU" sz="3600" b="0">
                <a:solidFill>
                  <a:srgbClr val="584099"/>
                </a:solidFill>
                <a:latin typeface="Arial Black"/>
                <a:ea typeface="Arial Black"/>
                <a:cs typeface="Arial Black"/>
              </a:rPr>
              <a:t>Partnership activity</a:t>
            </a:r>
          </a:p>
        </p:txBody>
      </p:sp>
      <p:sp>
        <p:nvSpPr>
          <p:cNvPr id="6" name="TextBox 5"/>
          <p:cNvSpPr txBox="1"/>
          <p:nvPr/>
        </p:nvSpPr>
        <p:spPr>
          <a:xfrm>
            <a:off x="685800" y="1325880"/>
            <a:ext cx="10789920" cy="548640"/>
          </a:xfrm>
          <a:prstGeom prst="rect">
            <a:avLst/>
          </a:prstGeom>
          <a:noFill/>
        </p:spPr>
        <p:txBody>
          <a:bodyPr wrap="square" lIns="0" tIns="0" rIns="0" bIns="0" anchor="t">
            <a:noAutofit/>
          </a:bodyPr>
          <a:lstStyle/>
          <a:p>
            <a:pPr marL="0" indent="0" algn="l">
              <a:lnSpc>
                <a:spcPct val="100000"/>
              </a:lnSpc>
              <a:spcBef>
                <a:spcPts val="0"/>
              </a:spcBef>
              <a:buNone/>
            </a:pPr>
            <a:r>
              <a:rPr lang="en-AU" sz="2100" b="1">
                <a:solidFill>
                  <a:srgbClr val="3D2A6B"/>
                </a:solidFill>
                <a:latin typeface="Arial"/>
                <a:ea typeface="Arial"/>
                <a:cs typeface="Arial"/>
              </a:rPr>
              <a:t>For each partner: what do they bring, and what challenges might they face?</a:t>
            </a:r>
          </a:p>
        </p:txBody>
      </p:sp>
      <p:sp>
        <p:nvSpPr>
          <p:cNvPr id="7" name="Rounded Rectangle 6"/>
          <p:cNvSpPr/>
          <p:nvPr/>
        </p:nvSpPr>
        <p:spPr>
          <a:xfrm>
            <a:off x="685800" y="2011680"/>
            <a:ext cx="2554148" cy="685800"/>
          </a:xfrm>
          <a:prstGeom prst="roundRect">
            <a:avLst>
              <a:gd name="adj" fmla="val 30000"/>
            </a:avLst>
          </a:prstGeom>
          <a:solidFill>
            <a:srgbClr val="584099"/>
          </a:solidFill>
          <a:ln>
            <a:noFill/>
          </a:ln>
        </p:spPr>
        <p:txBody>
          <a:bodyPr rtlCol="0" anchor="ctr"/>
          <a:lstStyle/>
          <a:p>
            <a:pPr algn="ctr"/>
            <a:endParaRPr/>
          </a:p>
        </p:txBody>
      </p:sp>
      <p:sp>
        <p:nvSpPr>
          <p:cNvPr id="8" name="TextBox 7"/>
          <p:cNvSpPr txBox="1"/>
          <p:nvPr/>
        </p:nvSpPr>
        <p:spPr>
          <a:xfrm>
            <a:off x="960120" y="2011680"/>
            <a:ext cx="2005508" cy="685800"/>
          </a:xfrm>
          <a:prstGeom prst="rect">
            <a:avLst/>
          </a:prstGeom>
          <a:noFill/>
        </p:spPr>
        <p:txBody>
          <a:bodyPr wrap="square" lIns="0" tIns="0" rIns="0" bIns="0" anchor="ctr">
            <a:noAutofit/>
          </a:bodyPr>
          <a:lstStyle/>
          <a:p>
            <a:pPr marL="0" indent="0" algn="ctr">
              <a:lnSpc>
                <a:spcPct val="100000"/>
              </a:lnSpc>
              <a:spcBef>
                <a:spcPts val="0"/>
              </a:spcBef>
              <a:buNone/>
            </a:pPr>
            <a:r>
              <a:rPr lang="en-AU" sz="1500" b="1">
                <a:solidFill>
                  <a:srgbClr val="FFFFFF"/>
                </a:solidFill>
                <a:latin typeface="Arial Black"/>
                <a:ea typeface="Arial Black"/>
                <a:cs typeface="Arial Black"/>
              </a:rPr>
              <a:t>Student</a:t>
            </a:r>
          </a:p>
        </p:txBody>
      </p:sp>
      <p:sp>
        <p:nvSpPr>
          <p:cNvPr id="9" name="Rounded Rectangle 8"/>
          <p:cNvSpPr/>
          <p:nvPr/>
        </p:nvSpPr>
        <p:spPr>
          <a:xfrm>
            <a:off x="685800" y="2834640"/>
            <a:ext cx="2554148" cy="1280160"/>
          </a:xfrm>
          <a:prstGeom prst="roundRect">
            <a:avLst>
              <a:gd name="adj" fmla="val 10000"/>
            </a:avLst>
          </a:prstGeom>
          <a:solidFill>
            <a:srgbClr val="FFFFFF"/>
          </a:solidFill>
          <a:ln w="15875">
            <a:solidFill>
              <a:srgbClr val="B9A7D6"/>
            </a:solidFill>
          </a:ln>
        </p:spPr>
        <p:txBody>
          <a:bodyPr rtlCol="0" anchor="ctr"/>
          <a:lstStyle/>
          <a:p>
            <a:pPr algn="ctr"/>
            <a:endParaRPr/>
          </a:p>
        </p:txBody>
      </p:sp>
      <p:sp>
        <p:nvSpPr>
          <p:cNvPr id="10" name="TextBox 9"/>
          <p:cNvSpPr txBox="1"/>
          <p:nvPr/>
        </p:nvSpPr>
        <p:spPr>
          <a:xfrm>
            <a:off x="868680" y="2907792"/>
            <a:ext cx="2188388" cy="320040"/>
          </a:xfrm>
          <a:prstGeom prst="rect">
            <a:avLst/>
          </a:prstGeom>
          <a:noFill/>
        </p:spPr>
        <p:txBody>
          <a:bodyPr wrap="square" lIns="0" tIns="0" rIns="0" bIns="0" anchor="t">
            <a:noAutofit/>
          </a:bodyPr>
          <a:lstStyle/>
          <a:p>
            <a:pPr marL="0" indent="0" algn="l">
              <a:lnSpc>
                <a:spcPct val="100000"/>
              </a:lnSpc>
              <a:spcBef>
                <a:spcPts val="0"/>
              </a:spcBef>
              <a:buNone/>
            </a:pPr>
            <a:r>
              <a:rPr lang="en-AU" sz="1300" b="1">
                <a:solidFill>
                  <a:srgbClr val="5B5670"/>
                </a:solidFill>
                <a:latin typeface="Arial"/>
                <a:ea typeface="Arial"/>
                <a:cs typeface="Arial"/>
              </a:rPr>
              <a:t>Brings</a:t>
            </a:r>
          </a:p>
        </p:txBody>
      </p:sp>
      <p:sp>
        <p:nvSpPr>
          <p:cNvPr id="11" name="Rounded Rectangle 10"/>
          <p:cNvSpPr/>
          <p:nvPr/>
        </p:nvSpPr>
        <p:spPr>
          <a:xfrm>
            <a:off x="685800" y="4251960"/>
            <a:ext cx="2554148" cy="1280160"/>
          </a:xfrm>
          <a:prstGeom prst="roundRect">
            <a:avLst>
              <a:gd name="adj" fmla="val 10000"/>
            </a:avLst>
          </a:prstGeom>
          <a:solidFill>
            <a:srgbClr val="FFFFFF"/>
          </a:solidFill>
          <a:ln w="15875">
            <a:solidFill>
              <a:srgbClr val="B9A7D6"/>
            </a:solidFill>
          </a:ln>
        </p:spPr>
        <p:txBody>
          <a:bodyPr rtlCol="0" anchor="ctr"/>
          <a:lstStyle/>
          <a:p>
            <a:pPr algn="ctr"/>
            <a:endParaRPr/>
          </a:p>
        </p:txBody>
      </p:sp>
      <p:sp>
        <p:nvSpPr>
          <p:cNvPr id="12" name="TextBox 11"/>
          <p:cNvSpPr txBox="1"/>
          <p:nvPr/>
        </p:nvSpPr>
        <p:spPr>
          <a:xfrm>
            <a:off x="868680" y="4325112"/>
            <a:ext cx="2188388" cy="320040"/>
          </a:xfrm>
          <a:prstGeom prst="rect">
            <a:avLst/>
          </a:prstGeom>
          <a:noFill/>
        </p:spPr>
        <p:txBody>
          <a:bodyPr wrap="square" lIns="0" tIns="0" rIns="0" bIns="0" anchor="t">
            <a:noAutofit/>
          </a:bodyPr>
          <a:lstStyle/>
          <a:p>
            <a:pPr marL="0" indent="0" algn="l">
              <a:lnSpc>
                <a:spcPct val="100000"/>
              </a:lnSpc>
              <a:spcBef>
                <a:spcPts val="0"/>
              </a:spcBef>
              <a:buNone/>
            </a:pPr>
            <a:r>
              <a:rPr lang="en-AU" sz="1300" b="1">
                <a:solidFill>
                  <a:srgbClr val="5B5670"/>
                </a:solidFill>
                <a:latin typeface="Arial"/>
                <a:ea typeface="Arial"/>
                <a:cs typeface="Arial"/>
              </a:rPr>
              <a:t>Challenges</a:t>
            </a:r>
          </a:p>
        </p:txBody>
      </p:sp>
      <p:sp>
        <p:nvSpPr>
          <p:cNvPr id="13" name="Rounded Rectangle 12"/>
          <p:cNvSpPr/>
          <p:nvPr/>
        </p:nvSpPr>
        <p:spPr>
          <a:xfrm>
            <a:off x="3441116" y="2011680"/>
            <a:ext cx="2554148" cy="685800"/>
          </a:xfrm>
          <a:prstGeom prst="roundRect">
            <a:avLst>
              <a:gd name="adj" fmla="val 30000"/>
            </a:avLst>
          </a:prstGeom>
          <a:solidFill>
            <a:srgbClr val="F3F0FA"/>
          </a:solidFill>
          <a:ln>
            <a:noFill/>
          </a:ln>
        </p:spPr>
        <p:txBody>
          <a:bodyPr rtlCol="0" anchor="ctr"/>
          <a:lstStyle/>
          <a:p>
            <a:pPr algn="ctr"/>
            <a:endParaRPr/>
          </a:p>
        </p:txBody>
      </p:sp>
      <p:sp>
        <p:nvSpPr>
          <p:cNvPr id="14" name="TextBox 13"/>
          <p:cNvSpPr txBox="1"/>
          <p:nvPr/>
        </p:nvSpPr>
        <p:spPr>
          <a:xfrm>
            <a:off x="3715436" y="2011680"/>
            <a:ext cx="2005508" cy="685800"/>
          </a:xfrm>
          <a:prstGeom prst="rect">
            <a:avLst/>
          </a:prstGeom>
          <a:noFill/>
        </p:spPr>
        <p:txBody>
          <a:bodyPr wrap="square" lIns="0" tIns="0" rIns="0" bIns="0" anchor="ctr">
            <a:noAutofit/>
          </a:bodyPr>
          <a:lstStyle/>
          <a:p>
            <a:pPr marL="0" indent="0" algn="ctr">
              <a:lnSpc>
                <a:spcPct val="100000"/>
              </a:lnSpc>
              <a:spcBef>
                <a:spcPts val="0"/>
              </a:spcBef>
              <a:buNone/>
            </a:pPr>
            <a:r>
              <a:rPr lang="en-AU" sz="1500" b="1">
                <a:solidFill>
                  <a:srgbClr val="584099"/>
                </a:solidFill>
                <a:latin typeface="Arial Black"/>
                <a:ea typeface="Arial Black"/>
                <a:cs typeface="Arial Black"/>
              </a:rPr>
              <a:t>Parents and carers</a:t>
            </a:r>
          </a:p>
        </p:txBody>
      </p:sp>
      <p:sp>
        <p:nvSpPr>
          <p:cNvPr id="15" name="Rounded Rectangle 14"/>
          <p:cNvSpPr/>
          <p:nvPr/>
        </p:nvSpPr>
        <p:spPr>
          <a:xfrm>
            <a:off x="3441116" y="2834640"/>
            <a:ext cx="2554148" cy="1280160"/>
          </a:xfrm>
          <a:prstGeom prst="roundRect">
            <a:avLst>
              <a:gd name="adj" fmla="val 10000"/>
            </a:avLst>
          </a:prstGeom>
          <a:solidFill>
            <a:srgbClr val="FFFFFF"/>
          </a:solidFill>
          <a:ln w="15875">
            <a:solidFill>
              <a:srgbClr val="B9A7D6"/>
            </a:solidFill>
          </a:ln>
        </p:spPr>
        <p:txBody>
          <a:bodyPr rtlCol="0" anchor="ctr"/>
          <a:lstStyle/>
          <a:p>
            <a:pPr algn="ctr"/>
            <a:endParaRPr/>
          </a:p>
        </p:txBody>
      </p:sp>
      <p:sp>
        <p:nvSpPr>
          <p:cNvPr id="16" name="TextBox 15"/>
          <p:cNvSpPr txBox="1"/>
          <p:nvPr/>
        </p:nvSpPr>
        <p:spPr>
          <a:xfrm>
            <a:off x="3623996" y="2907792"/>
            <a:ext cx="2188388" cy="320040"/>
          </a:xfrm>
          <a:prstGeom prst="rect">
            <a:avLst/>
          </a:prstGeom>
          <a:noFill/>
        </p:spPr>
        <p:txBody>
          <a:bodyPr wrap="square" lIns="0" tIns="0" rIns="0" bIns="0" anchor="t">
            <a:noAutofit/>
          </a:bodyPr>
          <a:lstStyle/>
          <a:p>
            <a:pPr marL="0" indent="0" algn="l">
              <a:lnSpc>
                <a:spcPct val="100000"/>
              </a:lnSpc>
              <a:spcBef>
                <a:spcPts val="0"/>
              </a:spcBef>
              <a:buNone/>
            </a:pPr>
            <a:r>
              <a:rPr lang="en-AU" sz="1300" b="1">
                <a:solidFill>
                  <a:srgbClr val="5B5670"/>
                </a:solidFill>
                <a:latin typeface="Arial"/>
                <a:ea typeface="Arial"/>
                <a:cs typeface="Arial"/>
              </a:rPr>
              <a:t>Brings</a:t>
            </a:r>
          </a:p>
        </p:txBody>
      </p:sp>
      <p:sp>
        <p:nvSpPr>
          <p:cNvPr id="17" name="Rounded Rectangle 16"/>
          <p:cNvSpPr/>
          <p:nvPr/>
        </p:nvSpPr>
        <p:spPr>
          <a:xfrm>
            <a:off x="3441116" y="4251960"/>
            <a:ext cx="2554148" cy="1280160"/>
          </a:xfrm>
          <a:prstGeom prst="roundRect">
            <a:avLst>
              <a:gd name="adj" fmla="val 10000"/>
            </a:avLst>
          </a:prstGeom>
          <a:solidFill>
            <a:srgbClr val="FFFFFF"/>
          </a:solidFill>
          <a:ln w="15875">
            <a:solidFill>
              <a:srgbClr val="B9A7D6"/>
            </a:solidFill>
          </a:ln>
        </p:spPr>
        <p:txBody>
          <a:bodyPr rtlCol="0" anchor="ctr"/>
          <a:lstStyle/>
          <a:p>
            <a:pPr algn="ctr"/>
            <a:endParaRPr/>
          </a:p>
        </p:txBody>
      </p:sp>
      <p:sp>
        <p:nvSpPr>
          <p:cNvPr id="18" name="TextBox 17"/>
          <p:cNvSpPr txBox="1"/>
          <p:nvPr/>
        </p:nvSpPr>
        <p:spPr>
          <a:xfrm>
            <a:off x="3623996" y="4325112"/>
            <a:ext cx="2188388" cy="320040"/>
          </a:xfrm>
          <a:prstGeom prst="rect">
            <a:avLst/>
          </a:prstGeom>
          <a:noFill/>
        </p:spPr>
        <p:txBody>
          <a:bodyPr wrap="square" lIns="0" tIns="0" rIns="0" bIns="0" anchor="t">
            <a:noAutofit/>
          </a:bodyPr>
          <a:lstStyle/>
          <a:p>
            <a:pPr marL="0" indent="0" algn="l">
              <a:lnSpc>
                <a:spcPct val="100000"/>
              </a:lnSpc>
              <a:spcBef>
                <a:spcPts val="0"/>
              </a:spcBef>
              <a:buNone/>
            </a:pPr>
            <a:r>
              <a:rPr lang="en-AU" sz="1300" b="1">
                <a:solidFill>
                  <a:srgbClr val="5B5670"/>
                </a:solidFill>
                <a:latin typeface="Arial"/>
                <a:ea typeface="Arial"/>
                <a:cs typeface="Arial"/>
              </a:rPr>
              <a:t>Challenges</a:t>
            </a:r>
          </a:p>
        </p:txBody>
      </p:sp>
      <p:sp>
        <p:nvSpPr>
          <p:cNvPr id="19" name="Rounded Rectangle 18"/>
          <p:cNvSpPr/>
          <p:nvPr/>
        </p:nvSpPr>
        <p:spPr>
          <a:xfrm>
            <a:off x="6196432" y="2011680"/>
            <a:ext cx="2554148" cy="685800"/>
          </a:xfrm>
          <a:prstGeom prst="roundRect">
            <a:avLst>
              <a:gd name="adj" fmla="val 30000"/>
            </a:avLst>
          </a:prstGeom>
          <a:solidFill>
            <a:srgbClr val="F3F0FA"/>
          </a:solidFill>
          <a:ln>
            <a:noFill/>
          </a:ln>
        </p:spPr>
        <p:txBody>
          <a:bodyPr rtlCol="0" anchor="ctr"/>
          <a:lstStyle/>
          <a:p>
            <a:pPr algn="ctr"/>
            <a:endParaRPr/>
          </a:p>
        </p:txBody>
      </p:sp>
      <p:sp>
        <p:nvSpPr>
          <p:cNvPr id="20" name="TextBox 19"/>
          <p:cNvSpPr txBox="1"/>
          <p:nvPr/>
        </p:nvSpPr>
        <p:spPr>
          <a:xfrm>
            <a:off x="6470752" y="2011680"/>
            <a:ext cx="2005508" cy="685800"/>
          </a:xfrm>
          <a:prstGeom prst="rect">
            <a:avLst/>
          </a:prstGeom>
          <a:noFill/>
        </p:spPr>
        <p:txBody>
          <a:bodyPr wrap="square" lIns="0" tIns="0" rIns="0" bIns="0" anchor="ctr">
            <a:noAutofit/>
          </a:bodyPr>
          <a:lstStyle/>
          <a:p>
            <a:pPr marL="0" indent="0" algn="ctr">
              <a:lnSpc>
                <a:spcPct val="100000"/>
              </a:lnSpc>
              <a:spcBef>
                <a:spcPts val="0"/>
              </a:spcBef>
              <a:buNone/>
            </a:pPr>
            <a:r>
              <a:rPr lang="en-AU" sz="1500" b="1">
                <a:solidFill>
                  <a:srgbClr val="584099"/>
                </a:solidFill>
                <a:latin typeface="Arial Black"/>
                <a:ea typeface="Arial Black"/>
                <a:cs typeface="Arial Black"/>
              </a:rPr>
              <a:t>Teachers</a:t>
            </a:r>
          </a:p>
        </p:txBody>
      </p:sp>
      <p:sp>
        <p:nvSpPr>
          <p:cNvPr id="21" name="Rounded Rectangle 20"/>
          <p:cNvSpPr/>
          <p:nvPr/>
        </p:nvSpPr>
        <p:spPr>
          <a:xfrm>
            <a:off x="6196432" y="2834640"/>
            <a:ext cx="2554148" cy="1280160"/>
          </a:xfrm>
          <a:prstGeom prst="roundRect">
            <a:avLst>
              <a:gd name="adj" fmla="val 10000"/>
            </a:avLst>
          </a:prstGeom>
          <a:solidFill>
            <a:srgbClr val="FFFFFF"/>
          </a:solidFill>
          <a:ln w="15875">
            <a:solidFill>
              <a:srgbClr val="B9A7D6"/>
            </a:solidFill>
          </a:ln>
        </p:spPr>
        <p:txBody>
          <a:bodyPr rtlCol="0" anchor="ctr"/>
          <a:lstStyle/>
          <a:p>
            <a:pPr algn="ctr"/>
            <a:endParaRPr/>
          </a:p>
        </p:txBody>
      </p:sp>
      <p:sp>
        <p:nvSpPr>
          <p:cNvPr id="22" name="TextBox 21"/>
          <p:cNvSpPr txBox="1"/>
          <p:nvPr/>
        </p:nvSpPr>
        <p:spPr>
          <a:xfrm>
            <a:off x="6379312" y="2907792"/>
            <a:ext cx="2188388" cy="320040"/>
          </a:xfrm>
          <a:prstGeom prst="rect">
            <a:avLst/>
          </a:prstGeom>
          <a:noFill/>
        </p:spPr>
        <p:txBody>
          <a:bodyPr wrap="square" lIns="0" tIns="0" rIns="0" bIns="0" anchor="t">
            <a:noAutofit/>
          </a:bodyPr>
          <a:lstStyle/>
          <a:p>
            <a:pPr marL="0" indent="0" algn="l">
              <a:lnSpc>
                <a:spcPct val="100000"/>
              </a:lnSpc>
              <a:spcBef>
                <a:spcPts val="0"/>
              </a:spcBef>
              <a:buNone/>
            </a:pPr>
            <a:r>
              <a:rPr lang="en-AU" sz="1300" b="1">
                <a:solidFill>
                  <a:srgbClr val="5B5670"/>
                </a:solidFill>
                <a:latin typeface="Arial"/>
                <a:ea typeface="Arial"/>
                <a:cs typeface="Arial"/>
              </a:rPr>
              <a:t>Brings</a:t>
            </a:r>
          </a:p>
        </p:txBody>
      </p:sp>
      <p:sp>
        <p:nvSpPr>
          <p:cNvPr id="23" name="Rounded Rectangle 22"/>
          <p:cNvSpPr/>
          <p:nvPr/>
        </p:nvSpPr>
        <p:spPr>
          <a:xfrm>
            <a:off x="6196432" y="4251960"/>
            <a:ext cx="2554148" cy="1280160"/>
          </a:xfrm>
          <a:prstGeom prst="roundRect">
            <a:avLst>
              <a:gd name="adj" fmla="val 10000"/>
            </a:avLst>
          </a:prstGeom>
          <a:solidFill>
            <a:srgbClr val="FFFFFF"/>
          </a:solidFill>
          <a:ln w="15875">
            <a:solidFill>
              <a:srgbClr val="B9A7D6"/>
            </a:solidFill>
          </a:ln>
        </p:spPr>
        <p:txBody>
          <a:bodyPr rtlCol="0" anchor="ctr"/>
          <a:lstStyle/>
          <a:p>
            <a:pPr algn="ctr"/>
            <a:endParaRPr/>
          </a:p>
        </p:txBody>
      </p:sp>
      <p:sp>
        <p:nvSpPr>
          <p:cNvPr id="24" name="TextBox 23"/>
          <p:cNvSpPr txBox="1"/>
          <p:nvPr/>
        </p:nvSpPr>
        <p:spPr>
          <a:xfrm>
            <a:off x="6379312" y="4325112"/>
            <a:ext cx="2188388" cy="320040"/>
          </a:xfrm>
          <a:prstGeom prst="rect">
            <a:avLst/>
          </a:prstGeom>
          <a:noFill/>
        </p:spPr>
        <p:txBody>
          <a:bodyPr wrap="square" lIns="0" tIns="0" rIns="0" bIns="0" anchor="t">
            <a:noAutofit/>
          </a:bodyPr>
          <a:lstStyle/>
          <a:p>
            <a:pPr marL="0" indent="0" algn="l">
              <a:lnSpc>
                <a:spcPct val="100000"/>
              </a:lnSpc>
              <a:spcBef>
                <a:spcPts val="0"/>
              </a:spcBef>
              <a:buNone/>
            </a:pPr>
            <a:r>
              <a:rPr lang="en-AU" sz="1300" b="1">
                <a:solidFill>
                  <a:srgbClr val="5B5670"/>
                </a:solidFill>
                <a:latin typeface="Arial"/>
                <a:ea typeface="Arial"/>
                <a:cs typeface="Arial"/>
              </a:rPr>
              <a:t>Challenges</a:t>
            </a:r>
          </a:p>
        </p:txBody>
      </p:sp>
      <p:sp>
        <p:nvSpPr>
          <p:cNvPr id="25" name="Rounded Rectangle 24"/>
          <p:cNvSpPr/>
          <p:nvPr/>
        </p:nvSpPr>
        <p:spPr>
          <a:xfrm>
            <a:off x="8951747" y="2011680"/>
            <a:ext cx="2554148" cy="685800"/>
          </a:xfrm>
          <a:prstGeom prst="roundRect">
            <a:avLst>
              <a:gd name="adj" fmla="val 30000"/>
            </a:avLst>
          </a:prstGeom>
          <a:solidFill>
            <a:srgbClr val="F3F0FA"/>
          </a:solidFill>
          <a:ln>
            <a:noFill/>
          </a:ln>
        </p:spPr>
        <p:txBody>
          <a:bodyPr rtlCol="0" anchor="ctr"/>
          <a:lstStyle/>
          <a:p>
            <a:pPr algn="ctr"/>
            <a:endParaRPr/>
          </a:p>
        </p:txBody>
      </p:sp>
      <p:sp>
        <p:nvSpPr>
          <p:cNvPr id="26" name="TextBox 25"/>
          <p:cNvSpPr txBox="1"/>
          <p:nvPr/>
        </p:nvSpPr>
        <p:spPr>
          <a:xfrm>
            <a:off x="9226067" y="2011680"/>
            <a:ext cx="2005508" cy="685800"/>
          </a:xfrm>
          <a:prstGeom prst="rect">
            <a:avLst/>
          </a:prstGeom>
          <a:noFill/>
        </p:spPr>
        <p:txBody>
          <a:bodyPr wrap="square" lIns="0" tIns="0" rIns="0" bIns="0" anchor="ctr">
            <a:noAutofit/>
          </a:bodyPr>
          <a:lstStyle/>
          <a:p>
            <a:pPr marL="0" indent="0" algn="ctr">
              <a:lnSpc>
                <a:spcPct val="100000"/>
              </a:lnSpc>
              <a:spcBef>
                <a:spcPts val="0"/>
              </a:spcBef>
              <a:buNone/>
            </a:pPr>
            <a:r>
              <a:rPr lang="en-AU" sz="1500" b="1">
                <a:solidFill>
                  <a:srgbClr val="584099"/>
                </a:solidFill>
                <a:latin typeface="Arial Black"/>
                <a:ea typeface="Arial Black"/>
                <a:cs typeface="Arial Black"/>
              </a:rPr>
              <a:t>Paraprofessionals</a:t>
            </a:r>
          </a:p>
        </p:txBody>
      </p:sp>
      <p:sp>
        <p:nvSpPr>
          <p:cNvPr id="27" name="Rounded Rectangle 26"/>
          <p:cNvSpPr/>
          <p:nvPr/>
        </p:nvSpPr>
        <p:spPr>
          <a:xfrm>
            <a:off x="8951747" y="2834640"/>
            <a:ext cx="2554148" cy="1280160"/>
          </a:xfrm>
          <a:prstGeom prst="roundRect">
            <a:avLst>
              <a:gd name="adj" fmla="val 10000"/>
            </a:avLst>
          </a:prstGeom>
          <a:solidFill>
            <a:srgbClr val="FFFFFF"/>
          </a:solidFill>
          <a:ln w="15875">
            <a:solidFill>
              <a:srgbClr val="B9A7D6"/>
            </a:solidFill>
          </a:ln>
        </p:spPr>
        <p:txBody>
          <a:bodyPr rtlCol="0" anchor="ctr"/>
          <a:lstStyle/>
          <a:p>
            <a:pPr algn="ctr"/>
            <a:endParaRPr/>
          </a:p>
        </p:txBody>
      </p:sp>
      <p:sp>
        <p:nvSpPr>
          <p:cNvPr id="28" name="TextBox 27"/>
          <p:cNvSpPr txBox="1"/>
          <p:nvPr/>
        </p:nvSpPr>
        <p:spPr>
          <a:xfrm>
            <a:off x="9134627" y="2907792"/>
            <a:ext cx="2188388" cy="320040"/>
          </a:xfrm>
          <a:prstGeom prst="rect">
            <a:avLst/>
          </a:prstGeom>
          <a:noFill/>
        </p:spPr>
        <p:txBody>
          <a:bodyPr wrap="square" lIns="0" tIns="0" rIns="0" bIns="0" anchor="t">
            <a:noAutofit/>
          </a:bodyPr>
          <a:lstStyle/>
          <a:p>
            <a:pPr marL="0" indent="0" algn="l">
              <a:lnSpc>
                <a:spcPct val="100000"/>
              </a:lnSpc>
              <a:spcBef>
                <a:spcPts val="0"/>
              </a:spcBef>
              <a:buNone/>
            </a:pPr>
            <a:r>
              <a:rPr lang="en-AU" sz="1300" b="1">
                <a:solidFill>
                  <a:srgbClr val="5B5670"/>
                </a:solidFill>
                <a:latin typeface="Arial"/>
                <a:ea typeface="Arial"/>
                <a:cs typeface="Arial"/>
              </a:rPr>
              <a:t>Brings</a:t>
            </a:r>
          </a:p>
        </p:txBody>
      </p:sp>
      <p:sp>
        <p:nvSpPr>
          <p:cNvPr id="29" name="Rounded Rectangle 28"/>
          <p:cNvSpPr/>
          <p:nvPr/>
        </p:nvSpPr>
        <p:spPr>
          <a:xfrm>
            <a:off x="8951747" y="4251960"/>
            <a:ext cx="2554148" cy="1280160"/>
          </a:xfrm>
          <a:prstGeom prst="roundRect">
            <a:avLst>
              <a:gd name="adj" fmla="val 10000"/>
            </a:avLst>
          </a:prstGeom>
          <a:solidFill>
            <a:srgbClr val="FFFFFF"/>
          </a:solidFill>
          <a:ln w="15875">
            <a:solidFill>
              <a:srgbClr val="B9A7D6"/>
            </a:solidFill>
          </a:ln>
        </p:spPr>
        <p:txBody>
          <a:bodyPr rtlCol="0" anchor="ctr"/>
          <a:lstStyle/>
          <a:p>
            <a:pPr algn="ctr"/>
            <a:endParaRPr/>
          </a:p>
        </p:txBody>
      </p:sp>
      <p:sp>
        <p:nvSpPr>
          <p:cNvPr id="30" name="TextBox 29"/>
          <p:cNvSpPr txBox="1"/>
          <p:nvPr/>
        </p:nvSpPr>
        <p:spPr>
          <a:xfrm>
            <a:off x="9134627" y="4325112"/>
            <a:ext cx="2188388" cy="320040"/>
          </a:xfrm>
          <a:prstGeom prst="rect">
            <a:avLst/>
          </a:prstGeom>
          <a:noFill/>
        </p:spPr>
        <p:txBody>
          <a:bodyPr wrap="square" lIns="0" tIns="0" rIns="0" bIns="0" anchor="t">
            <a:noAutofit/>
          </a:bodyPr>
          <a:lstStyle/>
          <a:p>
            <a:pPr marL="0" indent="0" algn="l">
              <a:lnSpc>
                <a:spcPct val="100000"/>
              </a:lnSpc>
              <a:spcBef>
                <a:spcPts val="0"/>
              </a:spcBef>
              <a:buNone/>
            </a:pPr>
            <a:r>
              <a:rPr lang="en-AU" sz="1300" b="1">
                <a:solidFill>
                  <a:srgbClr val="5B5670"/>
                </a:solidFill>
                <a:latin typeface="Arial"/>
                <a:ea typeface="Arial"/>
                <a:cs typeface="Arial"/>
              </a:rPr>
              <a:t>Challenges</a:t>
            </a:r>
          </a:p>
        </p:txBody>
      </p:sp>
      <p:sp>
        <p:nvSpPr>
          <p:cNvPr id="31" name="TextBox 30"/>
          <p:cNvSpPr txBox="1"/>
          <p:nvPr/>
        </p:nvSpPr>
        <p:spPr>
          <a:xfrm>
            <a:off x="5029200" y="5806440"/>
            <a:ext cx="6476695" cy="548640"/>
          </a:xfrm>
          <a:prstGeom prst="rect">
            <a:avLst/>
          </a:prstGeom>
          <a:noFill/>
        </p:spPr>
        <p:txBody>
          <a:bodyPr wrap="square" lIns="0" tIns="0" rIns="0" bIns="0" anchor="ctr">
            <a:noAutofit/>
          </a:bodyPr>
          <a:lstStyle/>
          <a:p>
            <a:pPr marL="0" indent="0" algn="r">
              <a:lnSpc>
                <a:spcPct val="100000"/>
              </a:lnSpc>
              <a:spcBef>
                <a:spcPts val="0"/>
              </a:spcBef>
              <a:buNone/>
            </a:pPr>
            <a:r>
              <a:rPr lang="en-AU" sz="1700" b="1">
                <a:solidFill>
                  <a:srgbClr val="584099"/>
                </a:solidFill>
                <a:latin typeface="Arial"/>
                <a:ea typeface="Arial"/>
                <a:cs typeface="Arial"/>
              </a:rPr>
              <a:t>Then compare: what do all four have in common?</a:t>
            </a:r>
          </a:p>
        </p:txBody>
      </p:sp>
      <p:sp>
        <p:nvSpPr>
          <p:cNvPr id="32" name="Rounded Rectangle 31"/>
          <p:cNvSpPr/>
          <p:nvPr/>
        </p:nvSpPr>
        <p:spPr>
          <a:xfrm>
            <a:off x="685800" y="5806440"/>
            <a:ext cx="2103120" cy="548640"/>
          </a:xfrm>
          <a:prstGeom prst="roundRect">
            <a:avLst>
              <a:gd name="adj" fmla="val 50000"/>
            </a:avLst>
          </a:prstGeom>
          <a:solidFill>
            <a:srgbClr val="FFFFFF"/>
          </a:solidFill>
          <a:ln w="19050">
            <a:solidFill>
              <a:srgbClr val="584099"/>
            </a:solidFill>
          </a:ln>
        </p:spPr>
        <p:txBody>
          <a:bodyPr rtlCol="0" anchor="ctr"/>
          <a:lstStyle/>
          <a:p>
            <a:pPr algn="ctr"/>
            <a:endParaRPr/>
          </a:p>
        </p:txBody>
      </p:sp>
      <p:sp>
        <p:nvSpPr>
          <p:cNvPr id="33" name="TextBox 32"/>
          <p:cNvSpPr txBox="1"/>
          <p:nvPr/>
        </p:nvSpPr>
        <p:spPr>
          <a:xfrm>
            <a:off x="960120" y="5806440"/>
            <a:ext cx="1554480" cy="548640"/>
          </a:xfrm>
          <a:prstGeom prst="rect">
            <a:avLst/>
          </a:prstGeom>
          <a:noFill/>
        </p:spPr>
        <p:txBody>
          <a:bodyPr wrap="square" lIns="0" tIns="0" rIns="0" bIns="0" anchor="ctr">
            <a:noAutofit/>
          </a:bodyPr>
          <a:lstStyle/>
          <a:p>
            <a:pPr marL="0" indent="0" algn="ctr">
              <a:lnSpc>
                <a:spcPct val="100000"/>
              </a:lnSpc>
              <a:spcBef>
                <a:spcPts val="0"/>
              </a:spcBef>
              <a:buNone/>
            </a:pPr>
            <a:r>
              <a:rPr lang="en-AU" sz="1800" b="1">
                <a:solidFill>
                  <a:srgbClr val="584099"/>
                </a:solidFill>
                <a:latin typeface="Arial"/>
                <a:ea typeface="Arial"/>
                <a:cs typeface="Arial"/>
              </a:rPr>
              <a:t>8 minutes</a:t>
            </a:r>
          </a:p>
        </p:txBody>
      </p:sp>
    </p:spTree>
    <p:extLst>
      <p:ext uri="{BB962C8B-B14F-4D97-AF65-F5344CB8AC3E}">
        <p14:creationId xmlns:p14="http://schemas.microsoft.com/office/powerpoint/2010/main" val="351496224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1A2A8AD-30E8-445B-A354-028A833B7933}"/>
            </a:ext>
          </a:extLst>
        </p:cNvPr>
        <p:cNvGrpSpPr/>
        <p:nvPr/>
      </p:nvGrpSpPr>
      <p:grpSpPr>
        <a:xfrm>
          <a:off x="0" y="0"/>
          <a:ext cx="0" cy="0"/>
          <a:chOff x="0" y="0"/>
          <a:chExt cx="0" cy="0"/>
        </a:xfrm>
      </p:grpSpPr>
      <p:sp>
        <p:nvSpPr>
          <p:cNvPr id="8" name="TextBox 7">
            <a:extLst>
              <a:ext uri="{FF2B5EF4-FFF2-40B4-BE49-F238E27FC236}">
                <a16:creationId xmlns:a16="http://schemas.microsoft.com/office/drawing/2014/main" id="{D4838D88-E610-403C-B6B2-EC64CB6D651F}"/>
              </a:ext>
            </a:extLst>
          </p:cNvPr>
          <p:cNvSpPr txBox="1"/>
          <p:nvPr/>
        </p:nvSpPr>
        <p:spPr>
          <a:xfrm>
            <a:off x="685800" y="457200"/>
            <a:ext cx="5445106" cy="822960"/>
          </a:xfrm>
          <a:prstGeom prst="rect">
            <a:avLst/>
          </a:prstGeom>
          <a:solidFill>
            <a:schemeClr val="bg1"/>
          </a:solidFill>
        </p:spPr>
        <p:txBody>
          <a:bodyPr wrap="square" lIns="0" tIns="0" rIns="0" bIns="0" rtlCol="0" anchor="t">
            <a:noAutofit/>
          </a:bodyPr>
          <a:lstStyle/>
          <a:p>
            <a:pPr marL="0" indent="0" algn="l">
              <a:lnSpc>
                <a:spcPct val="100000"/>
              </a:lnSpc>
              <a:spcBef>
                <a:spcPts val="0"/>
              </a:spcBef>
              <a:buNone/>
            </a:pPr>
            <a:r>
              <a:rPr lang="en-AU" sz="3600" b="0">
                <a:solidFill>
                  <a:srgbClr val="584099"/>
                </a:solidFill>
                <a:latin typeface="Arial Black"/>
                <a:ea typeface="Arial Black"/>
                <a:cs typeface="Arial Black"/>
              </a:rPr>
              <a:t>The first two minutes</a:t>
            </a:r>
          </a:p>
        </p:txBody>
      </p:sp>
      <p:pic>
        <p:nvPicPr>
          <p:cNvPr id="7" name="Picture 6" descr="Father standing with child on shoulders indoors, both smiling with flexed arm muscles">
            <a:extLst>
              <a:ext uri="{FF2B5EF4-FFF2-40B4-BE49-F238E27FC236}">
                <a16:creationId xmlns:a16="http://schemas.microsoft.com/office/drawing/2014/main" id="{BFCF9B49-A0F6-5B3D-B16E-6779F56A6B26}"/>
              </a:ext>
            </a:extLst>
          </p:cNvPr>
          <p:cNvPicPr>
            <a:picLocks noChangeAspect="1"/>
          </p:cNvPicPr>
          <p:nvPr/>
        </p:nvPicPr>
        <p:blipFill>
          <a:blip r:embed="rId3">
            <a:extLst>
              <a:ext uri="{28A0092B-C50C-407E-A947-70E740481C1C}">
                <a14:useLocalDpi xmlns:a14="http://schemas.microsoft.com/office/drawing/2010/main" val="0"/>
              </a:ext>
            </a:extLst>
          </a:blip>
          <a:srcRect l="16530" r="16530"/>
          <a:stretch/>
        </p:blipFill>
        <p:spPr>
          <a:xfrm>
            <a:off x="6405226" y="0"/>
            <a:ext cx="6878775" cy="6857990"/>
          </a:xfrm>
          <a:custGeom>
            <a:avLst/>
            <a:gdLst/>
            <a:ahLst/>
            <a:cxnLst/>
            <a:rect l="l" t="t" r="r" b="b"/>
            <a:pathLst>
              <a:path w="6878775" h="6858000">
                <a:moveTo>
                  <a:pt x="1102973" y="0"/>
                </a:moveTo>
                <a:lnTo>
                  <a:pt x="1160688" y="0"/>
                </a:lnTo>
                <a:lnTo>
                  <a:pt x="983189" y="331786"/>
                </a:lnTo>
                <a:cubicBezTo>
                  <a:pt x="914866" y="469145"/>
                  <a:pt x="850355" y="608712"/>
                  <a:pt x="789261" y="750263"/>
                </a:cubicBezTo>
                <a:cubicBezTo>
                  <a:pt x="774307" y="784928"/>
                  <a:pt x="759992" y="819849"/>
                  <a:pt x="745295" y="854514"/>
                </a:cubicBezTo>
                <a:cubicBezTo>
                  <a:pt x="756682" y="845393"/>
                  <a:pt x="765489" y="833492"/>
                  <a:pt x="770857" y="819975"/>
                </a:cubicBezTo>
                <a:cubicBezTo>
                  <a:pt x="879943" y="589569"/>
                  <a:pt x="999605" y="365513"/>
                  <a:pt x="1131329" y="148742"/>
                </a:cubicBezTo>
                <a:lnTo>
                  <a:pt x="1227589" y="0"/>
                </a:lnTo>
                <a:lnTo>
                  <a:pt x="6878775" y="0"/>
                </a:lnTo>
                <a:lnTo>
                  <a:pt x="6878775" y="6858000"/>
                </a:lnTo>
                <a:lnTo>
                  <a:pt x="713521" y="6858000"/>
                </a:lnTo>
                <a:lnTo>
                  <a:pt x="625642" y="6670527"/>
                </a:lnTo>
                <a:cubicBezTo>
                  <a:pt x="507232" y="6398531"/>
                  <a:pt x="403083" y="6118381"/>
                  <a:pt x="312785" y="5830359"/>
                </a:cubicBezTo>
                <a:cubicBezTo>
                  <a:pt x="278149" y="5719759"/>
                  <a:pt x="248879" y="5607635"/>
                  <a:pt x="212198" y="5480401"/>
                </a:cubicBezTo>
                <a:cubicBezTo>
                  <a:pt x="212208" y="5491601"/>
                  <a:pt x="212803" y="5502788"/>
                  <a:pt x="213988" y="5513923"/>
                </a:cubicBezTo>
                <a:cubicBezTo>
                  <a:pt x="264089" y="5723695"/>
                  <a:pt x="307290" y="5935370"/>
                  <a:pt x="365826" y="6142729"/>
                </a:cubicBezTo>
                <a:cubicBezTo>
                  <a:pt x="433152" y="6380817"/>
                  <a:pt x="510068" y="6614016"/>
                  <a:pt x="597975" y="6841549"/>
                </a:cubicBezTo>
                <a:lnTo>
                  <a:pt x="604824" y="6858000"/>
                </a:lnTo>
                <a:lnTo>
                  <a:pt x="552056" y="6858000"/>
                </a:lnTo>
                <a:lnTo>
                  <a:pt x="539576" y="6828295"/>
                </a:lnTo>
                <a:cubicBezTo>
                  <a:pt x="380597" y="6414594"/>
                  <a:pt x="260223" y="5988893"/>
                  <a:pt x="171555" y="5552906"/>
                </a:cubicBezTo>
                <a:cubicBezTo>
                  <a:pt x="91163" y="5157998"/>
                  <a:pt x="43746" y="4758899"/>
                  <a:pt x="12305" y="4357388"/>
                </a:cubicBezTo>
                <a:cubicBezTo>
                  <a:pt x="-14281" y="4013908"/>
                  <a:pt x="4507" y="3672965"/>
                  <a:pt x="46684" y="3331516"/>
                </a:cubicBezTo>
                <a:cubicBezTo>
                  <a:pt x="127203" y="2664286"/>
                  <a:pt x="277819" y="2007265"/>
                  <a:pt x="496065" y="1371196"/>
                </a:cubicBezTo>
                <a:cubicBezTo>
                  <a:pt x="636273" y="966066"/>
                  <a:pt x="800445" y="573253"/>
                  <a:pt x="995723" y="196614"/>
                </a:cubicBezTo>
                <a:close/>
              </a:path>
            </a:pathLst>
          </a:custGeom>
        </p:spPr>
      </p:pic>
      <p:sp>
        <p:nvSpPr>
          <p:cNvPr id="9" name="Rounded Rectangle 8"/>
          <p:cNvSpPr/>
          <p:nvPr/>
        </p:nvSpPr>
        <p:spPr>
          <a:xfrm>
            <a:off x="685800" y="1417320"/>
            <a:ext cx="5353666" cy="2011680"/>
          </a:xfrm>
          <a:prstGeom prst="roundRect">
            <a:avLst>
              <a:gd name="adj" fmla="val 8000"/>
            </a:avLst>
          </a:prstGeom>
          <a:solidFill>
            <a:srgbClr val="F3F0FA"/>
          </a:solidFill>
          <a:ln>
            <a:noFill/>
          </a:ln>
        </p:spPr>
        <p:txBody>
          <a:bodyPr rtlCol="0" anchor="ctr"/>
          <a:lstStyle/>
          <a:p>
            <a:pPr algn="ctr"/>
            <a:endParaRPr/>
          </a:p>
        </p:txBody>
      </p:sp>
      <p:pic>
        <p:nvPicPr>
          <p:cNvPr id="10" name="Discussion icon" descr="Speech bubbles"/>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960120" y="1645920"/>
            <a:ext cx="548640" cy="548640"/>
          </a:xfrm>
          <a:prstGeom prst="rect">
            <a:avLst/>
          </a:prstGeom>
        </p:spPr>
      </p:pic>
      <p:sp>
        <p:nvSpPr>
          <p:cNvPr id="11" name="TextBox 10"/>
          <p:cNvSpPr txBox="1"/>
          <p:nvPr/>
        </p:nvSpPr>
        <p:spPr>
          <a:xfrm>
            <a:off x="1691640" y="1417320"/>
            <a:ext cx="4073506" cy="2011680"/>
          </a:xfrm>
          <a:prstGeom prst="rect">
            <a:avLst/>
          </a:prstGeom>
          <a:noFill/>
        </p:spPr>
        <p:txBody>
          <a:bodyPr wrap="square" lIns="0" tIns="0" rIns="0" bIns="0" anchor="ctr">
            <a:noAutofit/>
          </a:bodyPr>
          <a:lstStyle/>
          <a:p>
            <a:pPr marL="0" indent="0" algn="l">
              <a:lnSpc>
                <a:spcPct val="100000"/>
              </a:lnSpc>
              <a:spcBef>
                <a:spcPts val="0"/>
              </a:spcBef>
              <a:buNone/>
            </a:pPr>
            <a:r>
              <a:rPr lang="en-AU" sz="1900" b="1">
                <a:solidFill>
                  <a:srgbClr val="3D2A6B"/>
                </a:solidFill>
                <a:latin typeface="Arial"/>
                <a:ea typeface="Arial"/>
                <a:cs typeface="Arial"/>
              </a:rPr>
              <a:t>Pairs: one of you is the teacher, the other plays a parent or a student.</a:t>
            </a:r>
          </a:p>
          <a:p>
            <a:pPr marL="0" indent="0" algn="l">
              <a:lnSpc>
                <a:spcPct val="100000"/>
              </a:lnSpc>
              <a:spcBef>
                <a:spcPts val="800"/>
              </a:spcBef>
              <a:buNone/>
            </a:pPr>
            <a:r>
              <a:rPr lang="en-AU" sz="1600" b="0">
                <a:solidFill>
                  <a:srgbClr val="2D2440"/>
                </a:solidFill>
                <a:latin typeface="Arial"/>
                <a:ea typeface="Arial"/>
                <a:cs typeface="Arial"/>
              </a:rPr>
              <a:t>Use a scenario from your Participant Guide. For two minutes, only ask and listen back. No solving yet. Then swap.</a:t>
            </a:r>
          </a:p>
        </p:txBody>
      </p:sp>
      <p:sp>
        <p:nvSpPr>
          <p:cNvPr id="12" name="TextBox 11"/>
          <p:cNvSpPr txBox="1"/>
          <p:nvPr/>
        </p:nvSpPr>
        <p:spPr>
          <a:xfrm>
            <a:off x="685800" y="3611880"/>
            <a:ext cx="5353666" cy="365760"/>
          </a:xfrm>
          <a:prstGeom prst="rect">
            <a:avLst/>
          </a:prstGeom>
          <a:noFill/>
        </p:spPr>
        <p:txBody>
          <a:bodyPr wrap="square" lIns="0" tIns="0" rIns="0" bIns="0" anchor="t">
            <a:noAutofit/>
          </a:bodyPr>
          <a:lstStyle/>
          <a:p>
            <a:pPr marL="0" indent="0" algn="l">
              <a:lnSpc>
                <a:spcPct val="100000"/>
              </a:lnSpc>
              <a:spcBef>
                <a:spcPts val="0"/>
              </a:spcBef>
              <a:buNone/>
            </a:pPr>
            <a:r>
              <a:rPr lang="en-AU" sz="1600" b="1">
                <a:solidFill>
                  <a:srgbClr val="584099"/>
                </a:solidFill>
                <a:latin typeface="Arial"/>
                <a:ea typeface="Arial"/>
                <a:cs typeface="Arial"/>
              </a:rPr>
              <a:t>What helps:</a:t>
            </a:r>
          </a:p>
        </p:txBody>
      </p:sp>
      <p:sp>
        <p:nvSpPr>
          <p:cNvPr id="13" name="Rounded Rectangle 12"/>
          <p:cNvSpPr/>
          <p:nvPr/>
        </p:nvSpPr>
        <p:spPr>
          <a:xfrm>
            <a:off x="685800" y="4023360"/>
            <a:ext cx="2631113" cy="475488"/>
          </a:xfrm>
          <a:prstGeom prst="roundRect">
            <a:avLst>
              <a:gd name="adj" fmla="val 40000"/>
            </a:avLst>
          </a:prstGeom>
          <a:solidFill>
            <a:srgbClr val="F3F0FA"/>
          </a:solidFill>
          <a:ln>
            <a:noFill/>
          </a:ln>
        </p:spPr>
        <p:txBody>
          <a:bodyPr rtlCol="0" anchor="ctr"/>
          <a:lstStyle/>
          <a:p>
            <a:pPr algn="ctr"/>
            <a:endParaRPr/>
          </a:p>
        </p:txBody>
      </p:sp>
      <p:sp>
        <p:nvSpPr>
          <p:cNvPr id="14" name="TextBox 13"/>
          <p:cNvSpPr txBox="1"/>
          <p:nvPr/>
        </p:nvSpPr>
        <p:spPr>
          <a:xfrm>
            <a:off x="960120" y="4023360"/>
            <a:ext cx="2082473" cy="475488"/>
          </a:xfrm>
          <a:prstGeom prst="rect">
            <a:avLst/>
          </a:prstGeom>
          <a:noFill/>
        </p:spPr>
        <p:txBody>
          <a:bodyPr wrap="square" lIns="0" tIns="0" rIns="0" bIns="0" anchor="ctr">
            <a:noAutofit/>
          </a:bodyPr>
          <a:lstStyle/>
          <a:p>
            <a:pPr marL="0" indent="0" algn="l">
              <a:lnSpc>
                <a:spcPct val="100000"/>
              </a:lnSpc>
              <a:spcBef>
                <a:spcPts val="0"/>
              </a:spcBef>
              <a:buNone/>
            </a:pPr>
            <a:r>
              <a:rPr lang="en-AU" sz="1400" b="1">
                <a:solidFill>
                  <a:srgbClr val="3D2A6B"/>
                </a:solidFill>
                <a:latin typeface="Arial"/>
                <a:ea typeface="Arial"/>
                <a:cs typeface="Arial"/>
              </a:rPr>
              <a:t>Be prepared for meetings</a:t>
            </a:r>
          </a:p>
        </p:txBody>
      </p:sp>
      <p:sp>
        <p:nvSpPr>
          <p:cNvPr id="15" name="Rounded Rectangle 14"/>
          <p:cNvSpPr/>
          <p:nvPr/>
        </p:nvSpPr>
        <p:spPr>
          <a:xfrm>
            <a:off x="3408353" y="4023360"/>
            <a:ext cx="2631113" cy="475488"/>
          </a:xfrm>
          <a:prstGeom prst="roundRect">
            <a:avLst>
              <a:gd name="adj" fmla="val 40000"/>
            </a:avLst>
          </a:prstGeom>
          <a:solidFill>
            <a:srgbClr val="F3F0FA"/>
          </a:solidFill>
          <a:ln>
            <a:noFill/>
          </a:ln>
        </p:spPr>
        <p:txBody>
          <a:bodyPr rtlCol="0" anchor="ctr"/>
          <a:lstStyle/>
          <a:p>
            <a:pPr algn="ctr"/>
            <a:endParaRPr/>
          </a:p>
        </p:txBody>
      </p:sp>
      <p:sp>
        <p:nvSpPr>
          <p:cNvPr id="16" name="TextBox 15"/>
          <p:cNvSpPr txBox="1"/>
          <p:nvPr/>
        </p:nvSpPr>
        <p:spPr>
          <a:xfrm>
            <a:off x="3682673" y="4023360"/>
            <a:ext cx="2082473" cy="475488"/>
          </a:xfrm>
          <a:prstGeom prst="rect">
            <a:avLst/>
          </a:prstGeom>
          <a:noFill/>
        </p:spPr>
        <p:txBody>
          <a:bodyPr wrap="square" lIns="0" tIns="0" rIns="0" bIns="0" anchor="ctr">
            <a:noAutofit/>
          </a:bodyPr>
          <a:lstStyle/>
          <a:p>
            <a:pPr marL="0" indent="0" algn="l">
              <a:lnSpc>
                <a:spcPct val="100000"/>
              </a:lnSpc>
              <a:spcBef>
                <a:spcPts val="0"/>
              </a:spcBef>
              <a:buNone/>
            </a:pPr>
            <a:r>
              <a:rPr lang="en-AU" sz="1400" b="1">
                <a:solidFill>
                  <a:srgbClr val="3D2A6B"/>
                </a:solidFill>
                <a:latin typeface="Arial"/>
                <a:ea typeface="Arial"/>
                <a:cs typeface="Arial"/>
              </a:rPr>
              <a:t>Share information</a:t>
            </a:r>
          </a:p>
        </p:txBody>
      </p:sp>
      <p:sp>
        <p:nvSpPr>
          <p:cNvPr id="17" name="Rounded Rectangle 16"/>
          <p:cNvSpPr/>
          <p:nvPr/>
        </p:nvSpPr>
        <p:spPr>
          <a:xfrm>
            <a:off x="685800" y="4590288"/>
            <a:ext cx="2631113" cy="475488"/>
          </a:xfrm>
          <a:prstGeom prst="roundRect">
            <a:avLst>
              <a:gd name="adj" fmla="val 40000"/>
            </a:avLst>
          </a:prstGeom>
          <a:solidFill>
            <a:srgbClr val="F3F0FA"/>
          </a:solidFill>
          <a:ln>
            <a:noFill/>
          </a:ln>
        </p:spPr>
        <p:txBody>
          <a:bodyPr rtlCol="0" anchor="ctr"/>
          <a:lstStyle/>
          <a:p>
            <a:pPr algn="ctr"/>
            <a:endParaRPr/>
          </a:p>
        </p:txBody>
      </p:sp>
      <p:sp>
        <p:nvSpPr>
          <p:cNvPr id="18" name="TextBox 17"/>
          <p:cNvSpPr txBox="1"/>
          <p:nvPr/>
        </p:nvSpPr>
        <p:spPr>
          <a:xfrm>
            <a:off x="960120" y="4590288"/>
            <a:ext cx="2082473" cy="475488"/>
          </a:xfrm>
          <a:prstGeom prst="rect">
            <a:avLst/>
          </a:prstGeom>
          <a:noFill/>
        </p:spPr>
        <p:txBody>
          <a:bodyPr wrap="square" lIns="0" tIns="0" rIns="0" bIns="0" anchor="ctr">
            <a:noAutofit/>
          </a:bodyPr>
          <a:lstStyle/>
          <a:p>
            <a:pPr marL="0" indent="0" algn="l">
              <a:lnSpc>
                <a:spcPct val="100000"/>
              </a:lnSpc>
              <a:spcBef>
                <a:spcPts val="0"/>
              </a:spcBef>
              <a:buNone/>
            </a:pPr>
            <a:r>
              <a:rPr lang="en-AU" sz="1400" b="1">
                <a:solidFill>
                  <a:srgbClr val="3D2A6B"/>
                </a:solidFill>
                <a:latin typeface="Arial"/>
                <a:ea typeface="Arial"/>
                <a:cs typeface="Arial"/>
              </a:rPr>
              <a:t>Ask questions</a:t>
            </a:r>
          </a:p>
        </p:txBody>
      </p:sp>
      <p:sp>
        <p:nvSpPr>
          <p:cNvPr id="19" name="Rounded Rectangle 18"/>
          <p:cNvSpPr/>
          <p:nvPr/>
        </p:nvSpPr>
        <p:spPr>
          <a:xfrm>
            <a:off x="3408353" y="4590288"/>
            <a:ext cx="2631113" cy="475488"/>
          </a:xfrm>
          <a:prstGeom prst="roundRect">
            <a:avLst>
              <a:gd name="adj" fmla="val 40000"/>
            </a:avLst>
          </a:prstGeom>
          <a:solidFill>
            <a:srgbClr val="F3F0FA"/>
          </a:solidFill>
          <a:ln>
            <a:noFill/>
          </a:ln>
        </p:spPr>
        <p:txBody>
          <a:bodyPr rtlCol="0" anchor="ctr"/>
          <a:lstStyle/>
          <a:p>
            <a:pPr algn="ctr"/>
            <a:endParaRPr/>
          </a:p>
        </p:txBody>
      </p:sp>
      <p:sp>
        <p:nvSpPr>
          <p:cNvPr id="20" name="TextBox 19"/>
          <p:cNvSpPr txBox="1"/>
          <p:nvPr/>
        </p:nvSpPr>
        <p:spPr>
          <a:xfrm>
            <a:off x="3682673" y="4590288"/>
            <a:ext cx="2082473" cy="475488"/>
          </a:xfrm>
          <a:prstGeom prst="rect">
            <a:avLst/>
          </a:prstGeom>
          <a:noFill/>
        </p:spPr>
        <p:txBody>
          <a:bodyPr wrap="square" lIns="0" tIns="0" rIns="0" bIns="0" anchor="ctr">
            <a:noAutofit/>
          </a:bodyPr>
          <a:lstStyle/>
          <a:p>
            <a:pPr marL="0" indent="0" algn="l">
              <a:lnSpc>
                <a:spcPct val="100000"/>
              </a:lnSpc>
              <a:spcBef>
                <a:spcPts val="0"/>
              </a:spcBef>
              <a:buNone/>
            </a:pPr>
            <a:r>
              <a:rPr lang="en-AU" sz="1400" b="1">
                <a:solidFill>
                  <a:srgbClr val="3D2A6B"/>
                </a:solidFill>
                <a:latin typeface="Arial"/>
                <a:ea typeface="Arial"/>
                <a:cs typeface="Arial"/>
              </a:rPr>
              <a:t>Seek clarification</a:t>
            </a:r>
          </a:p>
        </p:txBody>
      </p:sp>
      <p:sp>
        <p:nvSpPr>
          <p:cNvPr id="21" name="Rounded Rectangle 20"/>
          <p:cNvSpPr/>
          <p:nvPr/>
        </p:nvSpPr>
        <p:spPr>
          <a:xfrm>
            <a:off x="685800" y="5157216"/>
            <a:ext cx="2631113" cy="475488"/>
          </a:xfrm>
          <a:prstGeom prst="roundRect">
            <a:avLst>
              <a:gd name="adj" fmla="val 40000"/>
            </a:avLst>
          </a:prstGeom>
          <a:solidFill>
            <a:srgbClr val="F3F0FA"/>
          </a:solidFill>
          <a:ln>
            <a:noFill/>
          </a:ln>
        </p:spPr>
        <p:txBody>
          <a:bodyPr rtlCol="0" anchor="ctr"/>
          <a:lstStyle/>
          <a:p>
            <a:pPr algn="ctr"/>
            <a:endParaRPr/>
          </a:p>
        </p:txBody>
      </p:sp>
      <p:sp>
        <p:nvSpPr>
          <p:cNvPr id="22" name="TextBox 21"/>
          <p:cNvSpPr txBox="1"/>
          <p:nvPr/>
        </p:nvSpPr>
        <p:spPr>
          <a:xfrm>
            <a:off x="960120" y="5157216"/>
            <a:ext cx="2082473" cy="475488"/>
          </a:xfrm>
          <a:prstGeom prst="rect">
            <a:avLst/>
          </a:prstGeom>
          <a:noFill/>
        </p:spPr>
        <p:txBody>
          <a:bodyPr wrap="square" lIns="0" tIns="0" rIns="0" bIns="0" anchor="ctr">
            <a:noAutofit/>
          </a:bodyPr>
          <a:lstStyle/>
          <a:p>
            <a:pPr marL="0" indent="0" algn="l">
              <a:lnSpc>
                <a:spcPct val="100000"/>
              </a:lnSpc>
              <a:spcBef>
                <a:spcPts val="0"/>
              </a:spcBef>
              <a:buNone/>
            </a:pPr>
            <a:r>
              <a:rPr lang="en-AU" sz="1400" b="1">
                <a:solidFill>
                  <a:srgbClr val="3D2A6B"/>
                </a:solidFill>
                <a:latin typeface="Arial"/>
                <a:ea typeface="Arial"/>
                <a:cs typeface="Arial"/>
              </a:rPr>
              <a:t>Assume the best</a:t>
            </a:r>
          </a:p>
        </p:txBody>
      </p:sp>
      <p:sp>
        <p:nvSpPr>
          <p:cNvPr id="23" name="Rounded Rectangle 22"/>
          <p:cNvSpPr/>
          <p:nvPr/>
        </p:nvSpPr>
        <p:spPr>
          <a:xfrm>
            <a:off x="685800" y="5806440"/>
            <a:ext cx="2103120" cy="548640"/>
          </a:xfrm>
          <a:prstGeom prst="roundRect">
            <a:avLst>
              <a:gd name="adj" fmla="val 50000"/>
            </a:avLst>
          </a:prstGeom>
          <a:solidFill>
            <a:srgbClr val="FFFFFF"/>
          </a:solidFill>
          <a:ln w="19050">
            <a:solidFill>
              <a:srgbClr val="584099"/>
            </a:solidFill>
          </a:ln>
        </p:spPr>
        <p:txBody>
          <a:bodyPr rtlCol="0" anchor="ctr"/>
          <a:lstStyle/>
          <a:p>
            <a:pPr algn="ctr"/>
            <a:endParaRPr/>
          </a:p>
        </p:txBody>
      </p:sp>
      <p:sp>
        <p:nvSpPr>
          <p:cNvPr id="24" name="TextBox 23"/>
          <p:cNvSpPr txBox="1"/>
          <p:nvPr/>
        </p:nvSpPr>
        <p:spPr>
          <a:xfrm>
            <a:off x="960120" y="5806440"/>
            <a:ext cx="1554480" cy="548640"/>
          </a:xfrm>
          <a:prstGeom prst="rect">
            <a:avLst/>
          </a:prstGeom>
          <a:noFill/>
        </p:spPr>
        <p:txBody>
          <a:bodyPr wrap="square" lIns="0" tIns="0" rIns="0" bIns="0" anchor="ctr">
            <a:noAutofit/>
          </a:bodyPr>
          <a:lstStyle/>
          <a:p>
            <a:pPr marL="0" indent="0" algn="ctr">
              <a:lnSpc>
                <a:spcPct val="100000"/>
              </a:lnSpc>
              <a:spcBef>
                <a:spcPts val="0"/>
              </a:spcBef>
              <a:buNone/>
            </a:pPr>
            <a:r>
              <a:rPr lang="en-AU" sz="1800" b="1">
                <a:solidFill>
                  <a:srgbClr val="584099"/>
                </a:solidFill>
                <a:latin typeface="Arial"/>
                <a:ea typeface="Arial"/>
                <a:cs typeface="Arial"/>
              </a:rPr>
              <a:t>6 minutes</a:t>
            </a:r>
          </a:p>
        </p:txBody>
      </p:sp>
    </p:spTree>
    <p:extLst>
      <p:ext uri="{BB962C8B-B14F-4D97-AF65-F5344CB8AC3E}">
        <p14:creationId xmlns:p14="http://schemas.microsoft.com/office/powerpoint/2010/main" val="3394352364"/>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p:cNvSpPr txBox="1"/>
          <p:nvPr/>
        </p:nvSpPr>
        <p:spPr>
          <a:xfrm>
            <a:off x="685800" y="457200"/>
            <a:ext cx="10789920" cy="777240"/>
          </a:xfrm>
          <a:prstGeom prst="rect">
            <a:avLst/>
          </a:prstGeom>
          <a:noFill/>
        </p:spPr>
        <p:txBody>
          <a:bodyPr wrap="square" lIns="0" tIns="0" rIns="0" bIns="0" anchor="t">
            <a:noAutofit/>
          </a:bodyPr>
          <a:lstStyle/>
          <a:p>
            <a:pPr marL="0" indent="0" algn="l">
              <a:lnSpc>
                <a:spcPct val="95000"/>
              </a:lnSpc>
              <a:spcBef>
                <a:spcPts val="0"/>
              </a:spcBef>
              <a:buNone/>
            </a:pPr>
            <a:r>
              <a:rPr lang="en-AU" sz="3600" b="0">
                <a:solidFill>
                  <a:srgbClr val="584099"/>
                </a:solidFill>
                <a:latin typeface="Arial Black"/>
                <a:ea typeface="Arial Black"/>
                <a:cs typeface="Arial Black"/>
              </a:rPr>
              <a:t>Meeting families where they are</a:t>
            </a:r>
          </a:p>
        </p:txBody>
      </p:sp>
      <p:sp>
        <p:nvSpPr>
          <p:cNvPr id="3" name="TextBox 2"/>
          <p:cNvSpPr txBox="1"/>
          <p:nvPr/>
        </p:nvSpPr>
        <p:spPr>
          <a:xfrm>
            <a:off x="685800" y="1325880"/>
            <a:ext cx="10789920" cy="548640"/>
          </a:xfrm>
          <a:prstGeom prst="rect">
            <a:avLst/>
          </a:prstGeom>
          <a:noFill/>
        </p:spPr>
        <p:txBody>
          <a:bodyPr wrap="square" lIns="0" tIns="0" rIns="0" bIns="0" anchor="t">
            <a:noAutofit/>
          </a:bodyPr>
          <a:lstStyle/>
          <a:p>
            <a:pPr marL="0" indent="0" algn="l">
              <a:lnSpc>
                <a:spcPct val="100000"/>
              </a:lnSpc>
              <a:spcBef>
                <a:spcPts val="0"/>
              </a:spcBef>
              <a:buNone/>
            </a:pPr>
            <a:r>
              <a:rPr lang="en-AU" sz="2400" b="1">
                <a:solidFill>
                  <a:srgbClr val="3D2A6B"/>
                </a:solidFill>
                <a:latin typeface="Arial"/>
                <a:ea typeface="Arial"/>
                <a:cs typeface="Arial"/>
              </a:rPr>
              <a:t>Listen before solving.</a:t>
            </a:r>
          </a:p>
        </p:txBody>
      </p:sp>
      <p:sp>
        <p:nvSpPr>
          <p:cNvPr id="4" name="Rounded Rectangle 3"/>
          <p:cNvSpPr/>
          <p:nvPr/>
        </p:nvSpPr>
        <p:spPr>
          <a:xfrm>
            <a:off x="685800" y="2057400"/>
            <a:ext cx="5309464" cy="914400"/>
          </a:xfrm>
          <a:prstGeom prst="roundRect">
            <a:avLst>
              <a:gd name="adj" fmla="val 12000"/>
            </a:avLst>
          </a:prstGeom>
          <a:solidFill>
            <a:srgbClr val="F3F0FA"/>
          </a:solidFill>
          <a:ln>
            <a:noFill/>
          </a:ln>
        </p:spPr>
        <p:txBody>
          <a:bodyPr rtlCol="0" anchor="ctr"/>
          <a:lstStyle/>
          <a:p>
            <a:pPr algn="ctr"/>
            <a:endParaRPr/>
          </a:p>
        </p:txBody>
      </p:sp>
      <p:sp>
        <p:nvSpPr>
          <p:cNvPr id="5" name="TextBox 4"/>
          <p:cNvSpPr txBox="1"/>
          <p:nvPr/>
        </p:nvSpPr>
        <p:spPr>
          <a:xfrm>
            <a:off x="960120" y="2057400"/>
            <a:ext cx="4760824" cy="914400"/>
          </a:xfrm>
          <a:prstGeom prst="rect">
            <a:avLst/>
          </a:prstGeom>
          <a:noFill/>
        </p:spPr>
        <p:txBody>
          <a:bodyPr wrap="square" lIns="0" tIns="0" rIns="0" bIns="0" anchor="ctr">
            <a:noAutofit/>
          </a:bodyPr>
          <a:lstStyle/>
          <a:p>
            <a:pPr marL="0" indent="0" algn="l">
              <a:lnSpc>
                <a:spcPct val="100000"/>
              </a:lnSpc>
              <a:spcBef>
                <a:spcPts val="0"/>
              </a:spcBef>
              <a:buNone/>
            </a:pPr>
            <a:r>
              <a:rPr lang="en-AU" sz="1900" b="1">
                <a:solidFill>
                  <a:srgbClr val="3D2A6B"/>
                </a:solidFill>
                <a:latin typeface="Arial"/>
                <a:ea typeface="Arial"/>
                <a:cs typeface="Arial"/>
              </a:rPr>
              <a:t>Ask about communication preferences and priorities</a:t>
            </a:r>
          </a:p>
        </p:txBody>
      </p:sp>
      <p:sp>
        <p:nvSpPr>
          <p:cNvPr id="6" name="Rounded Rectangle 5"/>
          <p:cNvSpPr/>
          <p:nvPr/>
        </p:nvSpPr>
        <p:spPr>
          <a:xfrm>
            <a:off x="6196432" y="2057400"/>
            <a:ext cx="5309464" cy="914400"/>
          </a:xfrm>
          <a:prstGeom prst="roundRect">
            <a:avLst>
              <a:gd name="adj" fmla="val 12000"/>
            </a:avLst>
          </a:prstGeom>
          <a:solidFill>
            <a:srgbClr val="F3F0FA"/>
          </a:solidFill>
          <a:ln>
            <a:noFill/>
          </a:ln>
        </p:spPr>
        <p:txBody>
          <a:bodyPr rtlCol="0" anchor="ctr"/>
          <a:lstStyle/>
          <a:p>
            <a:pPr algn="ctr"/>
            <a:endParaRPr/>
          </a:p>
        </p:txBody>
      </p:sp>
      <p:sp>
        <p:nvSpPr>
          <p:cNvPr id="7" name="TextBox 6"/>
          <p:cNvSpPr txBox="1"/>
          <p:nvPr/>
        </p:nvSpPr>
        <p:spPr>
          <a:xfrm>
            <a:off x="6470752" y="2057400"/>
            <a:ext cx="4760824" cy="914400"/>
          </a:xfrm>
          <a:prstGeom prst="rect">
            <a:avLst/>
          </a:prstGeom>
          <a:noFill/>
        </p:spPr>
        <p:txBody>
          <a:bodyPr wrap="square" lIns="0" tIns="0" rIns="0" bIns="0" anchor="ctr">
            <a:noAutofit/>
          </a:bodyPr>
          <a:lstStyle/>
          <a:p>
            <a:pPr marL="0" indent="0" algn="l">
              <a:lnSpc>
                <a:spcPct val="100000"/>
              </a:lnSpc>
              <a:spcBef>
                <a:spcPts val="0"/>
              </a:spcBef>
              <a:buNone/>
            </a:pPr>
            <a:r>
              <a:rPr lang="en-AU" sz="1900" b="1">
                <a:solidFill>
                  <a:srgbClr val="3D2A6B"/>
                </a:solidFill>
                <a:latin typeface="Arial"/>
                <a:ea typeface="Arial"/>
                <a:cs typeface="Arial"/>
              </a:rPr>
              <a:t>Make room for questions and uncertainty</a:t>
            </a:r>
          </a:p>
        </p:txBody>
      </p:sp>
      <p:sp>
        <p:nvSpPr>
          <p:cNvPr id="8" name="Rounded Rectangle 7"/>
          <p:cNvSpPr/>
          <p:nvPr/>
        </p:nvSpPr>
        <p:spPr>
          <a:xfrm>
            <a:off x="685800" y="3172968"/>
            <a:ext cx="5309464" cy="914400"/>
          </a:xfrm>
          <a:prstGeom prst="roundRect">
            <a:avLst>
              <a:gd name="adj" fmla="val 12000"/>
            </a:avLst>
          </a:prstGeom>
          <a:solidFill>
            <a:srgbClr val="F3F0FA"/>
          </a:solidFill>
          <a:ln>
            <a:noFill/>
          </a:ln>
        </p:spPr>
        <p:txBody>
          <a:bodyPr rtlCol="0" anchor="ctr"/>
          <a:lstStyle/>
          <a:p>
            <a:pPr algn="ctr"/>
            <a:endParaRPr/>
          </a:p>
        </p:txBody>
      </p:sp>
      <p:sp>
        <p:nvSpPr>
          <p:cNvPr id="9" name="TextBox 8"/>
          <p:cNvSpPr txBox="1"/>
          <p:nvPr/>
        </p:nvSpPr>
        <p:spPr>
          <a:xfrm>
            <a:off x="960120" y="3172968"/>
            <a:ext cx="4760824" cy="914400"/>
          </a:xfrm>
          <a:prstGeom prst="rect">
            <a:avLst/>
          </a:prstGeom>
          <a:noFill/>
        </p:spPr>
        <p:txBody>
          <a:bodyPr wrap="square" lIns="0" tIns="0" rIns="0" bIns="0" anchor="ctr">
            <a:noAutofit/>
          </a:bodyPr>
          <a:lstStyle/>
          <a:p>
            <a:pPr marL="0" indent="0" algn="l">
              <a:lnSpc>
                <a:spcPct val="100000"/>
              </a:lnSpc>
              <a:spcBef>
                <a:spcPts val="0"/>
              </a:spcBef>
              <a:buNone/>
            </a:pPr>
            <a:r>
              <a:rPr lang="en-AU" sz="1900" b="1">
                <a:solidFill>
                  <a:srgbClr val="3D2A6B"/>
                </a:solidFill>
                <a:latin typeface="Arial"/>
                <a:ea typeface="Arial"/>
                <a:cs typeface="Arial"/>
              </a:rPr>
              <a:t>Explain roles, options and next steps plainly</a:t>
            </a:r>
          </a:p>
        </p:txBody>
      </p:sp>
      <p:sp>
        <p:nvSpPr>
          <p:cNvPr id="10" name="Rounded Rectangle 9"/>
          <p:cNvSpPr/>
          <p:nvPr/>
        </p:nvSpPr>
        <p:spPr>
          <a:xfrm>
            <a:off x="6196432" y="3172968"/>
            <a:ext cx="5309464" cy="914400"/>
          </a:xfrm>
          <a:prstGeom prst="roundRect">
            <a:avLst>
              <a:gd name="adj" fmla="val 12000"/>
            </a:avLst>
          </a:prstGeom>
          <a:solidFill>
            <a:srgbClr val="F3F0FA"/>
          </a:solidFill>
          <a:ln>
            <a:noFill/>
          </a:ln>
        </p:spPr>
        <p:txBody>
          <a:bodyPr rtlCol="0" anchor="ctr"/>
          <a:lstStyle/>
          <a:p>
            <a:pPr algn="ctr"/>
            <a:endParaRPr/>
          </a:p>
        </p:txBody>
      </p:sp>
      <p:sp>
        <p:nvSpPr>
          <p:cNvPr id="11" name="TextBox 10"/>
          <p:cNvSpPr txBox="1"/>
          <p:nvPr/>
        </p:nvSpPr>
        <p:spPr>
          <a:xfrm>
            <a:off x="6470752" y="3172968"/>
            <a:ext cx="4760824" cy="914400"/>
          </a:xfrm>
          <a:prstGeom prst="rect">
            <a:avLst/>
          </a:prstGeom>
          <a:noFill/>
        </p:spPr>
        <p:txBody>
          <a:bodyPr wrap="square" lIns="0" tIns="0" rIns="0" bIns="0" anchor="ctr">
            <a:noAutofit/>
          </a:bodyPr>
          <a:lstStyle/>
          <a:p>
            <a:pPr marL="0" indent="0" algn="l">
              <a:lnSpc>
                <a:spcPct val="100000"/>
              </a:lnSpc>
              <a:spcBef>
                <a:spcPts val="0"/>
              </a:spcBef>
              <a:buNone/>
            </a:pPr>
            <a:r>
              <a:rPr lang="en-AU" sz="1900" b="1">
                <a:solidFill>
                  <a:srgbClr val="3D2A6B"/>
                </a:solidFill>
                <a:latin typeface="Arial"/>
                <a:ea typeface="Arial"/>
                <a:cs typeface="Arial"/>
              </a:rPr>
              <a:t>Check what is workable for the family now</a:t>
            </a:r>
          </a:p>
        </p:txBody>
      </p:sp>
      <p:sp>
        <p:nvSpPr>
          <p:cNvPr id="12" name="Rounded Rectangle 11"/>
          <p:cNvSpPr/>
          <p:nvPr/>
        </p:nvSpPr>
        <p:spPr>
          <a:xfrm>
            <a:off x="685800" y="4288536"/>
            <a:ext cx="5309464" cy="914400"/>
          </a:xfrm>
          <a:prstGeom prst="roundRect">
            <a:avLst>
              <a:gd name="adj" fmla="val 12000"/>
            </a:avLst>
          </a:prstGeom>
          <a:solidFill>
            <a:srgbClr val="F3F0FA"/>
          </a:solidFill>
          <a:ln>
            <a:noFill/>
          </a:ln>
        </p:spPr>
        <p:txBody>
          <a:bodyPr rtlCol="0" anchor="ctr"/>
          <a:lstStyle/>
          <a:p>
            <a:pPr algn="ctr"/>
            <a:endParaRPr/>
          </a:p>
        </p:txBody>
      </p:sp>
      <p:sp>
        <p:nvSpPr>
          <p:cNvPr id="13" name="TextBox 12"/>
          <p:cNvSpPr txBox="1"/>
          <p:nvPr/>
        </p:nvSpPr>
        <p:spPr>
          <a:xfrm>
            <a:off x="960120" y="4288536"/>
            <a:ext cx="4760824" cy="914400"/>
          </a:xfrm>
          <a:prstGeom prst="rect">
            <a:avLst/>
          </a:prstGeom>
          <a:noFill/>
        </p:spPr>
        <p:txBody>
          <a:bodyPr wrap="square" lIns="0" tIns="0" rIns="0" bIns="0" anchor="ctr">
            <a:noAutofit/>
          </a:bodyPr>
          <a:lstStyle/>
          <a:p>
            <a:pPr marL="0" indent="0" algn="l">
              <a:lnSpc>
                <a:spcPct val="100000"/>
              </a:lnSpc>
              <a:spcBef>
                <a:spcPts val="0"/>
              </a:spcBef>
              <a:buNone/>
            </a:pPr>
            <a:r>
              <a:rPr lang="en-AU" sz="1900" b="1">
                <a:solidFill>
                  <a:srgbClr val="3D2A6B"/>
                </a:solidFill>
                <a:latin typeface="Arial"/>
                <a:ea typeface="Arial"/>
                <a:cs typeface="Arial"/>
              </a:rPr>
              <a:t>Avoid judging a family's pace, response or choices</a:t>
            </a:r>
          </a:p>
        </p:txBody>
      </p:sp>
      <p:sp>
        <p:nvSpPr>
          <p:cNvPr id="14" name="Rounded Rectangle 13"/>
          <p:cNvSpPr/>
          <p:nvPr/>
        </p:nvSpPr>
        <p:spPr>
          <a:xfrm>
            <a:off x="685800" y="5577840"/>
            <a:ext cx="10820095" cy="566928"/>
          </a:xfrm>
          <a:prstGeom prst="roundRect">
            <a:avLst>
              <a:gd name="adj" fmla="val 50000"/>
            </a:avLst>
          </a:prstGeom>
          <a:solidFill>
            <a:srgbClr val="FFFFFF"/>
          </a:solidFill>
          <a:ln w="19050">
            <a:solidFill>
              <a:srgbClr val="584099"/>
            </a:solidFill>
          </a:ln>
        </p:spPr>
        <p:txBody>
          <a:bodyPr rtlCol="0" anchor="ctr"/>
          <a:lstStyle/>
          <a:p>
            <a:pPr algn="ctr"/>
            <a:endParaRPr/>
          </a:p>
        </p:txBody>
      </p:sp>
      <p:sp>
        <p:nvSpPr>
          <p:cNvPr id="15" name="TextBox 14"/>
          <p:cNvSpPr txBox="1"/>
          <p:nvPr/>
        </p:nvSpPr>
        <p:spPr>
          <a:xfrm>
            <a:off x="960120" y="5577840"/>
            <a:ext cx="10271455" cy="566928"/>
          </a:xfrm>
          <a:prstGeom prst="rect">
            <a:avLst/>
          </a:prstGeom>
          <a:noFill/>
        </p:spPr>
        <p:txBody>
          <a:bodyPr wrap="square" lIns="0" tIns="0" rIns="0" bIns="0" anchor="ctr">
            <a:noAutofit/>
          </a:bodyPr>
          <a:lstStyle/>
          <a:p>
            <a:pPr marL="0" indent="0" algn="ctr">
              <a:lnSpc>
                <a:spcPct val="100000"/>
              </a:lnSpc>
              <a:spcBef>
                <a:spcPts val="0"/>
              </a:spcBef>
              <a:buNone/>
            </a:pPr>
            <a:r>
              <a:rPr lang="en-AU" sz="1600" b="1">
                <a:solidFill>
                  <a:srgbClr val="584099"/>
                </a:solidFill>
                <a:latin typeface="Arial"/>
                <a:ea typeface="Arial"/>
                <a:cs typeface="Arial"/>
              </a:rPr>
              <a:t>Environment-first thinking applies to meetings too: what could the school change about the process?</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p:cNvSpPr txBox="1"/>
          <p:nvPr/>
        </p:nvSpPr>
        <p:spPr>
          <a:xfrm>
            <a:off x="685800" y="457200"/>
            <a:ext cx="10789920" cy="777240"/>
          </a:xfrm>
          <a:prstGeom prst="rect">
            <a:avLst/>
          </a:prstGeom>
          <a:noFill/>
        </p:spPr>
        <p:txBody>
          <a:bodyPr wrap="square" lIns="0" tIns="0" rIns="0" bIns="0" anchor="t">
            <a:noAutofit/>
          </a:bodyPr>
          <a:lstStyle/>
          <a:p>
            <a:pPr marL="0" indent="0" algn="l">
              <a:lnSpc>
                <a:spcPct val="95000"/>
              </a:lnSpc>
              <a:spcBef>
                <a:spcPts val="0"/>
              </a:spcBef>
              <a:buNone/>
            </a:pPr>
            <a:r>
              <a:rPr lang="en-AU" sz="3600" b="0">
                <a:solidFill>
                  <a:srgbClr val="584099"/>
                </a:solidFill>
                <a:latin typeface="Arial Black"/>
                <a:ea typeface="Arial Black"/>
                <a:cs typeface="Arial Black"/>
              </a:rPr>
              <a:t>Consultation literacy</a:t>
            </a:r>
          </a:p>
        </p:txBody>
      </p:sp>
      <p:sp>
        <p:nvSpPr>
          <p:cNvPr id="3" name="TextBox 2"/>
          <p:cNvSpPr txBox="1"/>
          <p:nvPr/>
        </p:nvSpPr>
        <p:spPr>
          <a:xfrm>
            <a:off x="685800" y="1325880"/>
            <a:ext cx="10789920" cy="548640"/>
          </a:xfrm>
          <a:prstGeom prst="rect">
            <a:avLst/>
          </a:prstGeom>
          <a:noFill/>
        </p:spPr>
        <p:txBody>
          <a:bodyPr wrap="square" lIns="0" tIns="0" rIns="0" bIns="0" anchor="t">
            <a:noAutofit/>
          </a:bodyPr>
          <a:lstStyle/>
          <a:p>
            <a:pPr marL="0" indent="0" algn="l">
              <a:lnSpc>
                <a:spcPct val="100000"/>
              </a:lnSpc>
              <a:spcBef>
                <a:spcPts val="0"/>
              </a:spcBef>
              <a:buNone/>
            </a:pPr>
            <a:r>
              <a:rPr lang="en-AU" sz="2200" b="1">
                <a:solidFill>
                  <a:srgbClr val="3D2A6B"/>
                </a:solidFill>
                <a:latin typeface="Arial"/>
                <a:ea typeface="Arial"/>
                <a:cs typeface="Arial"/>
              </a:rPr>
              <a:t>Useful consultation includes:</a:t>
            </a:r>
          </a:p>
        </p:txBody>
      </p:sp>
      <p:sp>
        <p:nvSpPr>
          <p:cNvPr id="4" name="Rounded Rectangle 3"/>
          <p:cNvSpPr/>
          <p:nvPr/>
        </p:nvSpPr>
        <p:spPr>
          <a:xfrm>
            <a:off x="685800" y="2011680"/>
            <a:ext cx="3454298" cy="1188720"/>
          </a:xfrm>
          <a:prstGeom prst="roundRect">
            <a:avLst>
              <a:gd name="adj" fmla="val 12000"/>
            </a:avLst>
          </a:prstGeom>
          <a:solidFill>
            <a:srgbClr val="F3F0FA"/>
          </a:solidFill>
          <a:ln>
            <a:noFill/>
          </a:ln>
        </p:spPr>
        <p:txBody>
          <a:bodyPr rtlCol="0" anchor="ctr"/>
          <a:lstStyle/>
          <a:p>
            <a:pPr algn="ctr"/>
            <a:endParaRPr/>
          </a:p>
        </p:txBody>
      </p:sp>
      <p:sp>
        <p:nvSpPr>
          <p:cNvPr id="5" name="TextBox 4"/>
          <p:cNvSpPr txBox="1"/>
          <p:nvPr/>
        </p:nvSpPr>
        <p:spPr>
          <a:xfrm>
            <a:off x="960120" y="2011680"/>
            <a:ext cx="2905658" cy="1188720"/>
          </a:xfrm>
          <a:prstGeom prst="rect">
            <a:avLst/>
          </a:prstGeom>
          <a:noFill/>
        </p:spPr>
        <p:txBody>
          <a:bodyPr wrap="square" lIns="0" tIns="0" rIns="0" bIns="0" anchor="ctr">
            <a:noAutofit/>
          </a:bodyPr>
          <a:lstStyle/>
          <a:p>
            <a:pPr marL="0" indent="0" algn="l">
              <a:lnSpc>
                <a:spcPct val="100000"/>
              </a:lnSpc>
              <a:spcBef>
                <a:spcPts val="0"/>
              </a:spcBef>
              <a:buNone/>
            </a:pPr>
            <a:r>
              <a:rPr lang="en-AU" sz="1900" b="1">
                <a:solidFill>
                  <a:srgbClr val="3D2A6B"/>
                </a:solidFill>
                <a:latin typeface="Arial"/>
                <a:ea typeface="Arial"/>
                <a:cs typeface="Arial"/>
              </a:rPr>
              <a:t>A clear, shared purpose</a:t>
            </a:r>
          </a:p>
        </p:txBody>
      </p:sp>
      <p:sp>
        <p:nvSpPr>
          <p:cNvPr id="6" name="Rounded Rectangle 5"/>
          <p:cNvSpPr/>
          <p:nvPr/>
        </p:nvSpPr>
        <p:spPr>
          <a:xfrm>
            <a:off x="4368698" y="2011680"/>
            <a:ext cx="3454298" cy="1188720"/>
          </a:xfrm>
          <a:prstGeom prst="roundRect">
            <a:avLst>
              <a:gd name="adj" fmla="val 12000"/>
            </a:avLst>
          </a:prstGeom>
          <a:solidFill>
            <a:srgbClr val="F3F0FA"/>
          </a:solidFill>
          <a:ln>
            <a:noFill/>
          </a:ln>
        </p:spPr>
        <p:txBody>
          <a:bodyPr rtlCol="0" anchor="ctr"/>
          <a:lstStyle/>
          <a:p>
            <a:pPr algn="ctr"/>
            <a:endParaRPr/>
          </a:p>
        </p:txBody>
      </p:sp>
      <p:sp>
        <p:nvSpPr>
          <p:cNvPr id="7" name="TextBox 6"/>
          <p:cNvSpPr txBox="1"/>
          <p:nvPr/>
        </p:nvSpPr>
        <p:spPr>
          <a:xfrm>
            <a:off x="4643018" y="2011680"/>
            <a:ext cx="2905658" cy="1188720"/>
          </a:xfrm>
          <a:prstGeom prst="rect">
            <a:avLst/>
          </a:prstGeom>
          <a:noFill/>
        </p:spPr>
        <p:txBody>
          <a:bodyPr wrap="square" lIns="0" tIns="0" rIns="0" bIns="0" anchor="ctr">
            <a:noAutofit/>
          </a:bodyPr>
          <a:lstStyle/>
          <a:p>
            <a:pPr marL="0" indent="0" algn="l">
              <a:lnSpc>
                <a:spcPct val="100000"/>
              </a:lnSpc>
              <a:spcBef>
                <a:spcPts val="0"/>
              </a:spcBef>
              <a:buNone/>
            </a:pPr>
            <a:r>
              <a:rPr lang="en-AU" sz="1900" b="1">
                <a:solidFill>
                  <a:srgbClr val="3D2A6B"/>
                </a:solidFill>
                <a:latin typeface="Arial"/>
                <a:ea typeface="Arial"/>
                <a:cs typeface="Arial"/>
              </a:rPr>
              <a:t>Open questions</a:t>
            </a:r>
          </a:p>
        </p:txBody>
      </p:sp>
      <p:sp>
        <p:nvSpPr>
          <p:cNvPr id="8" name="Rounded Rectangle 7"/>
          <p:cNvSpPr/>
          <p:nvPr/>
        </p:nvSpPr>
        <p:spPr>
          <a:xfrm>
            <a:off x="8051597" y="2011680"/>
            <a:ext cx="3454298" cy="1188720"/>
          </a:xfrm>
          <a:prstGeom prst="roundRect">
            <a:avLst>
              <a:gd name="adj" fmla="val 12000"/>
            </a:avLst>
          </a:prstGeom>
          <a:solidFill>
            <a:srgbClr val="F3F0FA"/>
          </a:solidFill>
          <a:ln>
            <a:noFill/>
          </a:ln>
        </p:spPr>
        <p:txBody>
          <a:bodyPr rtlCol="0" anchor="ctr"/>
          <a:lstStyle/>
          <a:p>
            <a:pPr algn="ctr"/>
            <a:endParaRPr/>
          </a:p>
        </p:txBody>
      </p:sp>
      <p:sp>
        <p:nvSpPr>
          <p:cNvPr id="9" name="TextBox 8"/>
          <p:cNvSpPr txBox="1"/>
          <p:nvPr/>
        </p:nvSpPr>
        <p:spPr>
          <a:xfrm>
            <a:off x="8325917" y="2011680"/>
            <a:ext cx="2905658" cy="1188720"/>
          </a:xfrm>
          <a:prstGeom prst="rect">
            <a:avLst/>
          </a:prstGeom>
          <a:noFill/>
        </p:spPr>
        <p:txBody>
          <a:bodyPr wrap="square" lIns="0" tIns="0" rIns="0" bIns="0" anchor="ctr">
            <a:noAutofit/>
          </a:bodyPr>
          <a:lstStyle/>
          <a:p>
            <a:pPr marL="0" indent="0" algn="l">
              <a:lnSpc>
                <a:spcPct val="100000"/>
              </a:lnSpc>
              <a:spcBef>
                <a:spcPts val="0"/>
              </a:spcBef>
              <a:buNone/>
            </a:pPr>
            <a:r>
              <a:rPr lang="en-AU" sz="1900" b="1">
                <a:solidFill>
                  <a:srgbClr val="3D2A6B"/>
                </a:solidFill>
                <a:latin typeface="Arial"/>
                <a:ea typeface="Arial"/>
                <a:cs typeface="Arial"/>
              </a:rPr>
              <a:t>More than one way to contribute</a:t>
            </a:r>
          </a:p>
        </p:txBody>
      </p:sp>
      <p:sp>
        <p:nvSpPr>
          <p:cNvPr id="10" name="Rounded Rectangle 9"/>
          <p:cNvSpPr/>
          <p:nvPr/>
        </p:nvSpPr>
        <p:spPr>
          <a:xfrm>
            <a:off x="685800" y="3429000"/>
            <a:ext cx="3454298" cy="1188720"/>
          </a:xfrm>
          <a:prstGeom prst="roundRect">
            <a:avLst>
              <a:gd name="adj" fmla="val 12000"/>
            </a:avLst>
          </a:prstGeom>
          <a:solidFill>
            <a:srgbClr val="F3F0FA"/>
          </a:solidFill>
          <a:ln>
            <a:noFill/>
          </a:ln>
        </p:spPr>
        <p:txBody>
          <a:bodyPr rtlCol="0" anchor="ctr"/>
          <a:lstStyle/>
          <a:p>
            <a:pPr algn="ctr"/>
            <a:endParaRPr/>
          </a:p>
        </p:txBody>
      </p:sp>
      <p:sp>
        <p:nvSpPr>
          <p:cNvPr id="11" name="TextBox 10"/>
          <p:cNvSpPr txBox="1"/>
          <p:nvPr/>
        </p:nvSpPr>
        <p:spPr>
          <a:xfrm>
            <a:off x="960120" y="3429000"/>
            <a:ext cx="2905658" cy="1188720"/>
          </a:xfrm>
          <a:prstGeom prst="rect">
            <a:avLst/>
          </a:prstGeom>
          <a:noFill/>
        </p:spPr>
        <p:txBody>
          <a:bodyPr wrap="square" lIns="0" tIns="0" rIns="0" bIns="0" anchor="ctr">
            <a:noAutofit/>
          </a:bodyPr>
          <a:lstStyle/>
          <a:p>
            <a:pPr marL="0" indent="0" algn="l">
              <a:lnSpc>
                <a:spcPct val="100000"/>
              </a:lnSpc>
              <a:spcBef>
                <a:spcPts val="0"/>
              </a:spcBef>
              <a:buNone/>
            </a:pPr>
            <a:r>
              <a:rPr lang="en-AU" sz="1900" b="1">
                <a:solidFill>
                  <a:srgbClr val="3D2A6B"/>
                </a:solidFill>
                <a:latin typeface="Arial"/>
                <a:ea typeface="Arial"/>
                <a:cs typeface="Arial"/>
              </a:rPr>
              <a:t>Respect for student and family knowledge</a:t>
            </a:r>
          </a:p>
        </p:txBody>
      </p:sp>
      <p:sp>
        <p:nvSpPr>
          <p:cNvPr id="12" name="Rounded Rectangle 11"/>
          <p:cNvSpPr/>
          <p:nvPr/>
        </p:nvSpPr>
        <p:spPr>
          <a:xfrm>
            <a:off x="4368698" y="3429000"/>
            <a:ext cx="3454298" cy="1188720"/>
          </a:xfrm>
          <a:prstGeom prst="roundRect">
            <a:avLst>
              <a:gd name="adj" fmla="val 12000"/>
            </a:avLst>
          </a:prstGeom>
          <a:solidFill>
            <a:srgbClr val="F3F0FA"/>
          </a:solidFill>
          <a:ln>
            <a:noFill/>
          </a:ln>
        </p:spPr>
        <p:txBody>
          <a:bodyPr rtlCol="0" anchor="ctr"/>
          <a:lstStyle/>
          <a:p>
            <a:pPr algn="ctr"/>
            <a:endParaRPr/>
          </a:p>
        </p:txBody>
      </p:sp>
      <p:sp>
        <p:nvSpPr>
          <p:cNvPr id="13" name="TextBox 12"/>
          <p:cNvSpPr txBox="1"/>
          <p:nvPr/>
        </p:nvSpPr>
        <p:spPr>
          <a:xfrm>
            <a:off x="4643018" y="3429000"/>
            <a:ext cx="2905658" cy="1188720"/>
          </a:xfrm>
          <a:prstGeom prst="rect">
            <a:avLst/>
          </a:prstGeom>
          <a:noFill/>
        </p:spPr>
        <p:txBody>
          <a:bodyPr wrap="square" lIns="0" tIns="0" rIns="0" bIns="0" anchor="ctr">
            <a:noAutofit/>
          </a:bodyPr>
          <a:lstStyle/>
          <a:p>
            <a:pPr marL="0" indent="0" algn="l">
              <a:lnSpc>
                <a:spcPct val="100000"/>
              </a:lnSpc>
              <a:spcBef>
                <a:spcPts val="0"/>
              </a:spcBef>
              <a:buNone/>
            </a:pPr>
            <a:r>
              <a:rPr lang="en-AU" sz="1900" b="1">
                <a:solidFill>
                  <a:srgbClr val="3D2A6B"/>
                </a:solidFill>
                <a:latin typeface="Arial"/>
                <a:ea typeface="Arial"/>
                <a:cs typeface="Arial"/>
              </a:rPr>
              <a:t>Accurate recording of what was heard</a:t>
            </a:r>
          </a:p>
        </p:txBody>
      </p:sp>
      <p:sp>
        <p:nvSpPr>
          <p:cNvPr id="14" name="Rounded Rectangle 13"/>
          <p:cNvSpPr/>
          <p:nvPr/>
        </p:nvSpPr>
        <p:spPr>
          <a:xfrm>
            <a:off x="8051597" y="3429000"/>
            <a:ext cx="3454298" cy="1188720"/>
          </a:xfrm>
          <a:prstGeom prst="roundRect">
            <a:avLst>
              <a:gd name="adj" fmla="val 12000"/>
            </a:avLst>
          </a:prstGeom>
          <a:solidFill>
            <a:srgbClr val="F3F0FA"/>
          </a:solidFill>
          <a:ln>
            <a:noFill/>
          </a:ln>
        </p:spPr>
        <p:txBody>
          <a:bodyPr rtlCol="0" anchor="ctr"/>
          <a:lstStyle/>
          <a:p>
            <a:pPr algn="ctr"/>
            <a:endParaRPr/>
          </a:p>
        </p:txBody>
      </p:sp>
      <p:sp>
        <p:nvSpPr>
          <p:cNvPr id="15" name="TextBox 14"/>
          <p:cNvSpPr txBox="1"/>
          <p:nvPr/>
        </p:nvSpPr>
        <p:spPr>
          <a:xfrm>
            <a:off x="8325917" y="3429000"/>
            <a:ext cx="2905658" cy="1188720"/>
          </a:xfrm>
          <a:prstGeom prst="rect">
            <a:avLst/>
          </a:prstGeom>
          <a:noFill/>
        </p:spPr>
        <p:txBody>
          <a:bodyPr wrap="square" lIns="0" tIns="0" rIns="0" bIns="0" anchor="ctr">
            <a:noAutofit/>
          </a:bodyPr>
          <a:lstStyle/>
          <a:p>
            <a:pPr marL="0" indent="0" algn="l">
              <a:lnSpc>
                <a:spcPct val="100000"/>
              </a:lnSpc>
              <a:spcBef>
                <a:spcPts val="0"/>
              </a:spcBef>
              <a:buNone/>
            </a:pPr>
            <a:r>
              <a:rPr lang="en-AU" sz="1900" b="1">
                <a:solidFill>
                  <a:srgbClr val="3D2A6B"/>
                </a:solidFill>
                <a:latin typeface="Arial"/>
                <a:ea typeface="Arial"/>
                <a:cs typeface="Arial"/>
              </a:rPr>
              <a:t>An agreed action, responsibility and follow-up</a:t>
            </a:r>
          </a:p>
        </p:txBody>
      </p:sp>
      <p:sp>
        <p:nvSpPr>
          <p:cNvPr id="16" name="Rounded Rectangle 15"/>
          <p:cNvSpPr/>
          <p:nvPr/>
        </p:nvSpPr>
        <p:spPr>
          <a:xfrm>
            <a:off x="685800" y="5074920"/>
            <a:ext cx="10820095" cy="566928"/>
          </a:xfrm>
          <a:prstGeom prst="roundRect">
            <a:avLst>
              <a:gd name="adj" fmla="val 50000"/>
            </a:avLst>
          </a:prstGeom>
          <a:solidFill>
            <a:srgbClr val="FFFFFF"/>
          </a:solidFill>
          <a:ln w="19050">
            <a:solidFill>
              <a:srgbClr val="584099"/>
            </a:solidFill>
          </a:ln>
        </p:spPr>
        <p:txBody>
          <a:bodyPr rtlCol="0" anchor="ctr"/>
          <a:lstStyle/>
          <a:p>
            <a:pPr algn="ctr"/>
            <a:endParaRPr/>
          </a:p>
        </p:txBody>
      </p:sp>
      <p:sp>
        <p:nvSpPr>
          <p:cNvPr id="17" name="TextBox 16"/>
          <p:cNvSpPr txBox="1"/>
          <p:nvPr/>
        </p:nvSpPr>
        <p:spPr>
          <a:xfrm>
            <a:off x="960120" y="5074920"/>
            <a:ext cx="10271455" cy="566928"/>
          </a:xfrm>
          <a:prstGeom prst="rect">
            <a:avLst/>
          </a:prstGeom>
          <a:noFill/>
        </p:spPr>
        <p:txBody>
          <a:bodyPr wrap="square" lIns="0" tIns="0" rIns="0" bIns="0" anchor="ctr">
            <a:noAutofit/>
          </a:bodyPr>
          <a:lstStyle/>
          <a:p>
            <a:pPr marL="0" indent="0" algn="ctr">
              <a:lnSpc>
                <a:spcPct val="100000"/>
              </a:lnSpc>
              <a:spcBef>
                <a:spcPts val="0"/>
              </a:spcBef>
              <a:buNone/>
            </a:pPr>
            <a:r>
              <a:rPr lang="en-AU" sz="1800" b="1">
                <a:solidFill>
                  <a:srgbClr val="584099"/>
                </a:solidFill>
                <a:latin typeface="Arial"/>
                <a:ea typeface="Arial"/>
                <a:cs typeface="Arial"/>
              </a:rPr>
              <a:t>Ask, listen, and follow up.</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p:cNvSpPr txBox="1"/>
          <p:nvPr/>
        </p:nvSpPr>
        <p:spPr>
          <a:xfrm>
            <a:off x="685800" y="457200"/>
            <a:ext cx="10789920" cy="777240"/>
          </a:xfrm>
          <a:prstGeom prst="rect">
            <a:avLst/>
          </a:prstGeom>
          <a:noFill/>
        </p:spPr>
        <p:txBody>
          <a:bodyPr wrap="square" lIns="0" tIns="0" rIns="0" bIns="0" anchor="t">
            <a:noAutofit/>
          </a:bodyPr>
          <a:lstStyle/>
          <a:p>
            <a:pPr marL="0" indent="0" algn="l">
              <a:lnSpc>
                <a:spcPct val="95000"/>
              </a:lnSpc>
              <a:spcBef>
                <a:spcPts val="0"/>
              </a:spcBef>
              <a:buNone/>
            </a:pPr>
            <a:r>
              <a:rPr lang="en-AU" sz="3600" b="0">
                <a:solidFill>
                  <a:srgbClr val="584099"/>
                </a:solidFill>
                <a:latin typeface="Arial Black"/>
                <a:ea typeface="Arial Black"/>
                <a:cs typeface="Arial Black"/>
              </a:rPr>
              <a:t>Consulting students and families</a:t>
            </a:r>
          </a:p>
        </p:txBody>
      </p:sp>
      <p:sp>
        <p:nvSpPr>
          <p:cNvPr id="3" name="Rounded Rectangle 2"/>
          <p:cNvSpPr/>
          <p:nvPr/>
        </p:nvSpPr>
        <p:spPr>
          <a:xfrm>
            <a:off x="685800" y="1325880"/>
            <a:ext cx="5227168" cy="566928"/>
          </a:xfrm>
          <a:prstGeom prst="roundRect">
            <a:avLst>
              <a:gd name="adj" fmla="val 40000"/>
            </a:avLst>
          </a:prstGeom>
          <a:solidFill>
            <a:srgbClr val="584099"/>
          </a:solidFill>
          <a:ln>
            <a:noFill/>
          </a:ln>
        </p:spPr>
        <p:txBody>
          <a:bodyPr rtlCol="0" anchor="ctr"/>
          <a:lstStyle/>
          <a:p>
            <a:pPr algn="ctr"/>
            <a:endParaRPr/>
          </a:p>
        </p:txBody>
      </p:sp>
      <p:sp>
        <p:nvSpPr>
          <p:cNvPr id="4" name="TextBox 3"/>
          <p:cNvSpPr txBox="1"/>
          <p:nvPr/>
        </p:nvSpPr>
        <p:spPr>
          <a:xfrm>
            <a:off x="960120" y="1325880"/>
            <a:ext cx="4678528" cy="566928"/>
          </a:xfrm>
          <a:prstGeom prst="rect">
            <a:avLst/>
          </a:prstGeom>
          <a:noFill/>
        </p:spPr>
        <p:txBody>
          <a:bodyPr wrap="square" lIns="0" tIns="0" rIns="0" bIns="0" anchor="ctr">
            <a:noAutofit/>
          </a:bodyPr>
          <a:lstStyle/>
          <a:p>
            <a:pPr marL="0" indent="0" algn="l">
              <a:lnSpc>
                <a:spcPct val="100000"/>
              </a:lnSpc>
              <a:spcBef>
                <a:spcPts val="0"/>
              </a:spcBef>
              <a:buNone/>
            </a:pPr>
            <a:r>
              <a:rPr lang="en-AU" sz="1800" b="1">
                <a:solidFill>
                  <a:srgbClr val="FFFFFF"/>
                </a:solidFill>
                <a:latin typeface="Arial Black"/>
                <a:ea typeface="Arial Black"/>
                <a:cs typeface="Arial Black"/>
              </a:rPr>
              <a:t>With students</a:t>
            </a:r>
          </a:p>
        </p:txBody>
      </p:sp>
      <p:sp>
        <p:nvSpPr>
          <p:cNvPr id="5" name="Rounded Rectangle 4"/>
          <p:cNvSpPr/>
          <p:nvPr/>
        </p:nvSpPr>
        <p:spPr>
          <a:xfrm>
            <a:off x="685800" y="2057400"/>
            <a:ext cx="2545004" cy="676656"/>
          </a:xfrm>
          <a:prstGeom prst="roundRect">
            <a:avLst>
              <a:gd name="adj" fmla="val 20000"/>
            </a:avLst>
          </a:prstGeom>
          <a:solidFill>
            <a:srgbClr val="F3F0FA"/>
          </a:solidFill>
          <a:ln>
            <a:noFill/>
          </a:ln>
        </p:spPr>
        <p:txBody>
          <a:bodyPr rtlCol="0" anchor="ctr"/>
          <a:lstStyle/>
          <a:p>
            <a:pPr algn="ctr"/>
            <a:endParaRPr/>
          </a:p>
        </p:txBody>
      </p:sp>
      <p:sp>
        <p:nvSpPr>
          <p:cNvPr id="6" name="TextBox 5"/>
          <p:cNvSpPr txBox="1"/>
          <p:nvPr/>
        </p:nvSpPr>
        <p:spPr>
          <a:xfrm>
            <a:off x="960120" y="2057400"/>
            <a:ext cx="1996364" cy="676656"/>
          </a:xfrm>
          <a:prstGeom prst="rect">
            <a:avLst/>
          </a:prstGeom>
          <a:noFill/>
        </p:spPr>
        <p:txBody>
          <a:bodyPr wrap="square" lIns="0" tIns="0" rIns="0" bIns="0" anchor="ctr">
            <a:noAutofit/>
          </a:bodyPr>
          <a:lstStyle/>
          <a:p>
            <a:pPr marL="0" indent="0" algn="l">
              <a:lnSpc>
                <a:spcPct val="100000"/>
              </a:lnSpc>
              <a:spcBef>
                <a:spcPts val="0"/>
              </a:spcBef>
              <a:buNone/>
            </a:pPr>
            <a:r>
              <a:rPr lang="en-AU" sz="1400" b="1">
                <a:solidFill>
                  <a:srgbClr val="3D2A6B"/>
                </a:solidFill>
                <a:latin typeface="Arial"/>
                <a:ea typeface="Arial"/>
                <a:cs typeface="Arial"/>
              </a:rPr>
              <a:t>Offer communication choices</a:t>
            </a:r>
          </a:p>
        </p:txBody>
      </p:sp>
      <p:sp>
        <p:nvSpPr>
          <p:cNvPr id="7" name="Rounded Rectangle 6"/>
          <p:cNvSpPr/>
          <p:nvPr/>
        </p:nvSpPr>
        <p:spPr>
          <a:xfrm>
            <a:off x="3367964" y="2057400"/>
            <a:ext cx="2545004" cy="676656"/>
          </a:xfrm>
          <a:prstGeom prst="roundRect">
            <a:avLst>
              <a:gd name="adj" fmla="val 20000"/>
            </a:avLst>
          </a:prstGeom>
          <a:solidFill>
            <a:srgbClr val="F3F0FA"/>
          </a:solidFill>
          <a:ln>
            <a:noFill/>
          </a:ln>
        </p:spPr>
        <p:txBody>
          <a:bodyPr rtlCol="0" anchor="ctr"/>
          <a:lstStyle/>
          <a:p>
            <a:pPr algn="ctr"/>
            <a:endParaRPr/>
          </a:p>
        </p:txBody>
      </p:sp>
      <p:sp>
        <p:nvSpPr>
          <p:cNvPr id="8" name="TextBox 7"/>
          <p:cNvSpPr txBox="1"/>
          <p:nvPr/>
        </p:nvSpPr>
        <p:spPr>
          <a:xfrm>
            <a:off x="3642284" y="2057400"/>
            <a:ext cx="1996364" cy="676656"/>
          </a:xfrm>
          <a:prstGeom prst="rect">
            <a:avLst/>
          </a:prstGeom>
          <a:noFill/>
        </p:spPr>
        <p:txBody>
          <a:bodyPr wrap="square" lIns="0" tIns="0" rIns="0" bIns="0" anchor="ctr">
            <a:noAutofit/>
          </a:bodyPr>
          <a:lstStyle/>
          <a:p>
            <a:pPr marL="0" indent="0" algn="l">
              <a:lnSpc>
                <a:spcPct val="100000"/>
              </a:lnSpc>
              <a:spcBef>
                <a:spcPts val="0"/>
              </a:spcBef>
              <a:buNone/>
            </a:pPr>
            <a:r>
              <a:rPr lang="en-AU" sz="1400" b="1">
                <a:solidFill>
                  <a:srgbClr val="3D2A6B"/>
                </a:solidFill>
                <a:latin typeface="Arial"/>
                <a:ea typeface="Arial"/>
                <a:cs typeface="Arial"/>
              </a:rPr>
              <a:t>Meeting preparation</a:t>
            </a:r>
          </a:p>
        </p:txBody>
      </p:sp>
      <p:sp>
        <p:nvSpPr>
          <p:cNvPr id="9" name="Rounded Rectangle 8"/>
          <p:cNvSpPr/>
          <p:nvPr/>
        </p:nvSpPr>
        <p:spPr>
          <a:xfrm>
            <a:off x="685800" y="2843784"/>
            <a:ext cx="2545004" cy="676656"/>
          </a:xfrm>
          <a:prstGeom prst="roundRect">
            <a:avLst>
              <a:gd name="adj" fmla="val 20000"/>
            </a:avLst>
          </a:prstGeom>
          <a:solidFill>
            <a:srgbClr val="F3F0FA"/>
          </a:solidFill>
          <a:ln>
            <a:noFill/>
          </a:ln>
        </p:spPr>
        <p:txBody>
          <a:bodyPr rtlCol="0" anchor="ctr"/>
          <a:lstStyle/>
          <a:p>
            <a:pPr algn="ctr"/>
            <a:endParaRPr/>
          </a:p>
        </p:txBody>
      </p:sp>
      <p:sp>
        <p:nvSpPr>
          <p:cNvPr id="10" name="TextBox 9"/>
          <p:cNvSpPr txBox="1"/>
          <p:nvPr/>
        </p:nvSpPr>
        <p:spPr>
          <a:xfrm>
            <a:off x="960120" y="2843784"/>
            <a:ext cx="1996364" cy="676656"/>
          </a:xfrm>
          <a:prstGeom prst="rect">
            <a:avLst/>
          </a:prstGeom>
          <a:noFill/>
        </p:spPr>
        <p:txBody>
          <a:bodyPr wrap="square" lIns="0" tIns="0" rIns="0" bIns="0" anchor="ctr">
            <a:noAutofit/>
          </a:bodyPr>
          <a:lstStyle/>
          <a:p>
            <a:pPr marL="0" indent="0" algn="l">
              <a:lnSpc>
                <a:spcPct val="100000"/>
              </a:lnSpc>
              <a:spcBef>
                <a:spcPts val="0"/>
              </a:spcBef>
              <a:buNone/>
            </a:pPr>
            <a:r>
              <a:rPr lang="en-AU" sz="1400" b="1">
                <a:solidFill>
                  <a:srgbClr val="3D2A6B"/>
                </a:solidFill>
                <a:latin typeface="Arial"/>
                <a:ea typeface="Arial"/>
                <a:cs typeface="Arial"/>
              </a:rPr>
              <a:t>Simple choices</a:t>
            </a:r>
          </a:p>
        </p:txBody>
      </p:sp>
      <p:sp>
        <p:nvSpPr>
          <p:cNvPr id="11" name="Rounded Rectangle 10"/>
          <p:cNvSpPr/>
          <p:nvPr/>
        </p:nvSpPr>
        <p:spPr>
          <a:xfrm>
            <a:off x="3367964" y="2843784"/>
            <a:ext cx="2545004" cy="676656"/>
          </a:xfrm>
          <a:prstGeom prst="roundRect">
            <a:avLst>
              <a:gd name="adj" fmla="val 20000"/>
            </a:avLst>
          </a:prstGeom>
          <a:solidFill>
            <a:srgbClr val="F3F0FA"/>
          </a:solidFill>
          <a:ln>
            <a:noFill/>
          </a:ln>
        </p:spPr>
        <p:txBody>
          <a:bodyPr rtlCol="0" anchor="ctr"/>
          <a:lstStyle/>
          <a:p>
            <a:pPr algn="ctr"/>
            <a:endParaRPr/>
          </a:p>
        </p:txBody>
      </p:sp>
      <p:sp>
        <p:nvSpPr>
          <p:cNvPr id="12" name="TextBox 11"/>
          <p:cNvSpPr txBox="1"/>
          <p:nvPr/>
        </p:nvSpPr>
        <p:spPr>
          <a:xfrm>
            <a:off x="3642284" y="2843784"/>
            <a:ext cx="1996364" cy="676656"/>
          </a:xfrm>
          <a:prstGeom prst="rect">
            <a:avLst/>
          </a:prstGeom>
          <a:noFill/>
        </p:spPr>
        <p:txBody>
          <a:bodyPr wrap="square" lIns="0" tIns="0" rIns="0" bIns="0" anchor="ctr">
            <a:noAutofit/>
          </a:bodyPr>
          <a:lstStyle/>
          <a:p>
            <a:pPr marL="0" indent="0" algn="l">
              <a:lnSpc>
                <a:spcPct val="100000"/>
              </a:lnSpc>
              <a:spcBef>
                <a:spcPts val="0"/>
              </a:spcBef>
              <a:buNone/>
            </a:pPr>
            <a:r>
              <a:rPr lang="en-AU" sz="1400" b="1">
                <a:solidFill>
                  <a:srgbClr val="3D2A6B"/>
                </a:solidFill>
                <a:latin typeface="Arial"/>
                <a:ea typeface="Arial"/>
                <a:cs typeface="Arial"/>
              </a:rPr>
              <a:t>Processing time</a:t>
            </a:r>
          </a:p>
        </p:txBody>
      </p:sp>
      <p:sp>
        <p:nvSpPr>
          <p:cNvPr id="13" name="Rounded Rectangle 12"/>
          <p:cNvSpPr/>
          <p:nvPr/>
        </p:nvSpPr>
        <p:spPr>
          <a:xfrm>
            <a:off x="685800" y="3630168"/>
            <a:ext cx="2545004" cy="676656"/>
          </a:xfrm>
          <a:prstGeom prst="roundRect">
            <a:avLst>
              <a:gd name="adj" fmla="val 20000"/>
            </a:avLst>
          </a:prstGeom>
          <a:solidFill>
            <a:srgbClr val="F3F0FA"/>
          </a:solidFill>
          <a:ln>
            <a:noFill/>
          </a:ln>
        </p:spPr>
        <p:txBody>
          <a:bodyPr rtlCol="0" anchor="ctr"/>
          <a:lstStyle/>
          <a:p>
            <a:pPr algn="ctr"/>
            <a:endParaRPr/>
          </a:p>
        </p:txBody>
      </p:sp>
      <p:sp>
        <p:nvSpPr>
          <p:cNvPr id="14" name="TextBox 13"/>
          <p:cNvSpPr txBox="1"/>
          <p:nvPr/>
        </p:nvSpPr>
        <p:spPr>
          <a:xfrm>
            <a:off x="960120" y="3630168"/>
            <a:ext cx="1996364" cy="676656"/>
          </a:xfrm>
          <a:prstGeom prst="rect">
            <a:avLst/>
          </a:prstGeom>
          <a:noFill/>
        </p:spPr>
        <p:txBody>
          <a:bodyPr wrap="square" lIns="0" tIns="0" rIns="0" bIns="0" anchor="ctr">
            <a:noAutofit/>
          </a:bodyPr>
          <a:lstStyle/>
          <a:p>
            <a:pPr marL="0" indent="0" algn="l">
              <a:lnSpc>
                <a:spcPct val="100000"/>
              </a:lnSpc>
              <a:spcBef>
                <a:spcPts val="0"/>
              </a:spcBef>
              <a:buNone/>
            </a:pPr>
            <a:r>
              <a:rPr lang="en-AU" sz="1400" b="1">
                <a:solidFill>
                  <a:srgbClr val="3D2A6B"/>
                </a:solidFill>
                <a:latin typeface="Arial"/>
                <a:ea typeface="Arial"/>
                <a:cs typeface="Arial"/>
              </a:rPr>
              <a:t>Sensory-friendly spaces</a:t>
            </a:r>
          </a:p>
        </p:txBody>
      </p:sp>
      <p:sp>
        <p:nvSpPr>
          <p:cNvPr id="15" name="Rounded Rectangle 14"/>
          <p:cNvSpPr/>
          <p:nvPr/>
        </p:nvSpPr>
        <p:spPr>
          <a:xfrm>
            <a:off x="3367964" y="3630168"/>
            <a:ext cx="2545004" cy="676656"/>
          </a:xfrm>
          <a:prstGeom prst="roundRect">
            <a:avLst>
              <a:gd name="adj" fmla="val 20000"/>
            </a:avLst>
          </a:prstGeom>
          <a:solidFill>
            <a:srgbClr val="F3F0FA"/>
          </a:solidFill>
          <a:ln>
            <a:noFill/>
          </a:ln>
        </p:spPr>
        <p:txBody>
          <a:bodyPr rtlCol="0" anchor="ctr"/>
          <a:lstStyle/>
          <a:p>
            <a:pPr algn="ctr"/>
            <a:endParaRPr/>
          </a:p>
        </p:txBody>
      </p:sp>
      <p:sp>
        <p:nvSpPr>
          <p:cNvPr id="16" name="TextBox 15"/>
          <p:cNvSpPr txBox="1"/>
          <p:nvPr/>
        </p:nvSpPr>
        <p:spPr>
          <a:xfrm>
            <a:off x="3642284" y="3630168"/>
            <a:ext cx="1996364" cy="676656"/>
          </a:xfrm>
          <a:prstGeom prst="rect">
            <a:avLst/>
          </a:prstGeom>
          <a:noFill/>
        </p:spPr>
        <p:txBody>
          <a:bodyPr wrap="square" lIns="0" tIns="0" rIns="0" bIns="0" anchor="ctr">
            <a:noAutofit/>
          </a:bodyPr>
          <a:lstStyle/>
          <a:p>
            <a:pPr marL="0" indent="0" algn="l">
              <a:lnSpc>
                <a:spcPct val="100000"/>
              </a:lnSpc>
              <a:spcBef>
                <a:spcPts val="0"/>
              </a:spcBef>
              <a:buNone/>
            </a:pPr>
            <a:r>
              <a:rPr lang="en-AU" sz="1400" b="1">
                <a:solidFill>
                  <a:srgbClr val="3D2A6B"/>
                </a:solidFill>
                <a:latin typeface="Arial"/>
                <a:ea typeface="Arial"/>
                <a:cs typeface="Arial"/>
              </a:rPr>
              <a:t>Behaviour as communication</a:t>
            </a:r>
          </a:p>
        </p:txBody>
      </p:sp>
      <p:sp>
        <p:nvSpPr>
          <p:cNvPr id="17" name="Rounded Rectangle 16"/>
          <p:cNvSpPr/>
          <p:nvPr/>
        </p:nvSpPr>
        <p:spPr>
          <a:xfrm>
            <a:off x="685800" y="4416552"/>
            <a:ext cx="2545004" cy="676656"/>
          </a:xfrm>
          <a:prstGeom prst="roundRect">
            <a:avLst>
              <a:gd name="adj" fmla="val 20000"/>
            </a:avLst>
          </a:prstGeom>
          <a:solidFill>
            <a:srgbClr val="F3F0FA"/>
          </a:solidFill>
          <a:ln>
            <a:noFill/>
          </a:ln>
        </p:spPr>
        <p:txBody>
          <a:bodyPr rtlCol="0" anchor="ctr"/>
          <a:lstStyle/>
          <a:p>
            <a:pPr algn="ctr"/>
            <a:endParaRPr/>
          </a:p>
        </p:txBody>
      </p:sp>
      <p:sp>
        <p:nvSpPr>
          <p:cNvPr id="18" name="TextBox 17"/>
          <p:cNvSpPr txBox="1"/>
          <p:nvPr/>
        </p:nvSpPr>
        <p:spPr>
          <a:xfrm>
            <a:off x="960120" y="4416552"/>
            <a:ext cx="1996364" cy="676656"/>
          </a:xfrm>
          <a:prstGeom prst="rect">
            <a:avLst/>
          </a:prstGeom>
          <a:noFill/>
        </p:spPr>
        <p:txBody>
          <a:bodyPr wrap="square" lIns="0" tIns="0" rIns="0" bIns="0" anchor="ctr">
            <a:noAutofit/>
          </a:bodyPr>
          <a:lstStyle/>
          <a:p>
            <a:pPr marL="0" indent="0" algn="l">
              <a:lnSpc>
                <a:spcPct val="100000"/>
              </a:lnSpc>
              <a:spcBef>
                <a:spcPts val="0"/>
              </a:spcBef>
              <a:buNone/>
            </a:pPr>
            <a:r>
              <a:rPr lang="en-AU" sz="1400" b="1">
                <a:solidFill>
                  <a:srgbClr val="3D2A6B"/>
                </a:solidFill>
                <a:latin typeface="Arial"/>
                <a:ea typeface="Arial"/>
                <a:cs typeface="Arial"/>
              </a:rPr>
              <a:t>Strengths and interests</a:t>
            </a:r>
          </a:p>
        </p:txBody>
      </p:sp>
      <p:sp>
        <p:nvSpPr>
          <p:cNvPr id="19" name="Rounded Rectangle 18"/>
          <p:cNvSpPr/>
          <p:nvPr/>
        </p:nvSpPr>
        <p:spPr>
          <a:xfrm>
            <a:off x="3367964" y="4416552"/>
            <a:ext cx="2545004" cy="676656"/>
          </a:xfrm>
          <a:prstGeom prst="roundRect">
            <a:avLst>
              <a:gd name="adj" fmla="val 20000"/>
            </a:avLst>
          </a:prstGeom>
          <a:solidFill>
            <a:srgbClr val="F3F0FA"/>
          </a:solidFill>
          <a:ln>
            <a:noFill/>
          </a:ln>
        </p:spPr>
        <p:txBody>
          <a:bodyPr rtlCol="0" anchor="ctr"/>
          <a:lstStyle/>
          <a:p>
            <a:pPr algn="ctr"/>
            <a:endParaRPr/>
          </a:p>
        </p:txBody>
      </p:sp>
      <p:sp>
        <p:nvSpPr>
          <p:cNvPr id="20" name="TextBox 19"/>
          <p:cNvSpPr txBox="1"/>
          <p:nvPr/>
        </p:nvSpPr>
        <p:spPr>
          <a:xfrm>
            <a:off x="3642284" y="4416552"/>
            <a:ext cx="1996364" cy="676656"/>
          </a:xfrm>
          <a:prstGeom prst="rect">
            <a:avLst/>
          </a:prstGeom>
          <a:noFill/>
        </p:spPr>
        <p:txBody>
          <a:bodyPr wrap="square" lIns="0" tIns="0" rIns="0" bIns="0" anchor="ctr">
            <a:noAutofit/>
          </a:bodyPr>
          <a:lstStyle/>
          <a:p>
            <a:pPr marL="0" indent="0" algn="l">
              <a:lnSpc>
                <a:spcPct val="100000"/>
              </a:lnSpc>
              <a:spcBef>
                <a:spcPts val="0"/>
              </a:spcBef>
              <a:buNone/>
            </a:pPr>
            <a:r>
              <a:rPr lang="en-AU" sz="1400" b="1">
                <a:solidFill>
                  <a:srgbClr val="3D2A6B"/>
                </a:solidFill>
                <a:latin typeface="Arial"/>
                <a:ea typeface="Arial"/>
                <a:cs typeface="Arial"/>
              </a:rPr>
              <a:t>Support - don’t speak for</a:t>
            </a:r>
          </a:p>
        </p:txBody>
      </p:sp>
      <p:sp>
        <p:nvSpPr>
          <p:cNvPr id="21" name="Rounded Rectangle 20"/>
          <p:cNvSpPr/>
          <p:nvPr/>
        </p:nvSpPr>
        <p:spPr>
          <a:xfrm>
            <a:off x="685800" y="5202936"/>
            <a:ext cx="2545004" cy="676656"/>
          </a:xfrm>
          <a:prstGeom prst="roundRect">
            <a:avLst>
              <a:gd name="adj" fmla="val 20000"/>
            </a:avLst>
          </a:prstGeom>
          <a:solidFill>
            <a:srgbClr val="F3F0FA"/>
          </a:solidFill>
          <a:ln>
            <a:noFill/>
          </a:ln>
        </p:spPr>
        <p:txBody>
          <a:bodyPr rtlCol="0" anchor="ctr"/>
          <a:lstStyle/>
          <a:p>
            <a:pPr algn="ctr"/>
            <a:endParaRPr/>
          </a:p>
        </p:txBody>
      </p:sp>
      <p:sp>
        <p:nvSpPr>
          <p:cNvPr id="22" name="TextBox 21"/>
          <p:cNvSpPr txBox="1"/>
          <p:nvPr/>
        </p:nvSpPr>
        <p:spPr>
          <a:xfrm>
            <a:off x="960120" y="5202936"/>
            <a:ext cx="1996364" cy="676656"/>
          </a:xfrm>
          <a:prstGeom prst="rect">
            <a:avLst/>
          </a:prstGeom>
          <a:noFill/>
        </p:spPr>
        <p:txBody>
          <a:bodyPr wrap="square" lIns="0" tIns="0" rIns="0" bIns="0" anchor="ctr">
            <a:noAutofit/>
          </a:bodyPr>
          <a:lstStyle/>
          <a:p>
            <a:pPr marL="0" indent="0" algn="l">
              <a:lnSpc>
                <a:spcPct val="100000"/>
              </a:lnSpc>
              <a:spcBef>
                <a:spcPts val="0"/>
              </a:spcBef>
              <a:buNone/>
            </a:pPr>
            <a:r>
              <a:rPr lang="en-AU" sz="1400" b="1">
                <a:solidFill>
                  <a:srgbClr val="3D2A6B"/>
                </a:solidFill>
                <a:latin typeface="Arial"/>
                <a:ea typeface="Arial"/>
                <a:cs typeface="Arial"/>
              </a:rPr>
              <a:t>Clear, accessible questions</a:t>
            </a:r>
          </a:p>
        </p:txBody>
      </p:sp>
      <p:sp>
        <p:nvSpPr>
          <p:cNvPr id="23" name="Rounded Rectangle 22"/>
          <p:cNvSpPr/>
          <p:nvPr/>
        </p:nvSpPr>
        <p:spPr>
          <a:xfrm>
            <a:off x="6278728" y="1325880"/>
            <a:ext cx="5227168" cy="566928"/>
          </a:xfrm>
          <a:prstGeom prst="roundRect">
            <a:avLst>
              <a:gd name="adj" fmla="val 40000"/>
            </a:avLst>
          </a:prstGeom>
          <a:solidFill>
            <a:srgbClr val="584099"/>
          </a:solidFill>
          <a:ln>
            <a:noFill/>
          </a:ln>
        </p:spPr>
        <p:txBody>
          <a:bodyPr rtlCol="0" anchor="ctr"/>
          <a:lstStyle/>
          <a:p>
            <a:pPr algn="ctr"/>
            <a:endParaRPr/>
          </a:p>
        </p:txBody>
      </p:sp>
      <p:sp>
        <p:nvSpPr>
          <p:cNvPr id="24" name="TextBox 23"/>
          <p:cNvSpPr txBox="1"/>
          <p:nvPr/>
        </p:nvSpPr>
        <p:spPr>
          <a:xfrm>
            <a:off x="6553048" y="1325880"/>
            <a:ext cx="4678528" cy="566928"/>
          </a:xfrm>
          <a:prstGeom prst="rect">
            <a:avLst/>
          </a:prstGeom>
          <a:noFill/>
        </p:spPr>
        <p:txBody>
          <a:bodyPr wrap="square" lIns="0" tIns="0" rIns="0" bIns="0" anchor="ctr">
            <a:noAutofit/>
          </a:bodyPr>
          <a:lstStyle/>
          <a:p>
            <a:pPr marL="0" indent="0" algn="l">
              <a:lnSpc>
                <a:spcPct val="100000"/>
              </a:lnSpc>
              <a:spcBef>
                <a:spcPts val="0"/>
              </a:spcBef>
              <a:buNone/>
            </a:pPr>
            <a:r>
              <a:rPr lang="en-AU" sz="1800" b="1">
                <a:solidFill>
                  <a:srgbClr val="FFFFFF"/>
                </a:solidFill>
                <a:latin typeface="Arial Black"/>
                <a:ea typeface="Arial Black"/>
                <a:cs typeface="Arial Black"/>
              </a:rPr>
              <a:t>With families</a:t>
            </a:r>
          </a:p>
        </p:txBody>
      </p:sp>
      <p:sp>
        <p:nvSpPr>
          <p:cNvPr id="25" name="Rounded Rectangle 24"/>
          <p:cNvSpPr/>
          <p:nvPr/>
        </p:nvSpPr>
        <p:spPr>
          <a:xfrm>
            <a:off x="6278728" y="2057400"/>
            <a:ext cx="2545004" cy="676656"/>
          </a:xfrm>
          <a:prstGeom prst="roundRect">
            <a:avLst>
              <a:gd name="adj" fmla="val 20000"/>
            </a:avLst>
          </a:prstGeom>
          <a:solidFill>
            <a:srgbClr val="F3F0FA"/>
          </a:solidFill>
          <a:ln>
            <a:noFill/>
          </a:ln>
        </p:spPr>
        <p:txBody>
          <a:bodyPr rtlCol="0" anchor="ctr"/>
          <a:lstStyle/>
          <a:p>
            <a:pPr algn="ctr"/>
            <a:endParaRPr/>
          </a:p>
        </p:txBody>
      </p:sp>
      <p:sp>
        <p:nvSpPr>
          <p:cNvPr id="26" name="TextBox 25"/>
          <p:cNvSpPr txBox="1"/>
          <p:nvPr/>
        </p:nvSpPr>
        <p:spPr>
          <a:xfrm>
            <a:off x="6553048" y="2057400"/>
            <a:ext cx="1996364" cy="676656"/>
          </a:xfrm>
          <a:prstGeom prst="rect">
            <a:avLst/>
          </a:prstGeom>
          <a:noFill/>
        </p:spPr>
        <p:txBody>
          <a:bodyPr wrap="square" lIns="0" tIns="0" rIns="0" bIns="0" anchor="ctr">
            <a:noAutofit/>
          </a:bodyPr>
          <a:lstStyle/>
          <a:p>
            <a:pPr marL="0" indent="0" algn="l">
              <a:lnSpc>
                <a:spcPct val="100000"/>
              </a:lnSpc>
              <a:spcBef>
                <a:spcPts val="0"/>
              </a:spcBef>
              <a:buNone/>
            </a:pPr>
            <a:r>
              <a:rPr lang="en-AU" sz="1400" b="1">
                <a:solidFill>
                  <a:srgbClr val="3D2A6B"/>
                </a:solidFill>
                <a:latin typeface="Arial"/>
                <a:ea typeface="Arial"/>
                <a:cs typeface="Arial"/>
              </a:rPr>
              <a:t>Start with students’ strengths and interests</a:t>
            </a:r>
          </a:p>
        </p:txBody>
      </p:sp>
      <p:sp>
        <p:nvSpPr>
          <p:cNvPr id="27" name="Rounded Rectangle 26"/>
          <p:cNvSpPr/>
          <p:nvPr/>
        </p:nvSpPr>
        <p:spPr>
          <a:xfrm>
            <a:off x="8960891" y="2057400"/>
            <a:ext cx="2545004" cy="676656"/>
          </a:xfrm>
          <a:prstGeom prst="roundRect">
            <a:avLst>
              <a:gd name="adj" fmla="val 20000"/>
            </a:avLst>
          </a:prstGeom>
          <a:solidFill>
            <a:srgbClr val="F3F0FA"/>
          </a:solidFill>
          <a:ln>
            <a:noFill/>
          </a:ln>
        </p:spPr>
        <p:txBody>
          <a:bodyPr rtlCol="0" anchor="ctr"/>
          <a:lstStyle/>
          <a:p>
            <a:pPr algn="ctr"/>
            <a:endParaRPr/>
          </a:p>
        </p:txBody>
      </p:sp>
      <p:sp>
        <p:nvSpPr>
          <p:cNvPr id="28" name="TextBox 27"/>
          <p:cNvSpPr txBox="1"/>
          <p:nvPr/>
        </p:nvSpPr>
        <p:spPr>
          <a:xfrm>
            <a:off x="9235211" y="2057400"/>
            <a:ext cx="1996364" cy="676656"/>
          </a:xfrm>
          <a:prstGeom prst="rect">
            <a:avLst/>
          </a:prstGeom>
          <a:noFill/>
        </p:spPr>
        <p:txBody>
          <a:bodyPr wrap="square" lIns="0" tIns="0" rIns="0" bIns="0" anchor="ctr">
            <a:noAutofit/>
          </a:bodyPr>
          <a:lstStyle/>
          <a:p>
            <a:pPr marL="0" indent="0" algn="l">
              <a:lnSpc>
                <a:spcPct val="100000"/>
              </a:lnSpc>
              <a:spcBef>
                <a:spcPts val="0"/>
              </a:spcBef>
              <a:buNone/>
            </a:pPr>
            <a:r>
              <a:rPr lang="en-AU" sz="1400" b="1">
                <a:solidFill>
                  <a:srgbClr val="3D2A6B"/>
                </a:solidFill>
                <a:latin typeface="Arial"/>
                <a:ea typeface="Arial"/>
                <a:cs typeface="Arial"/>
              </a:rPr>
              <a:t>Listen to families and value their insights</a:t>
            </a:r>
          </a:p>
        </p:txBody>
      </p:sp>
      <p:sp>
        <p:nvSpPr>
          <p:cNvPr id="29" name="Rounded Rectangle 28"/>
          <p:cNvSpPr/>
          <p:nvPr/>
        </p:nvSpPr>
        <p:spPr>
          <a:xfrm>
            <a:off x="6278728" y="2843784"/>
            <a:ext cx="2545004" cy="676656"/>
          </a:xfrm>
          <a:prstGeom prst="roundRect">
            <a:avLst>
              <a:gd name="adj" fmla="val 20000"/>
            </a:avLst>
          </a:prstGeom>
          <a:solidFill>
            <a:srgbClr val="F3F0FA"/>
          </a:solidFill>
          <a:ln>
            <a:noFill/>
          </a:ln>
        </p:spPr>
        <p:txBody>
          <a:bodyPr rtlCol="0" anchor="ctr"/>
          <a:lstStyle/>
          <a:p>
            <a:pPr algn="ctr"/>
            <a:endParaRPr/>
          </a:p>
        </p:txBody>
      </p:sp>
      <p:sp>
        <p:nvSpPr>
          <p:cNvPr id="30" name="TextBox 29"/>
          <p:cNvSpPr txBox="1"/>
          <p:nvPr/>
        </p:nvSpPr>
        <p:spPr>
          <a:xfrm>
            <a:off x="6553048" y="2843784"/>
            <a:ext cx="1996364" cy="676656"/>
          </a:xfrm>
          <a:prstGeom prst="rect">
            <a:avLst/>
          </a:prstGeom>
          <a:noFill/>
        </p:spPr>
        <p:txBody>
          <a:bodyPr wrap="square" lIns="0" tIns="0" rIns="0" bIns="0" anchor="ctr">
            <a:noAutofit/>
          </a:bodyPr>
          <a:lstStyle/>
          <a:p>
            <a:pPr marL="0" indent="0" algn="l">
              <a:lnSpc>
                <a:spcPct val="100000"/>
              </a:lnSpc>
              <a:spcBef>
                <a:spcPts val="0"/>
              </a:spcBef>
              <a:buNone/>
            </a:pPr>
            <a:r>
              <a:rPr lang="en-AU" sz="1400" b="1">
                <a:solidFill>
                  <a:srgbClr val="3D2A6B"/>
                </a:solidFill>
                <a:latin typeface="Arial"/>
                <a:ea typeface="Arial"/>
                <a:cs typeface="Arial"/>
              </a:rPr>
              <a:t>Use clear, simple language</a:t>
            </a:r>
          </a:p>
        </p:txBody>
      </p:sp>
      <p:sp>
        <p:nvSpPr>
          <p:cNvPr id="31" name="Rounded Rectangle 30"/>
          <p:cNvSpPr/>
          <p:nvPr/>
        </p:nvSpPr>
        <p:spPr>
          <a:xfrm>
            <a:off x="8960891" y="2843784"/>
            <a:ext cx="2545004" cy="676656"/>
          </a:xfrm>
          <a:prstGeom prst="roundRect">
            <a:avLst>
              <a:gd name="adj" fmla="val 20000"/>
            </a:avLst>
          </a:prstGeom>
          <a:solidFill>
            <a:srgbClr val="F3F0FA"/>
          </a:solidFill>
          <a:ln>
            <a:noFill/>
          </a:ln>
        </p:spPr>
        <p:txBody>
          <a:bodyPr rtlCol="0" anchor="ctr"/>
          <a:lstStyle/>
          <a:p>
            <a:pPr algn="ctr"/>
            <a:endParaRPr/>
          </a:p>
        </p:txBody>
      </p:sp>
      <p:sp>
        <p:nvSpPr>
          <p:cNvPr id="32" name="TextBox 31"/>
          <p:cNvSpPr txBox="1"/>
          <p:nvPr/>
        </p:nvSpPr>
        <p:spPr>
          <a:xfrm>
            <a:off x="9235211" y="2843784"/>
            <a:ext cx="1996364" cy="676656"/>
          </a:xfrm>
          <a:prstGeom prst="rect">
            <a:avLst/>
          </a:prstGeom>
          <a:noFill/>
        </p:spPr>
        <p:txBody>
          <a:bodyPr wrap="square" lIns="0" tIns="0" rIns="0" bIns="0" anchor="ctr">
            <a:noAutofit/>
          </a:bodyPr>
          <a:lstStyle/>
          <a:p>
            <a:pPr marL="0" indent="0" algn="l">
              <a:lnSpc>
                <a:spcPct val="100000"/>
              </a:lnSpc>
              <a:spcBef>
                <a:spcPts val="0"/>
              </a:spcBef>
              <a:buNone/>
            </a:pPr>
            <a:r>
              <a:rPr lang="en-AU" sz="1400" b="1">
                <a:solidFill>
                  <a:srgbClr val="3D2A6B"/>
                </a:solidFill>
                <a:latin typeface="Arial"/>
                <a:ea typeface="Arial"/>
                <a:cs typeface="Arial"/>
              </a:rPr>
              <a:t>Respect different perspectives / experiences</a:t>
            </a:r>
          </a:p>
        </p:txBody>
      </p:sp>
      <p:sp>
        <p:nvSpPr>
          <p:cNvPr id="33" name="Rounded Rectangle 32"/>
          <p:cNvSpPr/>
          <p:nvPr/>
        </p:nvSpPr>
        <p:spPr>
          <a:xfrm>
            <a:off x="6278728" y="3630168"/>
            <a:ext cx="2545004" cy="676656"/>
          </a:xfrm>
          <a:prstGeom prst="roundRect">
            <a:avLst>
              <a:gd name="adj" fmla="val 20000"/>
            </a:avLst>
          </a:prstGeom>
          <a:solidFill>
            <a:srgbClr val="F3F0FA"/>
          </a:solidFill>
          <a:ln>
            <a:noFill/>
          </a:ln>
        </p:spPr>
        <p:txBody>
          <a:bodyPr rtlCol="0" anchor="ctr"/>
          <a:lstStyle/>
          <a:p>
            <a:pPr algn="ctr"/>
            <a:endParaRPr/>
          </a:p>
        </p:txBody>
      </p:sp>
      <p:sp>
        <p:nvSpPr>
          <p:cNvPr id="34" name="TextBox 33"/>
          <p:cNvSpPr txBox="1"/>
          <p:nvPr/>
        </p:nvSpPr>
        <p:spPr>
          <a:xfrm>
            <a:off x="6553048" y="3630168"/>
            <a:ext cx="1996364" cy="676656"/>
          </a:xfrm>
          <a:prstGeom prst="rect">
            <a:avLst/>
          </a:prstGeom>
          <a:noFill/>
        </p:spPr>
        <p:txBody>
          <a:bodyPr wrap="square" lIns="0" tIns="0" rIns="0" bIns="0" anchor="ctr">
            <a:noAutofit/>
          </a:bodyPr>
          <a:lstStyle/>
          <a:p>
            <a:pPr marL="0" indent="0" algn="l">
              <a:lnSpc>
                <a:spcPct val="100000"/>
              </a:lnSpc>
              <a:spcBef>
                <a:spcPts val="0"/>
              </a:spcBef>
              <a:buNone/>
            </a:pPr>
            <a:r>
              <a:rPr lang="en-AU" sz="1400" b="1">
                <a:solidFill>
                  <a:srgbClr val="3D2A6B"/>
                </a:solidFill>
                <a:latin typeface="Arial"/>
                <a:ea typeface="Arial"/>
                <a:cs typeface="Arial"/>
              </a:rPr>
              <a:t>Focus on needs, goals and participation</a:t>
            </a:r>
          </a:p>
        </p:txBody>
      </p:sp>
      <p:sp>
        <p:nvSpPr>
          <p:cNvPr id="35" name="Rounded Rectangle 34"/>
          <p:cNvSpPr/>
          <p:nvPr/>
        </p:nvSpPr>
        <p:spPr>
          <a:xfrm>
            <a:off x="8960891" y="3630168"/>
            <a:ext cx="2545004" cy="676656"/>
          </a:xfrm>
          <a:prstGeom prst="roundRect">
            <a:avLst>
              <a:gd name="adj" fmla="val 20000"/>
            </a:avLst>
          </a:prstGeom>
          <a:solidFill>
            <a:srgbClr val="F3F0FA"/>
          </a:solidFill>
          <a:ln>
            <a:noFill/>
          </a:ln>
        </p:spPr>
        <p:txBody>
          <a:bodyPr rtlCol="0" anchor="ctr"/>
          <a:lstStyle/>
          <a:p>
            <a:pPr algn="ctr"/>
            <a:endParaRPr/>
          </a:p>
        </p:txBody>
      </p:sp>
      <p:sp>
        <p:nvSpPr>
          <p:cNvPr id="36" name="TextBox 35"/>
          <p:cNvSpPr txBox="1"/>
          <p:nvPr/>
        </p:nvSpPr>
        <p:spPr>
          <a:xfrm>
            <a:off x="9235211" y="3630168"/>
            <a:ext cx="1996364" cy="676656"/>
          </a:xfrm>
          <a:prstGeom prst="rect">
            <a:avLst/>
          </a:prstGeom>
          <a:noFill/>
        </p:spPr>
        <p:txBody>
          <a:bodyPr wrap="square" lIns="0" tIns="0" rIns="0" bIns="0" anchor="ctr">
            <a:noAutofit/>
          </a:bodyPr>
          <a:lstStyle/>
          <a:p>
            <a:pPr marL="0" indent="0" algn="l">
              <a:lnSpc>
                <a:spcPct val="100000"/>
              </a:lnSpc>
              <a:spcBef>
                <a:spcPts val="0"/>
              </a:spcBef>
              <a:buNone/>
            </a:pPr>
            <a:r>
              <a:rPr lang="en-AU" sz="1400" b="1">
                <a:solidFill>
                  <a:srgbClr val="3D2A6B"/>
                </a:solidFill>
                <a:latin typeface="Arial"/>
                <a:ea typeface="Arial"/>
                <a:cs typeface="Arial"/>
              </a:rPr>
              <a:t>Use real examples from school</a:t>
            </a:r>
          </a:p>
        </p:txBody>
      </p:sp>
      <p:sp>
        <p:nvSpPr>
          <p:cNvPr id="37" name="Rounded Rectangle 36"/>
          <p:cNvSpPr/>
          <p:nvPr/>
        </p:nvSpPr>
        <p:spPr>
          <a:xfrm>
            <a:off x="6278728" y="4416552"/>
            <a:ext cx="2545004" cy="676656"/>
          </a:xfrm>
          <a:prstGeom prst="roundRect">
            <a:avLst>
              <a:gd name="adj" fmla="val 20000"/>
            </a:avLst>
          </a:prstGeom>
          <a:solidFill>
            <a:srgbClr val="F3F0FA"/>
          </a:solidFill>
          <a:ln>
            <a:noFill/>
          </a:ln>
        </p:spPr>
        <p:txBody>
          <a:bodyPr rtlCol="0" anchor="ctr"/>
          <a:lstStyle/>
          <a:p>
            <a:pPr algn="ctr"/>
            <a:endParaRPr/>
          </a:p>
        </p:txBody>
      </p:sp>
      <p:sp>
        <p:nvSpPr>
          <p:cNvPr id="38" name="TextBox 37"/>
          <p:cNvSpPr txBox="1"/>
          <p:nvPr/>
        </p:nvSpPr>
        <p:spPr>
          <a:xfrm>
            <a:off x="6553048" y="4416552"/>
            <a:ext cx="1996364" cy="676656"/>
          </a:xfrm>
          <a:prstGeom prst="rect">
            <a:avLst/>
          </a:prstGeom>
          <a:noFill/>
        </p:spPr>
        <p:txBody>
          <a:bodyPr wrap="square" lIns="0" tIns="0" rIns="0" bIns="0" anchor="ctr">
            <a:noAutofit/>
          </a:bodyPr>
          <a:lstStyle/>
          <a:p>
            <a:pPr marL="0" indent="0" algn="l">
              <a:lnSpc>
                <a:spcPct val="100000"/>
              </a:lnSpc>
              <a:spcBef>
                <a:spcPts val="0"/>
              </a:spcBef>
              <a:buNone/>
            </a:pPr>
            <a:r>
              <a:rPr lang="en-AU" sz="1400" b="1">
                <a:solidFill>
                  <a:srgbClr val="3D2A6B"/>
                </a:solidFill>
                <a:latin typeface="Arial"/>
                <a:ea typeface="Arial"/>
                <a:cs typeface="Arial"/>
              </a:rPr>
              <a:t>Check for shared understanding</a:t>
            </a:r>
          </a:p>
        </p:txBody>
      </p:sp>
      <p:sp>
        <p:nvSpPr>
          <p:cNvPr id="39" name="Rounded Rectangle 38"/>
          <p:cNvSpPr/>
          <p:nvPr/>
        </p:nvSpPr>
        <p:spPr>
          <a:xfrm>
            <a:off x="8960891" y="4416552"/>
            <a:ext cx="2545004" cy="676656"/>
          </a:xfrm>
          <a:prstGeom prst="roundRect">
            <a:avLst>
              <a:gd name="adj" fmla="val 20000"/>
            </a:avLst>
          </a:prstGeom>
          <a:solidFill>
            <a:srgbClr val="F3F0FA"/>
          </a:solidFill>
          <a:ln>
            <a:noFill/>
          </a:ln>
        </p:spPr>
        <p:txBody>
          <a:bodyPr rtlCol="0" anchor="ctr"/>
          <a:lstStyle/>
          <a:p>
            <a:pPr algn="ctr"/>
            <a:endParaRPr/>
          </a:p>
        </p:txBody>
      </p:sp>
      <p:sp>
        <p:nvSpPr>
          <p:cNvPr id="40" name="TextBox 39"/>
          <p:cNvSpPr txBox="1"/>
          <p:nvPr/>
        </p:nvSpPr>
        <p:spPr>
          <a:xfrm>
            <a:off x="9235211" y="4416552"/>
            <a:ext cx="1996364" cy="676656"/>
          </a:xfrm>
          <a:prstGeom prst="rect">
            <a:avLst/>
          </a:prstGeom>
          <a:noFill/>
        </p:spPr>
        <p:txBody>
          <a:bodyPr wrap="square" lIns="0" tIns="0" rIns="0" bIns="0" anchor="ctr">
            <a:noAutofit/>
          </a:bodyPr>
          <a:lstStyle/>
          <a:p>
            <a:pPr marL="0" indent="0" algn="l">
              <a:lnSpc>
                <a:spcPct val="100000"/>
              </a:lnSpc>
              <a:spcBef>
                <a:spcPts val="0"/>
              </a:spcBef>
              <a:buNone/>
            </a:pPr>
            <a:r>
              <a:rPr lang="en-AU" sz="1400" b="1">
                <a:solidFill>
                  <a:srgbClr val="3D2A6B"/>
                </a:solidFill>
                <a:latin typeface="Arial"/>
                <a:ea typeface="Arial"/>
                <a:cs typeface="Arial"/>
              </a:rPr>
              <a:t>Agree on next steps</a:t>
            </a:r>
          </a:p>
        </p:txBody>
      </p:sp>
      <p:sp>
        <p:nvSpPr>
          <p:cNvPr id="41" name="Rounded Rectangle 40"/>
          <p:cNvSpPr/>
          <p:nvPr/>
        </p:nvSpPr>
        <p:spPr>
          <a:xfrm>
            <a:off x="6278728" y="5202936"/>
            <a:ext cx="2545004" cy="676656"/>
          </a:xfrm>
          <a:prstGeom prst="roundRect">
            <a:avLst>
              <a:gd name="adj" fmla="val 20000"/>
            </a:avLst>
          </a:prstGeom>
          <a:solidFill>
            <a:srgbClr val="F3F0FA"/>
          </a:solidFill>
          <a:ln>
            <a:noFill/>
          </a:ln>
        </p:spPr>
        <p:txBody>
          <a:bodyPr rtlCol="0" anchor="ctr"/>
          <a:lstStyle/>
          <a:p>
            <a:pPr algn="ctr"/>
            <a:endParaRPr/>
          </a:p>
        </p:txBody>
      </p:sp>
      <p:sp>
        <p:nvSpPr>
          <p:cNvPr id="42" name="TextBox 41"/>
          <p:cNvSpPr txBox="1"/>
          <p:nvPr/>
        </p:nvSpPr>
        <p:spPr>
          <a:xfrm>
            <a:off x="6553048" y="5202936"/>
            <a:ext cx="1996364" cy="676656"/>
          </a:xfrm>
          <a:prstGeom prst="rect">
            <a:avLst/>
          </a:prstGeom>
          <a:noFill/>
        </p:spPr>
        <p:txBody>
          <a:bodyPr wrap="square" lIns="0" tIns="0" rIns="0" bIns="0" anchor="ctr">
            <a:noAutofit/>
          </a:bodyPr>
          <a:lstStyle/>
          <a:p>
            <a:pPr marL="0" indent="0" algn="l">
              <a:lnSpc>
                <a:spcPct val="100000"/>
              </a:lnSpc>
              <a:spcBef>
                <a:spcPts val="0"/>
              </a:spcBef>
              <a:buNone/>
            </a:pPr>
            <a:r>
              <a:rPr lang="en-AU" sz="1400" b="1">
                <a:solidFill>
                  <a:srgbClr val="3D2A6B"/>
                </a:solidFill>
                <a:latin typeface="Arial"/>
                <a:ea typeface="Arial"/>
                <a:cs typeface="Arial"/>
              </a:rPr>
              <a:t>Keep communication open and ongoing</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Oval 2"/>
          <p:cNvSpPr/>
          <p:nvPr/>
        </p:nvSpPr>
        <p:spPr>
          <a:xfrm>
            <a:off x="8549640" y="3840480"/>
            <a:ext cx="4873752" cy="4873752"/>
          </a:xfrm>
          <a:prstGeom prst="ellipse">
            <a:avLst/>
          </a:prstGeom>
          <a:solidFill>
            <a:srgbClr val="EDE8F8"/>
          </a:solidFill>
          <a:ln>
            <a:noFill/>
          </a:ln>
        </p:spPr>
        <p:txBody>
          <a:bodyPr rtlCol="0" anchor="ctr"/>
          <a:lstStyle/>
          <a:p>
            <a:pPr algn="ctr"/>
          </a:p>
        </p:txBody>
      </p:sp>
      <p:sp>
        <p:nvSpPr>
          <p:cNvPr id="2" name="Title"/>
          <p:cNvSpPr txBox="1"/>
          <p:nvPr/>
        </p:nvSpPr>
        <p:spPr>
          <a:xfrm>
            <a:off x="685800" y="457200"/>
            <a:ext cx="10789920" cy="777240"/>
          </a:xfrm>
          <a:prstGeom prst="rect">
            <a:avLst/>
          </a:prstGeom>
          <a:noFill/>
        </p:spPr>
        <p:txBody>
          <a:bodyPr wrap="square" lIns="0" rIns="0" tIns="0" bIns="0" anchor="t">
            <a:noAutofit/>
          </a:bodyPr>
          <a:lstStyle/>
          <a:p>
            <a:pPr algn="l" marL="0" indent="0">
              <a:lnSpc>
                <a:spcPct val="95000"/>
              </a:lnSpc>
              <a:spcBef>
                <a:spcPts val="0"/>
              </a:spcBef>
              <a:buNone/>
            </a:pPr>
            <a:r>
              <a:rPr lang="en-AU" sz="3600" b="0">
                <a:solidFill>
                  <a:srgbClr val="584099"/>
                </a:solidFill>
                <a:latin typeface="Arial Black"/>
                <a:ea typeface="Arial Black"/>
                <a:cs typeface="Arial Black"/>
              </a:rPr>
              <a:t>Asking is part of the job</a:t>
            </a:r>
          </a:p>
        </p:txBody>
      </p:sp>
      <p:sp>
        <p:nvSpPr>
          <p:cNvPr id="4" name="TextBox 3"/>
          <p:cNvSpPr txBox="1"/>
          <p:nvPr/>
        </p:nvSpPr>
        <p:spPr>
          <a:xfrm>
            <a:off x="685800" y="1325880"/>
            <a:ext cx="10789920" cy="548640"/>
          </a:xfrm>
          <a:prstGeom prst="rect">
            <a:avLst/>
          </a:prstGeom>
          <a:noFill/>
        </p:spPr>
        <p:txBody>
          <a:bodyPr wrap="square" lIns="0" rIns="0" tIns="0" bIns="0" anchor="t">
            <a:noAutofit/>
          </a:bodyPr>
          <a:lstStyle/>
          <a:p>
            <a:pPr algn="l" marL="0" indent="0">
              <a:lnSpc>
                <a:spcPct val="100000"/>
              </a:lnSpc>
              <a:spcBef>
                <a:spcPts val="0"/>
              </a:spcBef>
              <a:buNone/>
            </a:pPr>
            <a:r>
              <a:rPr lang="en-AU" sz="2000" b="1">
                <a:solidFill>
                  <a:srgbClr val="3D2A6B"/>
                </a:solidFill>
                <a:latin typeface="Arial"/>
                <a:ea typeface="Arial"/>
                <a:cs typeface="Arial"/>
              </a:rPr>
              <a:t>Early in your career, asking is a strength.</a:t>
            </a:r>
          </a:p>
        </p:txBody>
      </p:sp>
      <p:sp>
        <p:nvSpPr>
          <p:cNvPr id="5" name="Rounded Rectangle 4"/>
          <p:cNvSpPr/>
          <p:nvPr/>
        </p:nvSpPr>
        <p:spPr>
          <a:xfrm>
            <a:off x="685800" y="2103120"/>
            <a:ext cx="2554148" cy="2651760"/>
          </a:xfrm>
          <a:prstGeom prst="roundRect">
            <a:avLst>
              <a:gd name="adj" fmla="val 10000"/>
            </a:avLst>
          </a:prstGeom>
          <a:solidFill>
            <a:srgbClr val="F3F0FA"/>
          </a:solidFill>
          <a:ln>
            <a:noFill/>
          </a:ln>
        </p:spPr>
        <p:txBody>
          <a:bodyPr rtlCol="0" anchor="ctr"/>
          <a:lstStyle/>
          <a:p>
            <a:pPr algn="ctr"/>
          </a:p>
        </p:txBody>
      </p:sp>
      <p:sp>
        <p:nvSpPr>
          <p:cNvPr id="6" name="TextBox 5"/>
          <p:cNvSpPr txBox="1"/>
          <p:nvPr/>
        </p:nvSpPr>
        <p:spPr>
          <a:xfrm>
            <a:off x="960120" y="2377440"/>
            <a:ext cx="2005508" cy="2194560"/>
          </a:xfrm>
          <a:prstGeom prst="rect">
            <a:avLst/>
          </a:prstGeom>
          <a:noFill/>
        </p:spPr>
        <p:txBody>
          <a:bodyPr wrap="square" lIns="0" rIns="0" tIns="0" bIns="0" anchor="t">
            <a:noAutofit/>
          </a:bodyPr>
          <a:lstStyle/>
          <a:p>
            <a:pPr algn="l" marL="0" indent="0">
              <a:lnSpc>
                <a:spcPct val="100000"/>
              </a:lnSpc>
              <a:spcBef>
                <a:spcPts val="0"/>
              </a:spcBef>
              <a:buNone/>
            </a:pPr>
            <a:r>
              <a:rPr lang="en-AU" sz="2000" b="1">
                <a:solidFill>
                  <a:srgbClr val="584099"/>
                </a:solidFill>
                <a:latin typeface="Arial"/>
                <a:ea typeface="Arial"/>
                <a:cs typeface="Arial"/>
              </a:rPr>
              <a:t>Ask families</a:t>
            </a:r>
          </a:p>
          <a:p>
            <a:pPr algn="l" marL="0" indent="0">
              <a:lnSpc>
                <a:spcPct val="100000"/>
              </a:lnSpc>
              <a:spcBef>
                <a:spcPts val="800"/>
              </a:spcBef>
              <a:buNone/>
            </a:pPr>
            <a:r>
              <a:rPr lang="en-AU" sz="1600" b="0">
                <a:solidFill>
                  <a:srgbClr val="3D2A6B"/>
                </a:solidFill>
                <a:latin typeface="Arial"/>
                <a:ea typeface="Arial"/>
                <a:cs typeface="Arial"/>
              </a:rPr>
              <a:t>“What works at home?” in the first weeks shows care and professionalism.</a:t>
            </a:r>
          </a:p>
        </p:txBody>
      </p:sp>
      <p:sp>
        <p:nvSpPr>
          <p:cNvPr id="7" name="Rounded Rectangle 6"/>
          <p:cNvSpPr/>
          <p:nvPr/>
        </p:nvSpPr>
        <p:spPr>
          <a:xfrm>
            <a:off x="3441116" y="2103120"/>
            <a:ext cx="2554148" cy="2651760"/>
          </a:xfrm>
          <a:prstGeom prst="roundRect">
            <a:avLst>
              <a:gd name="adj" fmla="val 10000"/>
            </a:avLst>
          </a:prstGeom>
          <a:solidFill>
            <a:srgbClr val="F3F0FA"/>
          </a:solidFill>
          <a:ln>
            <a:noFill/>
          </a:ln>
        </p:spPr>
        <p:txBody>
          <a:bodyPr rtlCol="0" anchor="ctr"/>
          <a:lstStyle/>
          <a:p>
            <a:pPr algn="ctr"/>
          </a:p>
        </p:txBody>
      </p:sp>
      <p:sp>
        <p:nvSpPr>
          <p:cNvPr id="8" name="TextBox 7"/>
          <p:cNvSpPr txBox="1"/>
          <p:nvPr/>
        </p:nvSpPr>
        <p:spPr>
          <a:xfrm>
            <a:off x="3715436" y="2377440"/>
            <a:ext cx="2005508" cy="2194560"/>
          </a:xfrm>
          <a:prstGeom prst="rect">
            <a:avLst/>
          </a:prstGeom>
          <a:noFill/>
        </p:spPr>
        <p:txBody>
          <a:bodyPr wrap="square" lIns="0" rIns="0" tIns="0" bIns="0" anchor="t">
            <a:noAutofit/>
          </a:bodyPr>
          <a:lstStyle/>
          <a:p>
            <a:pPr algn="l" marL="0" indent="0">
              <a:lnSpc>
                <a:spcPct val="100000"/>
              </a:lnSpc>
              <a:spcBef>
                <a:spcPts val="0"/>
              </a:spcBef>
              <a:buNone/>
            </a:pPr>
            <a:r>
              <a:rPr lang="en-AU" sz="2000" b="1">
                <a:solidFill>
                  <a:srgbClr val="584099"/>
                </a:solidFill>
                <a:latin typeface="Arial"/>
                <a:ea typeface="Arial"/>
                <a:cs typeface="Arial"/>
              </a:rPr>
              <a:t>Ask the student</a:t>
            </a:r>
          </a:p>
          <a:p>
            <a:pPr algn="l" marL="0" indent="0">
              <a:lnSpc>
                <a:spcPct val="100000"/>
              </a:lnSpc>
              <a:spcBef>
                <a:spcPts val="800"/>
              </a:spcBef>
              <a:buNone/>
            </a:pPr>
            <a:r>
              <a:rPr lang="en-AU" sz="1600" b="0">
                <a:solidFill>
                  <a:srgbClr val="3D2A6B"/>
                </a:solidFill>
                <a:latin typeface="Arial"/>
                <a:ea typeface="Arial"/>
                <a:cs typeface="Arial"/>
              </a:rPr>
              <a:t>They are often the quickest way to understand what helps.</a:t>
            </a:r>
          </a:p>
        </p:txBody>
      </p:sp>
      <p:sp>
        <p:nvSpPr>
          <p:cNvPr id="9" name="Rounded Rectangle 8"/>
          <p:cNvSpPr/>
          <p:nvPr/>
        </p:nvSpPr>
        <p:spPr>
          <a:xfrm>
            <a:off x="6196432" y="2103120"/>
            <a:ext cx="2554148" cy="2651760"/>
          </a:xfrm>
          <a:prstGeom prst="roundRect">
            <a:avLst>
              <a:gd name="adj" fmla="val 10000"/>
            </a:avLst>
          </a:prstGeom>
          <a:solidFill>
            <a:srgbClr val="F3F0FA"/>
          </a:solidFill>
          <a:ln>
            <a:noFill/>
          </a:ln>
        </p:spPr>
        <p:txBody>
          <a:bodyPr rtlCol="0" anchor="ctr"/>
          <a:lstStyle/>
          <a:p>
            <a:pPr algn="ctr"/>
          </a:p>
        </p:txBody>
      </p:sp>
      <p:sp>
        <p:nvSpPr>
          <p:cNvPr id="10" name="TextBox 9"/>
          <p:cNvSpPr txBox="1"/>
          <p:nvPr/>
        </p:nvSpPr>
        <p:spPr>
          <a:xfrm>
            <a:off x="6470752" y="2377440"/>
            <a:ext cx="2005508" cy="2194560"/>
          </a:xfrm>
          <a:prstGeom prst="rect">
            <a:avLst/>
          </a:prstGeom>
          <a:noFill/>
        </p:spPr>
        <p:txBody>
          <a:bodyPr wrap="square" lIns="0" rIns="0" tIns="0" bIns="0" anchor="t">
            <a:noAutofit/>
          </a:bodyPr>
          <a:lstStyle/>
          <a:p>
            <a:pPr algn="l" marL="0" indent="0">
              <a:lnSpc>
                <a:spcPct val="100000"/>
              </a:lnSpc>
              <a:spcBef>
                <a:spcPts val="0"/>
              </a:spcBef>
              <a:buNone/>
            </a:pPr>
            <a:r>
              <a:rPr lang="en-AU" sz="2000" b="1">
                <a:solidFill>
                  <a:srgbClr val="584099"/>
                </a:solidFill>
                <a:latin typeface="Arial"/>
                <a:ea typeface="Arial"/>
                <a:cs typeface="Arial"/>
              </a:rPr>
              <a:t>Ask colleagues</a:t>
            </a:r>
          </a:p>
          <a:p>
            <a:pPr algn="l" marL="0" indent="0">
              <a:lnSpc>
                <a:spcPct val="100000"/>
              </a:lnSpc>
              <a:spcBef>
                <a:spcPts val="800"/>
              </a:spcBef>
              <a:buNone/>
            </a:pPr>
            <a:r>
              <a:rPr lang="en-AU" sz="1600" b="0">
                <a:solidFill>
                  <a:srgbClr val="3D2A6B"/>
                </a:solidFill>
                <a:latin typeface="Arial"/>
                <a:ea typeface="Arial"/>
                <a:cs typeface="Arial"/>
              </a:rPr>
              <a:t>Support staff who have known a student for years often know the most.</a:t>
            </a:r>
          </a:p>
        </p:txBody>
      </p:sp>
      <p:sp>
        <p:nvSpPr>
          <p:cNvPr id="11" name="Rounded Rectangle 10"/>
          <p:cNvSpPr/>
          <p:nvPr/>
        </p:nvSpPr>
        <p:spPr>
          <a:xfrm>
            <a:off x="8951747" y="2103120"/>
            <a:ext cx="2554148" cy="2651760"/>
          </a:xfrm>
          <a:prstGeom prst="roundRect">
            <a:avLst>
              <a:gd name="adj" fmla="val 10000"/>
            </a:avLst>
          </a:prstGeom>
          <a:solidFill>
            <a:srgbClr val="F3F0FA"/>
          </a:solidFill>
          <a:ln>
            <a:noFill/>
          </a:ln>
        </p:spPr>
        <p:txBody>
          <a:bodyPr rtlCol="0" anchor="ctr"/>
          <a:lstStyle/>
          <a:p>
            <a:pPr algn="ctr"/>
          </a:p>
        </p:txBody>
      </p:sp>
      <p:sp>
        <p:nvSpPr>
          <p:cNvPr id="12" name="TextBox 11"/>
          <p:cNvSpPr txBox="1"/>
          <p:nvPr/>
        </p:nvSpPr>
        <p:spPr>
          <a:xfrm>
            <a:off x="9226067" y="2377440"/>
            <a:ext cx="2005508" cy="2194560"/>
          </a:xfrm>
          <a:prstGeom prst="rect">
            <a:avLst/>
          </a:prstGeom>
          <a:noFill/>
        </p:spPr>
        <p:txBody>
          <a:bodyPr wrap="square" lIns="0" rIns="0" tIns="0" bIns="0" anchor="t">
            <a:noAutofit/>
          </a:bodyPr>
          <a:lstStyle/>
          <a:p>
            <a:pPr algn="l" marL="0" indent="0">
              <a:lnSpc>
                <a:spcPct val="100000"/>
              </a:lnSpc>
              <a:spcBef>
                <a:spcPts val="0"/>
              </a:spcBef>
              <a:buNone/>
            </a:pPr>
            <a:r>
              <a:rPr lang="en-AU" sz="2000" b="1">
                <a:solidFill>
                  <a:srgbClr val="584099"/>
                </a:solidFill>
                <a:latin typeface="Arial"/>
                <a:ea typeface="Arial"/>
                <a:cs typeface="Arial"/>
              </a:rPr>
              <a:t>It is fine to say so</a:t>
            </a:r>
          </a:p>
          <a:p>
            <a:pPr algn="l" marL="0" indent="0">
              <a:lnSpc>
                <a:spcPct val="100000"/>
              </a:lnSpc>
              <a:spcBef>
                <a:spcPts val="800"/>
              </a:spcBef>
              <a:buNone/>
            </a:pPr>
            <a:r>
              <a:rPr lang="en-AU" sz="1600" b="0">
                <a:solidFill>
                  <a:srgbClr val="3D2A6B"/>
                </a:solidFill>
                <a:latin typeface="Arial"/>
                <a:ea typeface="Arial"/>
                <a:cs typeface="Arial"/>
              </a:rPr>
              <a:t>Saying you are still finding out is better than guessing.</a:t>
            </a:r>
          </a:p>
        </p:txBody>
      </p:sp>
      <p:sp>
        <p:nvSpPr>
          <p:cNvPr id="13" name="Rounded Rectangle 12"/>
          <p:cNvSpPr/>
          <p:nvPr/>
        </p:nvSpPr>
        <p:spPr>
          <a:xfrm>
            <a:off x="685800" y="5257800"/>
            <a:ext cx="10820095" cy="566928"/>
          </a:xfrm>
          <a:prstGeom prst="roundRect">
            <a:avLst>
              <a:gd name="adj" fmla="val 50000"/>
            </a:avLst>
          </a:prstGeom>
          <a:solidFill>
            <a:srgbClr val="FFFFFF"/>
          </a:solidFill>
          <a:ln w="19050">
            <a:solidFill>
              <a:srgbClr val="584099"/>
            </a:solidFill>
          </a:ln>
        </p:spPr>
        <p:txBody>
          <a:bodyPr rtlCol="0" anchor="ctr"/>
          <a:lstStyle/>
          <a:p>
            <a:pPr algn="ctr"/>
          </a:p>
        </p:txBody>
      </p:sp>
      <p:sp>
        <p:nvSpPr>
          <p:cNvPr id="14" name="TextBox 13"/>
          <p:cNvSpPr txBox="1"/>
          <p:nvPr/>
        </p:nvSpPr>
        <p:spPr>
          <a:xfrm>
            <a:off x="960120" y="5257800"/>
            <a:ext cx="10271455" cy="566928"/>
          </a:xfrm>
          <a:prstGeom prst="rect">
            <a:avLst/>
          </a:prstGeom>
          <a:noFill/>
        </p:spPr>
        <p:txBody>
          <a:bodyPr wrap="square" lIns="0" rIns="0" tIns="0" bIns="0" anchor="ctr">
            <a:noAutofit/>
          </a:bodyPr>
          <a:lstStyle/>
          <a:p>
            <a:pPr algn="ctr" marL="0" indent="0">
              <a:lnSpc>
                <a:spcPct val="100000"/>
              </a:lnSpc>
              <a:spcBef>
                <a:spcPts val="0"/>
              </a:spcBef>
              <a:buNone/>
            </a:pPr>
            <a:r>
              <a:rPr lang="en-AU" sz="1800" b="1">
                <a:solidFill>
                  <a:srgbClr val="584099"/>
                </a:solidFill>
                <a:latin typeface="Arial"/>
                <a:ea typeface="Arial"/>
                <a:cs typeface="Arial"/>
              </a:rPr>
              <a:t>Teachers who ask early tend to keep asking. It is a good habit to start.</a:t>
            </a: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p:cNvSpPr txBox="1"/>
          <p:nvPr/>
        </p:nvSpPr>
        <p:spPr>
          <a:xfrm>
            <a:off x="685800" y="457200"/>
            <a:ext cx="10789920" cy="777240"/>
          </a:xfrm>
          <a:prstGeom prst="rect">
            <a:avLst/>
          </a:prstGeom>
          <a:noFill/>
        </p:spPr>
        <p:txBody>
          <a:bodyPr wrap="square" lIns="0" tIns="0" rIns="0" bIns="0" anchor="t">
            <a:noAutofit/>
          </a:bodyPr>
          <a:lstStyle/>
          <a:p>
            <a:pPr marL="0" indent="0" algn="l">
              <a:lnSpc>
                <a:spcPct val="95000"/>
              </a:lnSpc>
              <a:spcBef>
                <a:spcPts val="0"/>
              </a:spcBef>
              <a:buNone/>
            </a:pPr>
            <a:r>
              <a:rPr lang="en-AU" sz="3600" b="0">
                <a:solidFill>
                  <a:srgbClr val="584099"/>
                </a:solidFill>
                <a:latin typeface="Arial Black"/>
                <a:ea typeface="Arial Black"/>
                <a:cs typeface="Arial Black"/>
              </a:rPr>
              <a:t>When student capacity runs out</a:t>
            </a:r>
          </a:p>
        </p:txBody>
      </p:sp>
      <p:sp>
        <p:nvSpPr>
          <p:cNvPr id="3" name="TextBox 2"/>
          <p:cNvSpPr txBox="1"/>
          <p:nvPr/>
        </p:nvSpPr>
        <p:spPr>
          <a:xfrm>
            <a:off x="685800" y="1325880"/>
            <a:ext cx="10789920" cy="914400"/>
          </a:xfrm>
          <a:prstGeom prst="rect">
            <a:avLst/>
          </a:prstGeom>
          <a:noFill/>
        </p:spPr>
        <p:txBody>
          <a:bodyPr wrap="square" lIns="0" tIns="0" rIns="0" bIns="0" anchor="t">
            <a:noAutofit/>
          </a:bodyPr>
          <a:lstStyle/>
          <a:p>
            <a:pPr marL="0" indent="0" algn="l">
              <a:lnSpc>
                <a:spcPct val="105000"/>
              </a:lnSpc>
              <a:spcBef>
                <a:spcPts val="0"/>
              </a:spcBef>
              <a:buNone/>
            </a:pPr>
            <a:r>
              <a:rPr lang="en-AU" sz="2200" b="1">
                <a:solidFill>
                  <a:srgbClr val="3D2A6B"/>
                </a:solidFill>
                <a:latin typeface="Arial"/>
                <a:ea typeface="Arial"/>
                <a:cs typeface="Arial"/>
              </a:rPr>
              <a:t>Discuss capacity without blame. Home and school may observe different parts of the student's experience.</a:t>
            </a:r>
          </a:p>
        </p:txBody>
      </p:sp>
      <p:sp>
        <p:nvSpPr>
          <p:cNvPr id="4" name="Rounded Rectangle 3"/>
          <p:cNvSpPr/>
          <p:nvPr/>
        </p:nvSpPr>
        <p:spPr>
          <a:xfrm>
            <a:off x="685800" y="2514600"/>
            <a:ext cx="3423818" cy="1188720"/>
          </a:xfrm>
          <a:prstGeom prst="roundRect">
            <a:avLst>
              <a:gd name="adj" fmla="val 20000"/>
            </a:avLst>
          </a:prstGeom>
          <a:solidFill>
            <a:srgbClr val="F3F0FA"/>
          </a:solidFill>
          <a:ln>
            <a:noFill/>
          </a:ln>
        </p:spPr>
        <p:txBody>
          <a:bodyPr rtlCol="0" anchor="ctr"/>
          <a:lstStyle/>
          <a:p>
            <a:pPr algn="ctr"/>
            <a:endParaRPr/>
          </a:p>
        </p:txBody>
      </p:sp>
      <p:sp>
        <p:nvSpPr>
          <p:cNvPr id="5" name="TextBox 4"/>
          <p:cNvSpPr txBox="1"/>
          <p:nvPr/>
        </p:nvSpPr>
        <p:spPr>
          <a:xfrm>
            <a:off x="960120" y="2514600"/>
            <a:ext cx="2875178" cy="1188720"/>
          </a:xfrm>
          <a:prstGeom prst="rect">
            <a:avLst/>
          </a:prstGeom>
          <a:noFill/>
        </p:spPr>
        <p:txBody>
          <a:bodyPr wrap="square" lIns="0" tIns="0" rIns="0" bIns="0" anchor="ctr">
            <a:noAutofit/>
          </a:bodyPr>
          <a:lstStyle/>
          <a:p>
            <a:pPr marL="0" indent="0" algn="ctr">
              <a:lnSpc>
                <a:spcPct val="100000"/>
              </a:lnSpc>
              <a:spcBef>
                <a:spcPts val="0"/>
              </a:spcBef>
              <a:buNone/>
            </a:pPr>
            <a:r>
              <a:rPr lang="en-AU" sz="2400" b="1">
                <a:solidFill>
                  <a:srgbClr val="584099"/>
                </a:solidFill>
                <a:latin typeface="Arial Black"/>
                <a:ea typeface="Arial Black"/>
                <a:cs typeface="Arial Black"/>
              </a:rPr>
              <a:t>Meltdown</a:t>
            </a:r>
          </a:p>
        </p:txBody>
      </p:sp>
      <p:sp>
        <p:nvSpPr>
          <p:cNvPr id="6" name="Rounded Rectangle 5"/>
          <p:cNvSpPr/>
          <p:nvPr/>
        </p:nvSpPr>
        <p:spPr>
          <a:xfrm>
            <a:off x="4383938" y="2514600"/>
            <a:ext cx="3423818" cy="1188720"/>
          </a:xfrm>
          <a:prstGeom prst="roundRect">
            <a:avLst>
              <a:gd name="adj" fmla="val 20000"/>
            </a:avLst>
          </a:prstGeom>
          <a:solidFill>
            <a:srgbClr val="F3F0FA"/>
          </a:solidFill>
          <a:ln>
            <a:noFill/>
          </a:ln>
        </p:spPr>
        <p:txBody>
          <a:bodyPr rtlCol="0" anchor="ctr"/>
          <a:lstStyle/>
          <a:p>
            <a:pPr algn="ctr"/>
            <a:endParaRPr/>
          </a:p>
        </p:txBody>
      </p:sp>
      <p:sp>
        <p:nvSpPr>
          <p:cNvPr id="7" name="TextBox 6"/>
          <p:cNvSpPr txBox="1"/>
          <p:nvPr/>
        </p:nvSpPr>
        <p:spPr>
          <a:xfrm>
            <a:off x="4658258" y="2514600"/>
            <a:ext cx="2875178" cy="1188720"/>
          </a:xfrm>
          <a:prstGeom prst="rect">
            <a:avLst/>
          </a:prstGeom>
          <a:noFill/>
        </p:spPr>
        <p:txBody>
          <a:bodyPr wrap="square" lIns="0" tIns="0" rIns="0" bIns="0" anchor="ctr">
            <a:noAutofit/>
          </a:bodyPr>
          <a:lstStyle/>
          <a:p>
            <a:pPr marL="0" indent="0" algn="ctr">
              <a:lnSpc>
                <a:spcPct val="100000"/>
              </a:lnSpc>
              <a:spcBef>
                <a:spcPts val="0"/>
              </a:spcBef>
              <a:buNone/>
            </a:pPr>
            <a:r>
              <a:rPr lang="en-AU" sz="2400" b="1">
                <a:solidFill>
                  <a:srgbClr val="584099"/>
                </a:solidFill>
                <a:latin typeface="Arial Black"/>
                <a:ea typeface="Arial Black"/>
                <a:cs typeface="Arial Black"/>
              </a:rPr>
              <a:t>Shutdown</a:t>
            </a:r>
          </a:p>
        </p:txBody>
      </p:sp>
      <p:sp>
        <p:nvSpPr>
          <p:cNvPr id="8" name="Rounded Rectangle 7"/>
          <p:cNvSpPr/>
          <p:nvPr/>
        </p:nvSpPr>
        <p:spPr>
          <a:xfrm>
            <a:off x="8082077" y="2514600"/>
            <a:ext cx="3423818" cy="1188720"/>
          </a:xfrm>
          <a:prstGeom prst="roundRect">
            <a:avLst>
              <a:gd name="adj" fmla="val 20000"/>
            </a:avLst>
          </a:prstGeom>
          <a:solidFill>
            <a:srgbClr val="F3F0FA"/>
          </a:solidFill>
          <a:ln>
            <a:noFill/>
          </a:ln>
        </p:spPr>
        <p:txBody>
          <a:bodyPr rtlCol="0" anchor="ctr"/>
          <a:lstStyle/>
          <a:p>
            <a:pPr algn="ctr"/>
            <a:endParaRPr/>
          </a:p>
        </p:txBody>
      </p:sp>
      <p:sp>
        <p:nvSpPr>
          <p:cNvPr id="9" name="TextBox 8"/>
          <p:cNvSpPr txBox="1"/>
          <p:nvPr/>
        </p:nvSpPr>
        <p:spPr>
          <a:xfrm>
            <a:off x="8356397" y="2514600"/>
            <a:ext cx="2875178" cy="1188720"/>
          </a:xfrm>
          <a:prstGeom prst="rect">
            <a:avLst/>
          </a:prstGeom>
          <a:noFill/>
        </p:spPr>
        <p:txBody>
          <a:bodyPr wrap="square" lIns="0" tIns="0" rIns="0" bIns="0" anchor="ctr">
            <a:noAutofit/>
          </a:bodyPr>
          <a:lstStyle/>
          <a:p>
            <a:pPr marL="0" indent="0" algn="ctr">
              <a:lnSpc>
                <a:spcPct val="100000"/>
              </a:lnSpc>
              <a:spcBef>
                <a:spcPts val="0"/>
              </a:spcBef>
              <a:buNone/>
            </a:pPr>
            <a:r>
              <a:rPr lang="en-AU" sz="2400" b="1">
                <a:solidFill>
                  <a:srgbClr val="584099"/>
                </a:solidFill>
                <a:latin typeface="Arial Black"/>
                <a:ea typeface="Arial Black"/>
                <a:cs typeface="Arial Black"/>
              </a:rPr>
              <a:t>School Can’t</a:t>
            </a:r>
          </a:p>
        </p:txBody>
      </p:sp>
      <p:sp>
        <p:nvSpPr>
          <p:cNvPr id="10" name="Rounded Rectangle 9"/>
          <p:cNvSpPr/>
          <p:nvPr/>
        </p:nvSpPr>
        <p:spPr>
          <a:xfrm>
            <a:off x="685800" y="4023360"/>
            <a:ext cx="10820095" cy="1234440"/>
          </a:xfrm>
          <a:prstGeom prst="roundRect">
            <a:avLst>
              <a:gd name="adj" fmla="val 20000"/>
            </a:avLst>
          </a:prstGeom>
          <a:solidFill>
            <a:srgbClr val="FFFFFF"/>
          </a:solidFill>
          <a:ln w="19050">
            <a:solidFill>
              <a:srgbClr val="584099"/>
            </a:solidFill>
          </a:ln>
        </p:spPr>
        <p:txBody>
          <a:bodyPr rtlCol="0" anchor="ctr"/>
          <a:lstStyle/>
          <a:p>
            <a:pPr algn="ctr"/>
            <a:endParaRPr/>
          </a:p>
        </p:txBody>
      </p:sp>
      <p:sp>
        <p:nvSpPr>
          <p:cNvPr id="11" name="TextBox 10"/>
          <p:cNvSpPr txBox="1"/>
          <p:nvPr/>
        </p:nvSpPr>
        <p:spPr>
          <a:xfrm>
            <a:off x="1005840" y="4023360"/>
            <a:ext cx="10149840" cy="1234440"/>
          </a:xfrm>
          <a:prstGeom prst="rect">
            <a:avLst/>
          </a:prstGeom>
          <a:noFill/>
        </p:spPr>
        <p:txBody>
          <a:bodyPr wrap="square" lIns="0" tIns="0" rIns="0" bIns="0" anchor="ctr">
            <a:noAutofit/>
          </a:bodyPr>
          <a:lstStyle/>
          <a:p>
            <a:pPr marL="0" indent="0" algn="l">
              <a:lnSpc>
                <a:spcPct val="105000"/>
              </a:lnSpc>
              <a:spcBef>
                <a:spcPts val="0"/>
              </a:spcBef>
              <a:buNone/>
            </a:pPr>
            <a:r>
              <a:rPr lang="en-AU" sz="1800" b="0">
                <a:solidFill>
                  <a:srgbClr val="3D2A6B"/>
                </a:solidFill>
                <a:latin typeface="Arial"/>
                <a:ea typeface="Arial"/>
                <a:cs typeface="Arial"/>
              </a:rPr>
              <a:t>Focus on safety, what preceded the situation, what supports recovery and what can change in the environment, task or response.</a:t>
            </a: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3">
            <a:extLst>
              <a:ext uri="{FF2B5EF4-FFF2-40B4-BE49-F238E27FC236}">
                <a16:creationId xmlns:a16="http://schemas.microsoft.com/office/drawing/2014/main" id="{F0BFB307-C748-4190-B8CD-319D0F096407}"/>
              </a:ext>
            </a:extLst>
          </p:cNvPr>
          <p:cNvSpPr txBox="1">
            <a:spLocks/>
          </p:cNvSpPr>
          <p:nvPr/>
        </p:nvSpPr>
        <p:spPr>
          <a:xfrm>
            <a:off x="6309360" y="457200"/>
            <a:ext cx="5196535" cy="777240"/>
          </a:xfrm>
          <a:prstGeom prst="rect">
            <a:avLst/>
          </a:prstGeom>
        </p:spPr>
        <p:txBody>
          <a:bodyPr wrap="square" lIns="0" tIns="0" rIns="0" bIns="0" anchor="t">
            <a:noAutofit/>
          </a:bodyPr>
          <a:lstStyle>
            <a:lvl1pPr algn="l" defTabSz="914400" rtl="0" eaLnBrk="1" latinLnBrk="0" hangingPunct="1">
              <a:lnSpc>
                <a:spcPct val="90000"/>
              </a:lnSpc>
              <a:spcBef>
                <a:spcPct val="0"/>
              </a:spcBef>
              <a:buNone/>
              <a:defRPr sz="4400" b="1" kern="1200">
                <a:solidFill>
                  <a:schemeClr val="tx1"/>
                </a:solidFill>
                <a:latin typeface="+mj-lt"/>
                <a:ea typeface="+mj-ea"/>
                <a:cs typeface="+mj-cs"/>
              </a:defRPr>
            </a:lvl1pPr>
          </a:lstStyle>
          <a:p>
            <a:pPr marL="0" indent="0" algn="r">
              <a:lnSpc>
                <a:spcPct val="100000"/>
              </a:lnSpc>
              <a:spcBef>
                <a:spcPts val="0"/>
              </a:spcBef>
              <a:buNone/>
            </a:pPr>
            <a:r>
              <a:rPr lang="en-AU" sz="3600" b="0">
                <a:solidFill>
                  <a:srgbClr val="584099"/>
                </a:solidFill>
                <a:latin typeface="Arial Black"/>
                <a:ea typeface="Arial Black"/>
                <a:cs typeface="Arial Black"/>
              </a:rPr>
              <a:t>Partnership tools</a:t>
            </a:r>
          </a:p>
        </p:txBody>
      </p:sp>
      <p:pic>
        <p:nvPicPr>
          <p:cNvPr id="5" name="Picture 4"/>
          <p:cNvPicPr>
            <a:picLocks noChangeAspect="1"/>
          </p:cNvPicPr>
          <p:nvPr/>
        </p:nvPicPr>
        <p:blipFill rotWithShape="1">
          <a:blip r:embed="rId3"/>
          <a:srcRect l="-2850" t="-3367" r="-2431" b="1"/>
          <a:stretch/>
        </p:blipFill>
        <p:spPr>
          <a:xfrm rot="474070">
            <a:off x="5401381" y="1708714"/>
            <a:ext cx="6048605" cy="3871396"/>
          </a:xfrm>
          <a:prstGeom prst="rect">
            <a:avLst/>
          </a:prstGeom>
          <a:solidFill>
            <a:srgbClr val="FFFFFF">
              <a:shade val="85000"/>
            </a:srgbClr>
          </a:solidFill>
          <a:ln w="190500" cap="sq">
            <a:solidFill>
              <a:srgbClr val="FFFFFF"/>
            </a:solidFill>
            <a:miter lim="800000"/>
          </a:ln>
          <a:effectLst>
            <a:outerShdw blurRad="65000" dist="50800" dir="12900000" kx="195000" ky="145000" algn="tl" rotWithShape="0">
              <a:srgbClr val="000000">
                <a:alpha val="30000"/>
              </a:srgbClr>
            </a:outerShdw>
          </a:effectLst>
          <a:scene3d>
            <a:camera prst="orthographicFront">
              <a:rot lat="0" lon="0" rev="360000"/>
            </a:camera>
            <a:lightRig rig="twoPt" dir="t">
              <a:rot lat="0" lon="0" rev="7200000"/>
            </a:lightRig>
          </a:scene3d>
          <a:sp3d contourW="12700">
            <a:bevelT w="25400" h="19050"/>
            <a:contourClr>
              <a:srgbClr val="969696"/>
            </a:contourClr>
          </a:sp3d>
        </p:spPr>
      </p:pic>
      <p:pic>
        <p:nvPicPr>
          <p:cNvPr id="3" name="Picture 2">
            <a:extLst>
              <a:ext uri="{FF2B5EF4-FFF2-40B4-BE49-F238E27FC236}">
                <a16:creationId xmlns:a16="http://schemas.microsoft.com/office/drawing/2014/main" id="{9937E829-43C9-4A63-A885-D69DCA04E947}"/>
              </a:ext>
            </a:extLst>
          </p:cNvPr>
          <p:cNvPicPr>
            <a:picLocks noChangeAspect="1"/>
          </p:cNvPicPr>
          <p:nvPr/>
        </p:nvPicPr>
        <p:blipFill>
          <a:blip r:embed="rId4"/>
          <a:stretch>
            <a:fillRect/>
          </a:stretch>
        </p:blipFill>
        <p:spPr>
          <a:xfrm rot="21295906">
            <a:off x="1264142" y="536121"/>
            <a:ext cx="4069586" cy="5785757"/>
          </a:xfrm>
          <a:prstGeom prst="rect">
            <a:avLst/>
          </a:prstGeom>
          <a:ln>
            <a:noFill/>
          </a:ln>
          <a:effectLst>
            <a:outerShdw blurRad="292100" dist="139700" dir="2700000" algn="tl" rotWithShape="0">
              <a:srgbClr val="333333">
                <a:alpha val="65000"/>
              </a:srgbClr>
            </a:outerShdw>
          </a:effectLst>
        </p:spPr>
      </p:pic>
    </p:spTree>
    <p:extLst>
      <p:ext uri="{BB962C8B-B14F-4D97-AF65-F5344CB8AC3E}">
        <p14:creationId xmlns:p14="http://schemas.microsoft.com/office/powerpoint/2010/main" val="95873832"/>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BFC9AB3-31EC-27A9-8206-7C0BE658E8B7}"/>
              </a:ext>
            </a:extLst>
          </p:cNvPr>
          <p:cNvSpPr>
            <a:spLocks noGrp="1"/>
          </p:cNvSpPr>
          <p:nvPr>
            <p:ph type="title"/>
          </p:nvPr>
        </p:nvSpPr>
        <p:spPr>
          <a:xfrm>
            <a:off x="685800" y="457200"/>
            <a:ext cx="10789920" cy="777240"/>
          </a:xfrm>
        </p:spPr>
        <p:txBody>
          <a:bodyPr wrap="square" lIns="0" tIns="0" rIns="0" bIns="0" anchor="t">
            <a:noAutofit/>
          </a:bodyPr>
          <a:lstStyle/>
          <a:p>
            <a:pPr marL="0" indent="0" algn="l">
              <a:lnSpc>
                <a:spcPct val="95000"/>
              </a:lnSpc>
              <a:spcBef>
                <a:spcPts val="0"/>
              </a:spcBef>
              <a:buNone/>
            </a:pPr>
            <a:r>
              <a:rPr lang="en-AU" sz="3600" b="0">
                <a:solidFill>
                  <a:srgbClr val="584099"/>
                </a:solidFill>
                <a:latin typeface="Arial Black"/>
                <a:ea typeface="Arial Black"/>
                <a:cs typeface="Arial Black"/>
              </a:rPr>
              <a:t>NCCD Meetings Tool Kit</a:t>
            </a:r>
          </a:p>
        </p:txBody>
      </p:sp>
      <p:pic>
        <p:nvPicPr>
          <p:cNvPr id="4" name="Content Placeholder 3">
            <a:extLst>
              <a:ext uri="{FF2B5EF4-FFF2-40B4-BE49-F238E27FC236}">
                <a16:creationId xmlns:a16="http://schemas.microsoft.com/office/drawing/2014/main" id="{A5C575AF-C7D4-085E-94F7-3A72A52D6DAC}"/>
              </a:ext>
            </a:extLst>
          </p:cNvPr>
          <p:cNvPicPr>
            <a:picLocks noGrp="1" noChangeAspect="1"/>
          </p:cNvPicPr>
          <p:nvPr>
            <p:ph idx="1"/>
          </p:nvPr>
        </p:nvPicPr>
        <p:blipFill>
          <a:blip r:embed="rId3"/>
          <a:stretch>
            <a:fillRect/>
          </a:stretch>
        </p:blipFill>
        <p:spPr>
          <a:xfrm>
            <a:off x="5486400" y="1463040"/>
            <a:ext cx="6019495" cy="3017520"/>
          </a:xfrm>
          <a:prstGeom prst="rect">
            <a:avLst/>
          </a:prstGeom>
          <a:ln w="12700">
            <a:solidFill>
              <a:schemeClr val="tx1"/>
            </a:solidFill>
          </a:ln>
        </p:spPr>
      </p:pic>
      <p:pic>
        <p:nvPicPr>
          <p:cNvPr id="5" name="Picture 4">
            <a:extLst>
              <a:ext uri="{FF2B5EF4-FFF2-40B4-BE49-F238E27FC236}">
                <a16:creationId xmlns:a16="http://schemas.microsoft.com/office/drawing/2014/main" id="{C27A36B8-FF2A-0D74-971A-0E4E85BADCA9}"/>
              </a:ext>
            </a:extLst>
          </p:cNvPr>
          <p:cNvPicPr>
            <a:picLocks noChangeAspect="1"/>
          </p:cNvPicPr>
          <p:nvPr/>
        </p:nvPicPr>
        <p:blipFill>
          <a:blip r:embed="rId4"/>
          <a:stretch>
            <a:fillRect/>
          </a:stretch>
        </p:blipFill>
        <p:spPr>
          <a:xfrm>
            <a:off x="6675120" y="3566160"/>
            <a:ext cx="4830775" cy="2240280"/>
          </a:xfrm>
          <a:prstGeom prst="rect">
            <a:avLst/>
          </a:prstGeom>
          <a:ln w="12700" cap="sq">
            <a:solidFill>
              <a:srgbClr val="000000"/>
            </a:solidFill>
            <a:miter lim="800000"/>
          </a:ln>
          <a:effectLst>
            <a:outerShdw blurRad="57150" dist="50800" dir="2700000" algn="tl" rotWithShape="0">
              <a:srgbClr val="000000">
                <a:alpha val="40000"/>
              </a:srgbClr>
            </a:outerShdw>
          </a:effectLst>
        </p:spPr>
      </p:pic>
      <p:sp>
        <p:nvSpPr>
          <p:cNvPr id="6" name="Rounded Rectangle 5"/>
          <p:cNvSpPr/>
          <p:nvPr/>
        </p:nvSpPr>
        <p:spPr>
          <a:xfrm>
            <a:off x="685800" y="1463040"/>
            <a:ext cx="4480560" cy="4480560"/>
          </a:xfrm>
          <a:prstGeom prst="roundRect">
            <a:avLst>
              <a:gd name="adj" fmla="val 7000"/>
            </a:avLst>
          </a:prstGeom>
          <a:solidFill>
            <a:srgbClr val="F3F0FA"/>
          </a:solidFill>
          <a:ln>
            <a:noFill/>
          </a:ln>
        </p:spPr>
        <p:txBody>
          <a:bodyPr rtlCol="0" anchor="ctr"/>
          <a:lstStyle/>
          <a:p>
            <a:pPr algn="ctr"/>
            <a:endParaRPr/>
          </a:p>
        </p:txBody>
      </p:sp>
      <p:sp>
        <p:nvSpPr>
          <p:cNvPr id="7" name="TextBox 6"/>
          <p:cNvSpPr txBox="1"/>
          <p:nvPr/>
        </p:nvSpPr>
        <p:spPr>
          <a:xfrm>
            <a:off x="1005840" y="1463040"/>
            <a:ext cx="3840480" cy="4480560"/>
          </a:xfrm>
          <a:prstGeom prst="rect">
            <a:avLst/>
          </a:prstGeom>
          <a:noFill/>
        </p:spPr>
        <p:txBody>
          <a:bodyPr wrap="square" lIns="0" tIns="0" rIns="0" bIns="0" anchor="ctr">
            <a:noAutofit/>
          </a:bodyPr>
          <a:lstStyle/>
          <a:p>
            <a:pPr marL="0" indent="0" algn="l">
              <a:lnSpc>
                <a:spcPct val="110000"/>
              </a:lnSpc>
              <a:spcBef>
                <a:spcPts val="0"/>
              </a:spcBef>
              <a:buNone/>
            </a:pPr>
            <a:r>
              <a:rPr lang="en-AU" sz="1800" b="0">
                <a:solidFill>
                  <a:srgbClr val="3D2A6B"/>
                </a:solidFill>
                <a:latin typeface="Arial"/>
                <a:ea typeface="Arial"/>
                <a:cs typeface="Arial"/>
              </a:rPr>
              <a:t>Use the Tool Kit to make the meeting purpose, consultation process, possible adjustments, evidence and next steps clear. Follow the processes used in your school or system, and explain responsibilities and follow-up.</a:t>
            </a:r>
          </a:p>
        </p:txBody>
      </p:sp>
    </p:spTree>
    <p:extLst>
      <p:ext uri="{BB962C8B-B14F-4D97-AF65-F5344CB8AC3E}">
        <p14:creationId xmlns:p14="http://schemas.microsoft.com/office/powerpoint/2010/main" val="3674033657"/>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32AB5F87-071D-404A-980A-F2281B7B03AC}"/>
              </a:ext>
            </a:extLst>
          </p:cNvPr>
          <p:cNvPicPr>
            <a:picLocks noChangeAspect="1"/>
          </p:cNvPicPr>
          <p:nvPr/>
        </p:nvPicPr>
        <p:blipFill>
          <a:blip r:embed="rId4"/>
          <a:stretch>
            <a:fillRect/>
          </a:stretch>
        </p:blipFill>
        <p:spPr>
          <a:xfrm>
            <a:off x="3236087" y="1021709"/>
            <a:ext cx="7316089" cy="3384721"/>
          </a:xfrm>
          <a:prstGeom prst="rect">
            <a:avLst/>
          </a:prstGeom>
        </p:spPr>
      </p:pic>
      <p:sp>
        <p:nvSpPr>
          <p:cNvPr id="9" name="TextBox 1"/>
          <p:cNvSpPr txBox="1">
            <a:spLocks noChangeArrowheads="1"/>
          </p:cNvSpPr>
          <p:nvPr/>
        </p:nvSpPr>
        <p:spPr bwMode="auto">
          <a:xfrm>
            <a:off x="685800" y="457200"/>
            <a:ext cx="3108960" cy="1828800"/>
          </a:xfrm>
          <a:prstGeom prst="rect">
            <a:avLst/>
          </a:prstGeom>
        </p:spPr>
        <p:txBody>
          <a:bodyPr wrap="square" lIns="0" tIns="0" rIns="0" bIns="0" anchor="t">
            <a:noAutofit/>
          </a:bodyPr>
          <a:lstStyle>
            <a:defPPr>
              <a:defRPr lang="en-US"/>
            </a:defPPr>
            <a:lvl1pPr>
              <a:defRPr sz="4400" b="1">
                <a:solidFill>
                  <a:srgbClr val="BBD64A"/>
                </a:solidFill>
                <a:latin typeface="Arial Black" panose="020B0A04020102020204" pitchFamily="34" charset="0"/>
              </a:defRPr>
            </a:lvl1pPr>
          </a:lstStyle>
          <a:p>
            <a:pPr marL="0" indent="0" algn="l">
              <a:lnSpc>
                <a:spcPct val="95000"/>
              </a:lnSpc>
              <a:spcBef>
                <a:spcPts val="0"/>
              </a:spcBef>
              <a:buNone/>
            </a:pPr>
            <a:r>
              <a:rPr lang="en-AU" sz="3200" b="0">
                <a:solidFill>
                  <a:srgbClr val="584099"/>
                </a:solidFill>
                <a:latin typeface="Arial Black"/>
                <a:ea typeface="Arial Black"/>
                <a:cs typeface="Arial Black"/>
              </a:rPr>
              <a:t>Other practical supports</a:t>
            </a:r>
          </a:p>
        </p:txBody>
      </p:sp>
      <p:pic>
        <p:nvPicPr>
          <p:cNvPr id="3" name="Picture 2">
            <a:extLst>
              <a:ext uri="{FF2B5EF4-FFF2-40B4-BE49-F238E27FC236}">
                <a16:creationId xmlns:a16="http://schemas.microsoft.com/office/drawing/2014/main" id="{3DB99A03-8A97-4FE0-A7C3-EE23BB83DC5F}"/>
              </a:ext>
            </a:extLst>
          </p:cNvPr>
          <p:cNvPicPr>
            <a:picLocks noChangeAspect="1"/>
          </p:cNvPicPr>
          <p:nvPr/>
        </p:nvPicPr>
        <p:blipFill>
          <a:blip r:embed="rId5"/>
          <a:stretch>
            <a:fillRect/>
          </a:stretch>
        </p:blipFill>
        <p:spPr>
          <a:xfrm>
            <a:off x="5378125" y="5026533"/>
            <a:ext cx="2686050" cy="1123950"/>
          </a:xfrm>
          <a:prstGeom prst="rect">
            <a:avLst/>
          </a:prstGeom>
        </p:spPr>
      </p:pic>
      <p:pic>
        <p:nvPicPr>
          <p:cNvPr id="4" name="Picture 3">
            <a:extLst>
              <a:ext uri="{FF2B5EF4-FFF2-40B4-BE49-F238E27FC236}">
                <a16:creationId xmlns:a16="http://schemas.microsoft.com/office/drawing/2014/main" id="{FAC9DECC-D55E-40AE-B8AC-04D7790C5A76}"/>
              </a:ext>
            </a:extLst>
          </p:cNvPr>
          <p:cNvPicPr>
            <a:picLocks noChangeAspect="1"/>
          </p:cNvPicPr>
          <p:nvPr/>
        </p:nvPicPr>
        <p:blipFill>
          <a:blip r:embed="rId6"/>
          <a:stretch>
            <a:fillRect/>
          </a:stretch>
        </p:blipFill>
        <p:spPr>
          <a:xfrm>
            <a:off x="7989775" y="4989207"/>
            <a:ext cx="3726997" cy="1437208"/>
          </a:xfrm>
          <a:prstGeom prst="rect">
            <a:avLst/>
          </a:prstGeom>
        </p:spPr>
      </p:pic>
      <p:pic>
        <p:nvPicPr>
          <p:cNvPr id="7" name="Picture 6">
            <a:extLst>
              <a:ext uri="{FF2B5EF4-FFF2-40B4-BE49-F238E27FC236}">
                <a16:creationId xmlns:a16="http://schemas.microsoft.com/office/drawing/2014/main" id="{7C84697F-26B5-4810-B0E5-ED47D75ABCCD}"/>
              </a:ext>
            </a:extLst>
          </p:cNvPr>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a:off x="1414587" y="4914304"/>
            <a:ext cx="3378775" cy="911310"/>
          </a:xfrm>
          <a:prstGeom prst="rect">
            <a:avLst/>
          </a:prstGeom>
        </p:spPr>
      </p:pic>
      <p:pic>
        <p:nvPicPr>
          <p:cNvPr id="11" name="Picture 10">
            <a:extLst>
              <a:ext uri="{FF2B5EF4-FFF2-40B4-BE49-F238E27FC236}">
                <a16:creationId xmlns:a16="http://schemas.microsoft.com/office/drawing/2014/main" id="{8203F3AC-DC1E-46D5-8169-88AF76468301}"/>
              </a:ext>
            </a:extLst>
          </p:cNvPr>
          <p:cNvPicPr>
            <a:picLocks noChangeAspect="1"/>
          </p:cNvPicPr>
          <p:nvPr/>
        </p:nvPicPr>
        <p:blipFill>
          <a:blip r:embed="rId8"/>
          <a:stretch>
            <a:fillRect/>
          </a:stretch>
        </p:blipFill>
        <p:spPr>
          <a:xfrm>
            <a:off x="1579975" y="5752462"/>
            <a:ext cx="3048000" cy="581025"/>
          </a:xfrm>
          <a:prstGeom prst="rect">
            <a:avLst/>
          </a:prstGeom>
        </p:spPr>
      </p:pic>
    </p:spTree>
    <p:custDataLst>
      <p:tags r:id="rId1"/>
    </p:custDataLst>
    <p:extLst>
      <p:ext uri="{BB962C8B-B14F-4D97-AF65-F5344CB8AC3E}">
        <p14:creationId xmlns:p14="http://schemas.microsoft.com/office/powerpoint/2010/main" val="302451350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Oval 2"/>
          <p:cNvSpPr/>
          <p:nvPr/>
        </p:nvSpPr>
        <p:spPr>
          <a:xfrm>
            <a:off x="8549640" y="3840480"/>
            <a:ext cx="4873752" cy="4873752"/>
          </a:xfrm>
          <a:prstGeom prst="ellipse">
            <a:avLst/>
          </a:prstGeom>
          <a:solidFill>
            <a:srgbClr val="EDE8F8"/>
          </a:solidFill>
          <a:ln>
            <a:noFill/>
          </a:ln>
        </p:spPr>
        <p:txBody>
          <a:bodyPr rtlCol="0" anchor="ctr"/>
          <a:lstStyle/>
          <a:p>
            <a:pPr algn="ctr"/>
            <a:endParaRPr/>
          </a:p>
        </p:txBody>
      </p:sp>
      <p:sp>
        <p:nvSpPr>
          <p:cNvPr id="2" name="Title"/>
          <p:cNvSpPr txBox="1"/>
          <p:nvPr/>
        </p:nvSpPr>
        <p:spPr>
          <a:xfrm>
            <a:off x="685800" y="457200"/>
            <a:ext cx="10789920" cy="777240"/>
          </a:xfrm>
          <a:prstGeom prst="rect">
            <a:avLst/>
          </a:prstGeom>
          <a:noFill/>
        </p:spPr>
        <p:txBody>
          <a:bodyPr wrap="square" lIns="0" tIns="0" rIns="0" bIns="0" anchor="t">
            <a:noAutofit/>
          </a:bodyPr>
          <a:lstStyle/>
          <a:p>
            <a:pPr marL="0" indent="0" algn="l">
              <a:lnSpc>
                <a:spcPct val="95000"/>
              </a:lnSpc>
              <a:spcBef>
                <a:spcPts val="0"/>
              </a:spcBef>
              <a:buNone/>
            </a:pPr>
            <a:r>
              <a:rPr lang="en-AU" sz="3600" b="0">
                <a:solidFill>
                  <a:srgbClr val="584099"/>
                </a:solidFill>
                <a:latin typeface="Arial Black"/>
                <a:ea typeface="Arial Black"/>
                <a:cs typeface="Arial Black"/>
              </a:rPr>
              <a:t>Bridge to the next family conversation</a:t>
            </a:r>
          </a:p>
        </p:txBody>
      </p:sp>
      <p:sp>
        <p:nvSpPr>
          <p:cNvPr id="4" name="Rounded Rectangle 3"/>
          <p:cNvSpPr/>
          <p:nvPr/>
        </p:nvSpPr>
        <p:spPr>
          <a:xfrm>
            <a:off x="685800" y="1554480"/>
            <a:ext cx="9509760" cy="3840480"/>
          </a:xfrm>
          <a:prstGeom prst="roundRect">
            <a:avLst>
              <a:gd name="adj" fmla="val 7000"/>
            </a:avLst>
          </a:prstGeom>
          <a:solidFill>
            <a:srgbClr val="F3F0FA"/>
          </a:solidFill>
          <a:ln>
            <a:noFill/>
          </a:ln>
        </p:spPr>
        <p:txBody>
          <a:bodyPr rtlCol="0" anchor="ctr"/>
          <a:lstStyle/>
          <a:p>
            <a:pPr algn="ctr"/>
            <a:endParaRPr/>
          </a:p>
        </p:txBody>
      </p:sp>
      <p:pic>
        <p:nvPicPr>
          <p:cNvPr id="5" name="Discussion icon" descr="Speech bubbles"/>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143000" y="1965960"/>
            <a:ext cx="658368" cy="658368"/>
          </a:xfrm>
          <a:prstGeom prst="rect">
            <a:avLst/>
          </a:prstGeom>
        </p:spPr>
      </p:pic>
      <p:sp>
        <p:nvSpPr>
          <p:cNvPr id="6" name="TextBox 5"/>
          <p:cNvSpPr txBox="1"/>
          <p:nvPr/>
        </p:nvSpPr>
        <p:spPr>
          <a:xfrm>
            <a:off x="2194560" y="1828800"/>
            <a:ext cx="7680960" cy="3383280"/>
          </a:xfrm>
          <a:prstGeom prst="rect">
            <a:avLst/>
          </a:prstGeom>
          <a:noFill/>
        </p:spPr>
        <p:txBody>
          <a:bodyPr wrap="square" lIns="0" tIns="0" rIns="0" bIns="0" anchor="ctr">
            <a:noAutofit/>
          </a:bodyPr>
          <a:lstStyle/>
          <a:p>
            <a:pPr marL="0" indent="0" algn="l">
              <a:lnSpc>
                <a:spcPct val="100000"/>
              </a:lnSpc>
              <a:spcBef>
                <a:spcPts val="0"/>
              </a:spcBef>
              <a:buNone/>
            </a:pPr>
            <a:r>
              <a:rPr lang="en-AU" sz="2400" b="1">
                <a:solidFill>
                  <a:srgbClr val="3D2A6B"/>
                </a:solidFill>
                <a:latin typeface="Arial"/>
                <a:ea typeface="Arial"/>
                <a:cs typeface="Arial"/>
              </a:rPr>
              <a:t>Prepare for one purposeful conversation.</a:t>
            </a:r>
          </a:p>
          <a:p>
            <a:pPr marL="347472" indent="-347472" algn="l">
              <a:lnSpc>
                <a:spcPct val="100000"/>
              </a:lnSpc>
              <a:spcBef>
                <a:spcPts val="1400"/>
              </a:spcBef>
              <a:buClr>
                <a:srgbClr val="584099"/>
              </a:buClr>
              <a:buFont typeface="Arial"/>
              <a:buChar char="•"/>
            </a:pPr>
            <a:r>
              <a:rPr lang="en-AU" sz="2000" b="0">
                <a:solidFill>
                  <a:srgbClr val="3D2A6B"/>
                </a:solidFill>
                <a:latin typeface="Arial"/>
                <a:ea typeface="Arial"/>
                <a:cs typeface="Arial"/>
              </a:rPr>
              <a:t>What needs to be understood?</a:t>
            </a:r>
          </a:p>
          <a:p>
            <a:pPr marL="347472" indent="-347472" algn="l">
              <a:lnSpc>
                <a:spcPct val="100000"/>
              </a:lnSpc>
              <a:spcBef>
                <a:spcPts val="1000"/>
              </a:spcBef>
              <a:buClr>
                <a:srgbClr val="584099"/>
              </a:buClr>
              <a:buFont typeface="Arial"/>
              <a:buChar char="•"/>
            </a:pPr>
            <a:r>
              <a:rPr lang="en-AU" sz="2000" b="0">
                <a:solidFill>
                  <a:srgbClr val="3D2A6B"/>
                </a:solidFill>
                <a:latin typeface="Arial"/>
                <a:ea typeface="Arial"/>
                <a:cs typeface="Arial"/>
              </a:rPr>
              <a:t>What question will open the conversation?</a:t>
            </a:r>
          </a:p>
          <a:p>
            <a:pPr marL="347472" indent="-347472" algn="l">
              <a:lnSpc>
                <a:spcPct val="100000"/>
              </a:lnSpc>
              <a:spcBef>
                <a:spcPts val="1000"/>
              </a:spcBef>
              <a:buClr>
                <a:srgbClr val="584099"/>
              </a:buClr>
              <a:buFont typeface="Arial"/>
              <a:buChar char="•"/>
            </a:pPr>
            <a:r>
              <a:rPr lang="en-AU" sz="2000" b="0">
                <a:solidFill>
                  <a:srgbClr val="3D2A6B"/>
                </a:solidFill>
                <a:latin typeface="Arial"/>
                <a:ea typeface="Arial"/>
                <a:cs typeface="Arial"/>
              </a:rPr>
              <a:t>How will the student's voice be included?</a:t>
            </a:r>
          </a:p>
          <a:p>
            <a:pPr marL="347472" indent="-347472" algn="l">
              <a:lnSpc>
                <a:spcPct val="100000"/>
              </a:lnSpc>
              <a:spcBef>
                <a:spcPts val="1000"/>
              </a:spcBef>
              <a:buClr>
                <a:srgbClr val="584099"/>
              </a:buClr>
              <a:buFont typeface="Arial"/>
              <a:buChar char="•"/>
            </a:pPr>
            <a:r>
              <a:rPr lang="en-AU" sz="2000" b="0">
                <a:solidFill>
                  <a:srgbClr val="3D2A6B"/>
                </a:solidFill>
                <a:latin typeface="Arial"/>
                <a:ea typeface="Arial"/>
                <a:cs typeface="Arial"/>
              </a:rPr>
              <a:t>What can be decided together?</a:t>
            </a:r>
          </a:p>
          <a:p>
            <a:pPr marL="347472" indent="-347472" algn="l">
              <a:lnSpc>
                <a:spcPct val="100000"/>
              </a:lnSpc>
              <a:spcBef>
                <a:spcPts val="1000"/>
              </a:spcBef>
              <a:buClr>
                <a:srgbClr val="584099"/>
              </a:buClr>
              <a:buFont typeface="Arial"/>
              <a:buChar char="•"/>
            </a:pPr>
            <a:r>
              <a:rPr lang="en-AU" sz="2000" b="0">
                <a:solidFill>
                  <a:srgbClr val="3D2A6B"/>
                </a:solidFill>
                <a:latin typeface="Arial"/>
                <a:ea typeface="Arial"/>
                <a:cs typeface="Arial"/>
              </a:rPr>
              <a:t>How and when will the school follow up?</a:t>
            </a:r>
          </a:p>
        </p:txBody>
      </p:sp>
      <p:sp>
        <p:nvSpPr>
          <p:cNvPr id="7" name="Rounded Rectangle 6"/>
          <p:cNvSpPr/>
          <p:nvPr/>
        </p:nvSpPr>
        <p:spPr>
          <a:xfrm>
            <a:off x="685800" y="5623560"/>
            <a:ext cx="9509760" cy="566928"/>
          </a:xfrm>
          <a:prstGeom prst="roundRect">
            <a:avLst>
              <a:gd name="adj" fmla="val 50000"/>
            </a:avLst>
          </a:prstGeom>
          <a:solidFill>
            <a:srgbClr val="FFFFFF"/>
          </a:solidFill>
          <a:ln w="19050">
            <a:solidFill>
              <a:srgbClr val="584099"/>
            </a:solidFill>
          </a:ln>
        </p:spPr>
        <p:txBody>
          <a:bodyPr rtlCol="0" anchor="ctr"/>
          <a:lstStyle/>
          <a:p>
            <a:pPr algn="ctr"/>
            <a:endParaRPr/>
          </a:p>
        </p:txBody>
      </p:sp>
      <p:sp>
        <p:nvSpPr>
          <p:cNvPr id="8" name="TextBox 7"/>
          <p:cNvSpPr txBox="1"/>
          <p:nvPr/>
        </p:nvSpPr>
        <p:spPr>
          <a:xfrm>
            <a:off x="960120" y="5623560"/>
            <a:ext cx="8961120" cy="566928"/>
          </a:xfrm>
          <a:prstGeom prst="rect">
            <a:avLst/>
          </a:prstGeom>
          <a:noFill/>
        </p:spPr>
        <p:txBody>
          <a:bodyPr wrap="square" lIns="0" tIns="0" rIns="0" bIns="0" anchor="ctr">
            <a:noAutofit/>
          </a:bodyPr>
          <a:lstStyle/>
          <a:p>
            <a:pPr marL="0" indent="0" algn="ctr">
              <a:lnSpc>
                <a:spcPct val="100000"/>
              </a:lnSpc>
              <a:spcBef>
                <a:spcPts val="0"/>
              </a:spcBef>
              <a:buNone/>
            </a:pPr>
            <a:r>
              <a:rPr lang="en-AU" sz="1700" b="1">
                <a:solidFill>
                  <a:srgbClr val="584099"/>
                </a:solidFill>
                <a:latin typeface="Arial"/>
                <a:ea typeface="Arial"/>
                <a:cs typeface="Arial"/>
              </a:rPr>
              <a:t>Keep these notes for your conversation plan in Session 6.</a:t>
            </a:r>
          </a:p>
        </p:txBody>
      </p:sp>
    </p:spTree>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2.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3.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4.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C75DF672D9920B44888613C845FEE28C" ma:contentTypeVersion="13" ma:contentTypeDescription="Create a new document." ma:contentTypeScope="" ma:versionID="f74e0793e4bbea6511fcde495954d792">
  <xsd:schema xmlns:xsd="http://www.w3.org/2001/XMLSchema" xmlns:xs="http://www.w3.org/2001/XMLSchema" xmlns:p="http://schemas.microsoft.com/office/2006/metadata/properties" xmlns:ns2="f0bb3e21-4545-485a-b693-7e527aa5b0a1" xmlns:ns3="27f1137f-2ca6-4fef-8072-b9e4ddf9f88d" targetNamespace="http://schemas.microsoft.com/office/2006/metadata/properties" ma:root="true" ma:fieldsID="83fb0c578da1c893ab66577103c670f4" ns2:_="" ns3:_="">
    <xsd:import namespace="f0bb3e21-4545-485a-b693-7e527aa5b0a1"/>
    <xsd:import namespace="27f1137f-2ca6-4fef-8072-b9e4ddf9f88d"/>
    <xsd:element name="properties">
      <xsd:complexType>
        <xsd:sequence>
          <xsd:element name="documentManagement">
            <xsd:complexType>
              <xsd:all>
                <xsd:element ref="ns2:MediaServiceMetadata" minOccurs="0"/>
                <xsd:element ref="ns2:MediaServiceFastMetadata" minOccurs="0"/>
                <xsd:element ref="ns2:MediaServiceSearchProperties" minOccurs="0"/>
                <xsd:element ref="ns2:MediaServiceDateTaken" minOccurs="0"/>
                <xsd:element ref="ns2:MediaServiceGenerationTime" minOccurs="0"/>
                <xsd:element ref="ns2:MediaServiceEventHashCode" minOccurs="0"/>
                <xsd:element ref="ns2:lcf76f155ced4ddcb4097134ff3c332f" minOccurs="0"/>
                <xsd:element ref="ns3:TaxCatchAll" minOccurs="0"/>
                <xsd:element ref="ns2:MediaServiceOCR" minOccurs="0"/>
                <xsd:element ref="ns2:MediaLengthInSeconds" minOccurs="0"/>
                <xsd:element ref="ns2:MediaServiceBillingMetadata" minOccurs="0"/>
                <xsd:element ref="ns2:MediaServiceLocation"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f0bb3e21-4545-485a-b693-7e527aa5b0a1"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SearchProperties" ma:index="10" nillable="true" ma:displayName="MediaServiceSearchProperties" ma:hidden="true" ma:internalName="MediaServiceSearchProperties" ma:readOnly="true">
      <xsd:simpleType>
        <xsd:restriction base="dms:Note"/>
      </xsd:simpleType>
    </xsd:element>
    <xsd:element name="MediaServiceDateTaken" ma:index="11" nillable="true" ma:displayName="MediaServiceDateTaken" ma:hidden="true" ma:indexed="true" ma:internalName="MediaServiceDateTaken" ma:readOnly="true">
      <xsd:simpleType>
        <xsd:restriction base="dms:Text"/>
      </xsd:simpleType>
    </xsd:element>
    <xsd:element name="MediaServiceGenerationTime" ma:index="12" nillable="true" ma:displayName="MediaServiceGenerationTime" ma:hidden="true" ma:internalName="MediaServiceGenerationTime" ma:readOnly="true">
      <xsd:simpleType>
        <xsd:restriction base="dms:Text"/>
      </xsd:simpleType>
    </xsd:element>
    <xsd:element name="MediaServiceEventHashCode" ma:index="13" nillable="true" ma:displayName="MediaServiceEventHashCode" ma:hidden="true" ma:internalName="MediaServiceEventHashCode" ma:readOnly="true">
      <xsd:simpleType>
        <xsd:restriction base="dms:Text"/>
      </xsd:simpleType>
    </xsd:element>
    <xsd:element name="lcf76f155ced4ddcb4097134ff3c332f" ma:index="15" nillable="true" ma:taxonomy="true" ma:internalName="lcf76f155ced4ddcb4097134ff3c332f" ma:taxonomyFieldName="MediaServiceImageTags" ma:displayName="Image Tags" ma:readOnly="false" ma:fieldId="{5cf76f15-5ced-4ddc-b409-7134ff3c332f}" ma:taxonomyMulti="true" ma:sspId="0234d0ea-ced3-483a-ade0-71e1f4ad4276" ma:termSetId="09814cd3-568e-fe90-9814-8d621ff8fb84" ma:anchorId="fba54fb3-c3e1-fe81-a776-ca4b69148c4d" ma:open="true" ma:isKeyword="false">
      <xsd:complexType>
        <xsd:sequence>
          <xsd:element ref="pc:Terms" minOccurs="0" maxOccurs="1"/>
        </xsd:sequence>
      </xsd:complexType>
    </xsd:element>
    <xsd:element name="MediaServiceOCR" ma:index="17" nillable="true" ma:displayName="Extracted Text" ma:internalName="MediaServiceOCR" ma:readOnly="true">
      <xsd:simpleType>
        <xsd:restriction base="dms:Note">
          <xsd:maxLength value="255"/>
        </xsd:restriction>
      </xsd:simpleType>
    </xsd:element>
    <xsd:element name="MediaLengthInSeconds" ma:index="18" nillable="true" ma:displayName="MediaLengthInSeconds" ma:hidden="true" ma:internalName="MediaLengthInSeconds" ma:readOnly="true">
      <xsd:simpleType>
        <xsd:restriction base="dms:Unknown"/>
      </xsd:simpleType>
    </xsd:element>
    <xsd:element name="MediaServiceBillingMetadata" ma:index="19" nillable="true" ma:displayName="MediaServiceBillingMetadata" ma:hidden="true" ma:internalName="MediaServiceBillingMetadata" ma:readOnly="true">
      <xsd:simpleType>
        <xsd:restriction base="dms:Note"/>
      </xsd:simpleType>
    </xsd:element>
    <xsd:element name="MediaServiceLocation" ma:index="20" nillable="true" ma:displayName="Location" ma:indexed="true" ma:internalName="MediaServiceLocation" ma:readOnly="tru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27f1137f-2ca6-4fef-8072-b9e4ddf9f88d" elementFormDefault="qualified">
    <xsd:import namespace="http://schemas.microsoft.com/office/2006/documentManagement/types"/>
    <xsd:import namespace="http://schemas.microsoft.com/office/infopath/2007/PartnerControls"/>
    <xsd:element name="TaxCatchAll" ma:index="16" nillable="true" ma:displayName="Taxonomy Catch All Column" ma:hidden="true" ma:list="{25baa329-1694-49a7-99b3-a1d2375b9e3c}" ma:internalName="TaxCatchAll" ma:showField="CatchAllData" ma:web="27f1137f-2ca6-4fef-8072-b9e4ddf9f88d">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lcf76f155ced4ddcb4097134ff3c332f xmlns="f0bb3e21-4545-485a-b693-7e527aa5b0a1">
      <Terms xmlns="http://schemas.microsoft.com/office/infopath/2007/PartnerControls"/>
    </lcf76f155ced4ddcb4097134ff3c332f>
    <TaxCatchAll xmlns="27f1137f-2ca6-4fef-8072-b9e4ddf9f88d" xsi:nil="true"/>
  </documentManagement>
</p:properties>
</file>

<file path=customXml/itemProps1.xml><?xml version="1.0" encoding="utf-8"?>
<ds:datastoreItem xmlns:ds="http://schemas.openxmlformats.org/officeDocument/2006/customXml" ds:itemID="{8F38CC49-5BCA-4AE9-8473-8E73B8C1E934}">
  <ds:schemaRefs>
    <ds:schemaRef ds:uri="27f1137f-2ca6-4fef-8072-b9e4ddf9f88d"/>
    <ds:schemaRef ds:uri="f0bb3e21-4545-485a-b693-7e527aa5b0a1"/>
    <ds:schemaRef ds:uri="http://purl.org/dc/elements/1.1/"/>
    <ds:schemaRef ds:uri="http://purl.org/dc/terms/"/>
    <ds:schemaRef ds:uri="http://schemas.microsoft.com/internal/obd"/>
    <ds:schemaRef ds:uri="http://schemas.microsoft.com/office/2006/documentManagement/types"/>
    <ds:schemaRef ds:uri="http://schemas.microsoft.com/office/2006/metadata/contentType"/>
    <ds:schemaRef ds:uri="http://schemas.microsoft.com/office/2006/metadata/properties"/>
    <ds:schemaRef ds:uri="http://schemas.microsoft.com/office/2006/metadata/properties/metaAttributes"/>
    <ds:schemaRef ds:uri="http://schemas.microsoft.com/office/infopath/2007/PartnerControls"/>
    <ds:schemaRef ds:uri="http://schemas.openxmlformats.org/package/2006/metadata/core-properties"/>
    <ds:schemaRef ds:uri="http://www.w3.org/2001/XMLSchema"/>
  </ds:schemaRefs>
</ds:datastoreItem>
</file>

<file path=customXml/itemProps2.xml><?xml version="1.0" encoding="utf-8"?>
<ds:datastoreItem xmlns:ds="http://schemas.openxmlformats.org/officeDocument/2006/customXml" ds:itemID="{8B494170-94B9-4839-8B23-312C5CAD4F7F}">
  <ds:schemaRefs>
    <ds:schemaRef ds:uri="http://schemas.microsoft.com/sharepoint/v3/contenttype/forms"/>
  </ds:schemaRefs>
</ds:datastoreItem>
</file>

<file path=customXml/itemProps3.xml><?xml version="1.0" encoding="utf-8"?>
<ds:datastoreItem xmlns:ds="http://schemas.openxmlformats.org/officeDocument/2006/customXml" ds:itemID="{E21C6D3C-3208-4C9A-BB97-4BF1FDBC9CA8}">
  <ds:schemaRefs>
    <ds:schemaRef ds:uri="27f1137f-2ca6-4fef-8072-b9e4ddf9f88d"/>
    <ds:schemaRef ds:uri="f0bb3e21-4545-485a-b693-7e527aa5b0a1"/>
    <ds:schemaRef ds:uri="http://schemas.microsoft.com/office/2006/metadata/properties"/>
    <ds:schemaRef ds:uri="http://schemas.microsoft.com/office/infopath/2007/PartnerControls"/>
  </ds:schemaRefs>
</ds:datastoreItem>
</file>

<file path=docProps/app.xml><?xml version="1.0" encoding="utf-8"?>
<Properties xmlns="http://schemas.openxmlformats.org/officeDocument/2006/extended-properties" xmlns:vt="http://schemas.openxmlformats.org/officeDocument/2006/docPropsVTypes">
  <TotalTime>2</TotalTime>
  <Words>4948</Words>
  <Application>Microsoft Macintosh PowerPoint</Application>
  <PresentationFormat>Widescreen</PresentationFormat>
  <Paragraphs>526</Paragraphs>
  <Slides>17</Slides>
  <Notes>17</Notes>
  <HiddenSlides>0</HiddenSlides>
  <MMClips>1</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17</vt:i4>
      </vt:variant>
    </vt:vector>
  </HeadingPairs>
  <TitlesOfParts>
    <vt:vector size="23" baseType="lpstr">
      <vt:lpstr>Aptos</vt:lpstr>
      <vt:lpstr>Aptos Display</vt:lpstr>
      <vt:lpstr>Arial</vt:lpstr>
      <vt:lpstr>Arial Black</vt:lpstr>
      <vt:lpstr>Calibri</vt:lpstr>
      <vt:lpstr>Office Theme</vt:lpstr>
      <vt:lpstr>PowerPoint Presentation</vt:lpstr>
      <vt:lpstr>Working in partnerships</vt:lpstr>
      <vt:lpstr>PowerPoint Presentation</vt:lpstr>
      <vt:lpstr>What is effective collaboration?</vt:lpstr>
      <vt:lpstr>PowerPoint Presentation</vt:lpstr>
      <vt:lpstr>PowerPoint Presentation</vt:lpstr>
      <vt:lpstr>PowerPoint Presentation</vt:lpstr>
      <vt:lpstr>Partnership activity</vt:lpstr>
      <vt:lpstr>PowerPoint Presentation</vt:lpstr>
      <vt:lpstr>PowerPoint Presentation</vt:lpstr>
      <vt:lpstr>PowerPoint Presentation</vt:lpstr>
      <vt:lpstr>PowerPoint Presentation</vt:lpstr>
      <vt:lpstr>PowerPoint Presentation</vt:lpstr>
      <vt:lpstr>PowerPoint Presentation</vt:lpstr>
      <vt:lpstr>NCCD Meetings Tool Kit</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Jen Cousins</dc:creator>
  <cp:lastModifiedBy>Craig Smith</cp:lastModifiedBy>
  <cp:revision>3</cp:revision>
  <dcterms:created xsi:type="dcterms:W3CDTF">2026-08-24T06:22:15Z</dcterms:created>
  <dcterms:modified xsi:type="dcterms:W3CDTF">2026-09-25T06:44:30Z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0x010100C75DF672D9920B44888613C845FEE28C</vt:lpwstr>
  </property>
  <property fmtid="{D5CDD505-2E9C-101B-9397-08002B2CF9AE}" pid="3" name="MediaServiceImageTags">
    <vt:lpwstr/>
  </property>
</Properties>
</file>