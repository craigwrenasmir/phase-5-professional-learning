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842" r:id="rId5"/>
    <p:sldId id="847" r:id="rId6"/>
    <p:sldId id="831" r:id="rId7"/>
    <p:sldId id="844" r:id="rId8"/>
    <p:sldId id="843" r:id="rId9"/>
    <p:sldId id="845" r:id="rId10"/>
    <p:sldId id="846" r:id="rId11"/>
    <p:sldId id="841" r:id="rId12"/>
    <p:sldId id="623" r:id="rId13"/>
    <p:sldId id="591" r:id="rId14"/>
    <p:sldId id="5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DEC358-9AF5-9F80-E7CA-D932E5596AC8}" name="Alison Macrae" initials="AM" userId="S::amacrae@autismspectrum.org.au::6553da1e-2f05-4f27-a7df-76a06554bf9d" providerId="AD"/>
  <p188:author id="{7C3F8D6F-1DEE-6615-6CEF-2DFCB510BACA}" name="Nicole Torres" initials="NT" userId="S::ntorres@autismcrc.com.au::0026055d-e81a-4ac9-a7f9-7ac97c409d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7" dt="2026-08-25T01:16:54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9" autoAdjust="0"/>
    <p:restoredTop sz="80742" autoAdjust="0"/>
  </p:normalViewPr>
  <p:slideViewPr>
    <p:cSldViewPr snapToGrid="0">
      <p:cViewPr varScale="1">
        <p:scale>
          <a:sx n="99" d="100"/>
          <a:sy n="99" d="100"/>
        </p:scale>
        <p:origin x="1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 Cousins" userId="S::jcousins@autismspectrum.org.au::e5107725-ce0a-4006-bfb3-3787c68d621c" providerId="AD" clId="Web-{00000000-0000-0000-0000-000000000000}"/>
    <pc:docChg chg="modSld">
      <pc:chgData name="Jen Cousins" userId="S::jcousins@autismspectrum.org.au::e5107725-ce0a-4006-bfb3-3787c68d621c" providerId="AD" clId="Web-{00000000-0000-0000-0000-000000000000}" dt="2026-08-25T01:16:54.207" v="24" actId="20577"/>
      <pc:docMkLst>
        <pc:docMk/>
      </pc:docMkLst>
      <pc:sldChg chg="modSp">
        <pc:chgData name="Jen Cousins" userId="S::jcousins@autismspectrum.org.au::e5107725-ce0a-4006-bfb3-3787c68d621c" providerId="AD" clId="Web-{00000000-0000-0000-0000-000000000000}" dt="2026-08-25T01:14:54.796" v="4" actId="20577"/>
        <pc:sldMkLst>
          <pc:docMk/>
          <pc:sldMk cId="2514732756" sldId="831"/>
        </pc:sldMkLst>
        <pc:spChg chg="mod">
          <ac:chgData name="Jen Cousins" userId="S::jcousins@autismspectrum.org.au::e5107725-ce0a-4006-bfb3-3787c68d621c" providerId="AD" clId="Web-{00000000-0000-0000-0000-000000000000}" dt="2026-08-25T01:14:54.796" v="4" actId="20577"/>
          <ac:spMkLst>
            <pc:docMk/>
            <pc:sldMk cId="2514732756" sldId="831"/>
            <ac:spMk id="11" creationId="{77185316-A130-7900-FBCC-46284722BF13}"/>
          </ac:spMkLst>
        </pc:spChg>
      </pc:sldChg>
      <pc:sldChg chg="modSp">
        <pc:chgData name="Jen Cousins" userId="S::jcousins@autismspectrum.org.au::e5107725-ce0a-4006-bfb3-3787c68d621c" providerId="AD" clId="Web-{00000000-0000-0000-0000-000000000000}" dt="2026-08-25T01:16:54.207" v="24" actId="20577"/>
        <pc:sldMkLst>
          <pc:docMk/>
          <pc:sldMk cId="909566524" sldId="845"/>
        </pc:sldMkLst>
        <pc:spChg chg="mod">
          <ac:chgData name="Jen Cousins" userId="S::jcousins@autismspectrum.org.au::e5107725-ce0a-4006-bfb3-3787c68d621c" providerId="AD" clId="Web-{00000000-0000-0000-0000-000000000000}" dt="2026-08-25T01:15:09.484" v="7" actId="20577"/>
          <ac:spMkLst>
            <pc:docMk/>
            <pc:sldMk cId="909566524" sldId="845"/>
            <ac:spMk id="2" creationId="{3AF6DD61-E9ED-68B6-3963-5981E1957F36}"/>
          </ac:spMkLst>
        </pc:spChg>
        <pc:spChg chg="mod">
          <ac:chgData name="Jen Cousins" userId="S::jcousins@autismspectrum.org.au::e5107725-ce0a-4006-bfb3-3787c68d621c" providerId="AD" clId="Web-{00000000-0000-0000-0000-000000000000}" dt="2026-08-25T01:16:54.207" v="24" actId="20577"/>
          <ac:spMkLst>
            <pc:docMk/>
            <pc:sldMk cId="909566524" sldId="845"/>
            <ac:spMk id="3" creationId="{70544750-78E2-6BA7-D6BF-05D88B8B966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14A82-6332-4EE3-858D-A919E5E1B5B0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D845D-D26B-42D1-9889-EA40541429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50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A376-FBCA-E134-00AC-F76F7CBA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2D267-8BD3-BC2F-2281-1FE0BC6E1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679C2-2556-FDBE-AACF-C054420D9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3:15 - 3:16</a:t>
            </a:r>
          </a:p>
          <a:p/>
          <a:p>
            <a:r>
              <a:t>PURPOSE</a:t>
            </a:r>
          </a:p>
          <a:p>
            <a:r>
              <a:t>Bring the day together and prepare for practical action.</a:t>
            </a:r>
          </a:p>
          <a:p/>
          <a:p>
            <a:r>
              <a:t>WHAT TO DO</a:t>
            </a:r>
          </a:p>
          <a:p>
            <a:r>
              <a:t>1. Name the final session as a return to the students and questions participants began with this morning.</a:t>
            </a:r>
          </a:p>
          <a:p>
            <a:r>
              <a:t>2. Explain that participants will plan one action for their next day in school and one conversation with a family or student.</a:t>
            </a:r>
          </a:p>
          <a:p>
            <a:r>
              <a:t>3. Protect enough time for individual planning, resources and feedback.</a:t>
            </a:r>
          </a:p>
          <a:p>
            <a:r>
              <a:t>4. Keep the closing grounded rather than adding new content.</a:t>
            </a:r>
          </a:p>
          <a:p/>
          <a:p>
            <a:r>
              <a:t>KEY MESSAGES</a:t>
            </a:r>
          </a:p>
          <a:p>
            <a:r>
              <a:t>• The day closes by connecting understanding with action.</a:t>
            </a:r>
          </a:p>
          <a:p>
            <a:r>
              <a:t>• One thoughtful next step is more useful than an unmanageable list.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F3C3-F556-9D14-0433-2A3DB64AB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57639E-2754-4616-B3B2-52F975BD693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212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3 min  ·  3:16 - 3:19</a:t>
            </a:r>
          </a:p>
          <a:p/>
          <a:p>
            <a:r>
              <a:t>PURPOSE</a:t>
            </a:r>
          </a:p>
          <a:p>
            <a:r>
              <a:t>Bring together the workshop lens, support design and partnership through belonging, capacity and joy.</a:t>
            </a:r>
          </a:p>
          <a:p/>
          <a:p>
            <a:r>
              <a:t>WHAT TO DO</a:t>
            </a:r>
          </a:p>
          <a:p>
            <a:r>
              <a:t>1. Present belonging, capacity and joy together, as connected ideas.</a:t>
            </a:r>
          </a:p>
          <a:p>
            <a:r>
              <a:t>2. Optionally link the day's three practical strands: a neurodiversity-affirming lens that begins with the person; support that builds independence, shaped by student experience; positive partnership that brings student, family, teacher and support staff knowledge together.</a:t>
            </a:r>
          </a:p>
          <a:p>
            <a:r>
              <a:t>3. Invite participants to notice whether the support they plan to fade, or change, supports belonging or joy as well as reducing a barrier.</a:t>
            </a:r>
          </a:p>
          <a:p>
            <a:r>
              <a:t>4. Point to the last line on the slide: return to these three when judging whether a change supports flourishing.</a:t>
            </a:r>
          </a:p>
          <a:p/>
          <a:p>
            <a:r>
              <a:t>YOU MIGHT SAY</a:t>
            </a:r>
          </a:p>
          <a:p>
            <a:r>
              <a:t>Belonging, capacity and joy run through all three.</a:t>
            </a:r>
          </a:p>
          <a:p/>
          <a:p>
            <a:r>
              <a:t>KEY MESSAGES</a:t>
            </a:r>
          </a:p>
          <a:p>
            <a:r>
              <a:t>• Belonging, capacity and joy belong alongside access and participation.</a:t>
            </a:r>
          </a:p>
          <a:p>
            <a:r>
              <a:t>• Support design and partnership should stay connected to each student's whole day.</a:t>
            </a:r>
          </a:p>
          <a:p/>
          <a:p>
            <a:r>
              <a:t>KEEP IN MIND</a:t>
            </a:r>
          </a:p>
          <a:p>
            <a:r>
              <a:t>• Avoid presenting academic performance, quiet compliance or conventional independence as the only evidence of flourishing.</a:t>
            </a:r>
          </a:p>
          <a:p/>
          <a:p>
            <a:r>
              <a:t>THREAD</a:t>
            </a:r>
          </a:p>
          <a:p>
            <a:r>
              <a:t>Capacity picks up Session 3's 'What costs? What lightens?' thinking; the whole frame is the test for the Session 4 support design and the Session 5 partnership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A2FB-4FF9-EE51-EF6D-10657191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C577A-1C76-DB07-15A8-11676009A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40A8E-33DE-52B4-FBEF-8B0D598B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8 min  ·  3:19 - 3:27  ·  Participant Guide p.26 - Bringing it all together</a:t>
            </a:r>
          </a:p>
          <a:p/>
          <a:p>
            <a:r>
              <a:t>PURPOSE</a:t>
            </a:r>
          </a:p>
          <a:p>
            <a:r>
              <a:t>Surface the strongest ideas at each table and make the most useful ones concrete enough to spread back at school.</a:t>
            </a:r>
          </a:p>
          <a:p/>
          <a:p>
            <a:r>
              <a:t>WHAT TO DO</a:t>
            </a:r>
          </a:p>
          <a:p>
            <a:r>
              <a:t>1. Move participants into table groups.</a:t>
            </a:r>
          </a:p>
          <a:p>
            <a:r>
              <a:t>2. Keep time: one minute per person, then the shortlist.</a:t>
            </a:r>
          </a:p>
          <a:p>
            <a:r>
              <a:t>3. Remind tables they can draw on what they saw on the gallery wall in Session 4.</a:t>
            </a:r>
          </a:p>
          <a:p>
            <a:r>
              <a:t>4. Push each table to name a real person and a real meeting or moment for each shortlisted idea. For support staff this is often the teacher they work with, a learning support team meeting or a support staff meeting.</a:t>
            </a:r>
          </a:p>
          <a:p/>
          <a:p>
            <a:r>
              <a:t>ACTIVITY: Table sharing and shortlist  ·  table groups  ·  8 minutes</a:t>
            </a:r>
          </a:p>
          <a:p>
            <a:r>
              <a:t>Prompt: What is the strongest thing you're taking back to your school?</a:t>
            </a:r>
          </a:p>
          <a:p>
            <a:r>
              <a:t>1. Each person shares the strongest thing they're taking back to their school: one minute each.</a:t>
            </a:r>
          </a:p>
          <a:p>
            <a:r>
              <a:t>2. As a table, build the shared shortlist: the three ideas from this table most worth spreading.</a:t>
            </a:r>
          </a:p>
          <a:p>
            <a:r>
              <a:t>3. Make each one concrete: who needs to hear it, and in which meeting or moment will you say it?</a:t>
            </a:r>
          </a:p>
          <a:p/>
          <a:p>
            <a:r>
              <a:t>THREAD</a:t>
            </a:r>
          </a:p>
          <a:p>
            <a:r>
              <a:t>The shortlist builds on the Session 4 gallery walk.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703EF-8A28-F787-D0E7-C1724D6058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360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8 min  ·  3:27 - 3:35  ·  Participant Guide p.27 - Start · Continue · Reconsider</a:t>
            </a:r>
          </a:p>
          <a:p/>
          <a:p>
            <a:r>
              <a:t>PURPOSE</a:t>
            </a:r>
          </a:p>
          <a:p>
            <a:r>
              <a:t>Turn the day into one specific action for the next day in school, alongside a practice to keep and one to rethink, all within the participant's role.</a:t>
            </a:r>
          </a:p>
          <a:p/>
          <a:p>
            <a:r>
              <a:t>WHAT TO DO</a:t>
            </a:r>
          </a:p>
          <a:p>
            <a:r>
              <a:t>1. Ask participants to have their Session 4 'My students' card ('One way I will fade support') in front of them.</a:t>
            </a:r>
          </a:p>
          <a:p>
            <a:r>
              <a:t>2. Read the opening line: plan your next day in school.</a:t>
            </a:r>
          </a:p>
          <a:p>
            <a:r>
              <a:t>3. Suggest their Start can be the Session 4 fading step, now with how they will know it worked.</a:t>
            </a:r>
          </a:p>
          <a:p>
            <a:r>
              <a:t>4. Offer stems for the Start: I will... / The support or demand I am addressing is... / I will notice... / I will talk with the teacher about... / We will review this on...</a:t>
            </a:r>
          </a:p>
          <a:p>
            <a:r>
              <a:t>5. Check that each Start sits within the participant's role and the teacher's plan, and does not require a student to appear less Autistic. Bigger changes go to the teacher conversation.</a:t>
            </a:r>
          </a:p>
          <a:p>
            <a:r>
              <a:t>6. Give Continue real time. Much of what support staff already do is good practice, and today may have named it. Ask participants to write it down.</a:t>
            </a:r>
          </a:p>
          <a:p>
            <a:r>
              <a:t>7. Close by pointing to the footer: share one thing on this card with the teacher you work with.</a:t>
            </a:r>
          </a:p>
          <a:p/>
          <a:p>
            <a:r>
              <a:t>KEY MESSAGES</a:t>
            </a:r>
          </a:p>
          <a:p>
            <a:r>
              <a:t>• Use access, participation or experience as the measure, not outward compliance.</a:t>
            </a:r>
          </a:p>
          <a:p>
            <a:r>
              <a:t>• Choose one action that is specific and small enough to start on the next day in school.</a:t>
            </a:r>
          </a:p>
          <a:p>
            <a:r>
              <a:t>• Continue matters: name what you already do well.</a:t>
            </a:r>
          </a:p>
          <a:p/>
          <a:p>
            <a:r>
              <a:t>ACTIVITY: Individual action planning  ·  on your own  ·  8 minutes</a:t>
            </a:r>
          </a:p>
          <a:p>
            <a:r>
              <a:t>Prompt: Plan your next day in school. What is one change you will take forward?</a:t>
            </a:r>
          </a:p>
          <a:p>
            <a:r>
              <a:t>1. On the action card, identify one strategy to start: something small you can start next week. Your Session 4 fading step can be your Start.</a:t>
            </a:r>
          </a:p>
          <a:p>
            <a:r>
              <a:t>2. Identify one practice to continue: something today confirmed you already do well.</a:t>
            </a:r>
          </a:p>
          <a:p>
            <a:r>
              <a:t>3. Identify one approach to reconsider: something you would now do differently.</a:t>
            </a:r>
          </a:p>
          <a:p>
            <a:r>
              <a:t>4. For each, decide: How will you know it worked? What evidence will show it?</a:t>
            </a:r>
          </a:p>
          <a:p>
            <a:r>
              <a:t>5. If time allows, note beside your Start what you will talk to the teacher about, and when you will review it together.</a:t>
            </a:r>
          </a:p>
          <a:p>
            <a:r>
              <a:t>6. This card is yours. Share one thing on this card with the teacher you work with.</a:t>
            </a:r>
          </a:p>
          <a:p>
            <a:r>
              <a:t>Close: Ask participants to keep the action small, testable and open to revision with the teacher.</a:t>
            </a:r>
          </a:p>
          <a:p/>
          <a:p>
            <a:r>
              <a:t>KEEP IN MIND</a:t>
            </a:r>
          </a:p>
          <a:p>
            <a:r>
              <a:t>• Do not let 'what they will notice' become outward compliance.</a:t>
            </a:r>
          </a:p>
          <a:p>
            <a:r>
              <a:t>• Keep commitments within the role: support staff help deliver adjustments, and the teacher plans them. A Start that changes the plan becomes a conversation with the teacher.</a:t>
            </a:r>
          </a:p>
          <a:p>
            <a:r>
              <a:t>• Reconsider is professional reflection, not criticism of a teacher, colleague, family or school.</a:t>
            </a:r>
          </a:p>
          <a:p>
            <a:r>
              <a:t>• The card is theirs: sharing with the teacher is the suggested step, and anything beyond that is optional.</a:t>
            </a:r>
          </a:p>
          <a:p/>
          <a:p>
            <a:r>
              <a:t>THREAD</a:t>
            </a:r>
          </a:p>
          <a:p>
            <a:r>
              <a:t>Picks up the Session 4 'My students' card and commit (p. 21 - My students check; Commit) and the Session 5 communication rhythm with the teacher.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8 min  ·  3:35 - 3:43  ·  Participant Guide p.28 - Plan the next conversation</a:t>
            </a:r>
          </a:p>
          <a:p/>
          <a:p>
            <a:r>
              <a:t>PURPOSE</a:t>
            </a:r>
          </a:p>
          <a:p>
            <a:r>
              <a:t>Prepare one purposeful, power-aware conversation with a student's family or the student themselves, within two weeks.</a:t>
            </a:r>
          </a:p>
          <a:p/>
          <a:p>
            <a:r>
              <a:t>WHAT TO DO</a:t>
            </a:r>
          </a:p>
          <a:p>
            <a:r>
              <a:t>1. Ask participants to open their Session 5 bridge notes.</a:t>
            </a:r>
          </a:p>
          <a:p>
            <a:r>
              <a:t>2. Ask them to define the purpose before writing questions or next steps.</a:t>
            </a:r>
          </a:p>
          <a:p>
            <a:r>
              <a:t>3. Point back to the bridge prompts on p. 25: what needs to be understood, how student voice will be included, what can be decided together and how the school will follow up.</a:t>
            </a:r>
          </a:p>
          <a:p>
            <a:r>
              <a:t>4. If the conversation is with a family, ask participants to plan it with the teacher, or plan how the teacher will be part of it. The warm handover from Session 5 can be their opening.</a:t>
            </a:r>
          </a:p>
          <a:p>
            <a:r>
              <a:t>5. Ask participants to apply the process change they identified during the power-dynamics reflection.</a:t>
            </a:r>
          </a:p>
          <a:p>
            <a:r>
              <a:t>6. Keep all notes anonymised (initials or roles only) and sharing voluntary.</a:t>
            </a:r>
          </a:p>
          <a:p/>
          <a:p>
            <a:r>
              <a:t>ACTIVITY: Individual conversation planning  ·  on your own  ·  8 minutes</a:t>
            </a:r>
          </a:p>
          <a:p>
            <a:r>
              <a:t>Prompt: Plan one real conversation you will have within two weeks.</a:t>
            </a:r>
          </a:p>
          <a:p>
            <a:r>
              <a:t>1. Choose the real conversation you'll have within two weeks: with a student's family, or with the student themselves.</a:t>
            </a:r>
          </a:p>
          <a:p>
            <a:r>
              <a:t>2. Write the purpose in one sentence: what you need to understand, rather than what you need the family to accept.</a:t>
            </a:r>
          </a:p>
          <a:p>
            <a:r>
              <a:t>3. If it is a family conversation, note how the teacher will be part of it.</a:t>
            </a:r>
          </a:p>
          <a:p>
            <a:r>
              <a:t>4. Plan it in your Participant Guide: what I'll share (a strength first), what I'll ask (specifically), what I'll offer.</a:t>
            </a:r>
          </a:p>
          <a:p>
            <a:r>
              <a:t>5. Plan how the student's communication and preferences will be included.</a:t>
            </a:r>
          </a:p>
          <a:p>
            <a:r>
              <a:t>6. Write your opening sentence, word for word.</a:t>
            </a:r>
          </a:p>
          <a:p>
            <a:r>
              <a:t>7. Note it: when, where, how.</a:t>
            </a:r>
          </a:p>
          <a:p>
            <a:r>
              <a:t>Close: Invite participants to check that the plan is clear, respectful and genuinely open to family and student knowledge.</a:t>
            </a:r>
          </a:p>
          <a:p/>
          <a:p>
            <a:r>
              <a:t>KEEP IN MIND</a:t>
            </a:r>
          </a:p>
          <a:p>
            <a:r>
              <a:t>• Avoid scripting the family's response.</a:t>
            </a:r>
          </a:p>
          <a:p>
            <a:r>
              <a:t>• What participants offer should sit within their role. Offers that change the plan are made with the teacher.</a:t>
            </a:r>
          </a:p>
          <a:p>
            <a:r>
              <a:t>• Avoid treating the conversation as a way to secure agreement with a finished school plan.</a:t>
            </a:r>
          </a:p>
          <a:p/>
          <a:p>
            <a:r>
              <a:t>THREAD</a:t>
            </a:r>
          </a:p>
          <a:p>
            <a:r>
              <a:t>Starts from the Session 5 bridge notes (p. 25 - Bridge to the next family conversation), the warm handover and the power-dynamics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4 min  ·  3:43 - 3:47</a:t>
            </a:r>
          </a:p>
          <a:p/>
          <a:p>
            <a:r>
              <a:t>PURPOSE</a:t>
            </a:r>
          </a:p>
          <a:p>
            <a:r>
              <a:t>Hear, in a student's own words, how teacher belief shaped their success.</a:t>
            </a:r>
          </a:p>
          <a:p/>
          <a:p>
            <a:r>
              <a:t>WHAT TO DO</a:t>
            </a:r>
          </a:p>
          <a:p>
            <a:r>
              <a:t>1. Play the video.</a:t>
            </a:r>
          </a:p>
          <a:p>
            <a:r>
              <a:t>2. Move to the final reflection after the video, without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4 min  ·  3:47 - 3:51  ·  Participant Guide p.29 - Final reflection</a:t>
            </a:r>
          </a:p>
          <a:p/>
          <a:p>
            <a:r>
              <a:t>PURPOSE</a:t>
            </a:r>
          </a:p>
          <a:p>
            <a:r>
              <a:t>Return participants to where they started this morning and name, privately, what has shifted.</a:t>
            </a:r>
          </a:p>
          <a:p/>
          <a:p>
            <a:r>
              <a:t>WHAT TO DO</a:t>
            </a:r>
          </a:p>
          <a:p>
            <a:r>
              <a:t>1. Ask participants to find what they wrote this morning (p. 5 - My starting point) and read their own words back.</a:t>
            </a:r>
          </a:p>
          <a:p>
            <a:r>
              <a:t>2. Ask: What's different now?</a:t>
            </a:r>
          </a:p>
          <a:p>
            <a:r>
              <a:t>3. Give quiet time for the two prompts: Where were you this morning? Where are you now?</a:t>
            </a:r>
          </a:p>
          <a:p>
            <a:r>
              <a:t>4. Ask each person to answer the last question in one sentence, to themselves, thinking about their work with students.</a:t>
            </a:r>
          </a:p>
          <a:p>
            <a:r>
              <a:t>5. Keep it private; no sharing is needed.</a:t>
            </a:r>
          </a:p>
          <a:p/>
          <a:p>
            <a:r>
              <a:t>YOU MIGHT SAY</a:t>
            </a:r>
          </a:p>
          <a:p>
            <a:r>
              <a:t>In one sentence, for yourself: what will you do differently in your work with students?</a:t>
            </a:r>
          </a:p>
          <a:p/>
          <a:p>
            <a:r>
              <a:t>THREAD</a:t>
            </a:r>
          </a:p>
          <a:p>
            <a:r>
              <a:t>Returns to Session 1 (p. 5 - My starting point).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 min  ·  3:51 - 3:54  ·  Participant Guide p.30 - Connections that continue</a:t>
            </a:r>
          </a:p>
          <a:p/>
          <a:p>
            <a:r>
              <a:t>PURPOSE</a:t>
            </a:r>
          </a:p>
          <a:p>
            <a:r>
              <a:t>Introduce continuing professional learning and community pathways.</a:t>
            </a:r>
          </a:p>
          <a:p/>
          <a:p>
            <a:r>
              <a:t>WHAT TO DO</a:t>
            </a:r>
          </a:p>
          <a:p>
            <a:r>
              <a:t>1. Ask: What are you curious to learn more about next?</a:t>
            </a:r>
          </a:p>
          <a:p>
            <a:r>
              <a:t>2. Point participants back to "What am I curious about today?" (Participant Guide p. 5, My starting point): how many of their morning questions got answered?</a:t>
            </a:r>
          </a:p>
          <a:p>
            <a:r>
              <a:t>3. Explain how to access each pathway: webinars and deep dives, the Online Community of Practice and the Positive Partnerships website.</a:t>
            </a:r>
          </a:p>
          <a:p>
            <a:r>
              <a:t>4. If photos of today's wall work are shared, check they hold no student details and tell participants where to find them.</a:t>
            </a:r>
          </a:p>
          <a:p>
            <a:r>
              <a:t>5. Keep this brief and practical.</a:t>
            </a:r>
          </a:p>
          <a:p/>
          <a:p>
            <a:r>
              <a:t>YOU MIGHT SAY</a:t>
            </a:r>
          </a:p>
          <a:p>
            <a:r>
              <a:t>Today is a starting point. These supports continue after the workshop.</a:t>
            </a:r>
          </a:p>
          <a:p/>
          <a:p>
            <a:r>
              <a:t>KEY MESSAGES</a:t>
            </a:r>
          </a:p>
          <a:p>
            <a:r>
              <a:t>• The workshop is one point in continuing professional learning, reflection and partnership.</a:t>
            </a:r>
          </a:p>
          <a:p>
            <a:r>
              <a:t>• Choose the pathway that fits your next question.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D845D-D26B-42D1-9889-EA4054142996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969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3:54 - 3:55</a:t>
            </a:r>
          </a:p>
          <a:p/>
          <a:p>
            <a:r>
              <a:t>PURPOSE</a:t>
            </a:r>
          </a:p>
          <a:p>
            <a:r>
              <a:t>Show where to follow Positive Partnerships online.</a:t>
            </a:r>
          </a:p>
          <a:p/>
          <a:p>
            <a:r>
              <a:t>WHAT TO DO</a:t>
            </a:r>
          </a:p>
          <a:p>
            <a:r>
              <a:t>1. Leave the slide up briefly so participants can note or photograph the handles.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  <a:p>
            <a:r>
              <a:t>Facebook - facebook.com/PositivePartnershipsAU</a:t>
            </a:r>
          </a:p>
          <a:p>
            <a:r>
              <a:t>Instagram - @positivepartnerships</a:t>
            </a:r>
          </a:p>
          <a:p>
            <a:r>
              <a:t>Threads - @positivepartnerships</a:t>
            </a:r>
          </a:p>
          <a:p>
            <a:r>
              <a:t>LinkedIn - Positive Partnerships</a:t>
            </a:r>
          </a:p>
          <a:p>
            <a:r>
              <a:t>Pinterest - pinterest.com.au/PositivePartnershipsAustralia/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C6345-C4B0-4EAE-A3B4-FCAC51D578E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454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 min  ·  3:55 - 3:59</a:t>
            </a:r>
          </a:p>
          <a:p/>
          <a:p>
            <a:r>
              <a:t>PURPOSE</a:t>
            </a:r>
          </a:p>
          <a:p>
            <a:r>
              <a:t>Collect participant feedback.</a:t>
            </a:r>
          </a:p>
          <a:p/>
          <a:p>
            <a:r>
              <a:t>WHAT TO DO</a:t>
            </a:r>
          </a:p>
          <a:p>
            <a:r>
              <a:t>1. Explain why feedback is being collected and how it is used.</a:t>
            </a:r>
          </a:p>
          <a:p>
            <a:r>
              <a:t>2. Show how to access the form (link and QR code).</a:t>
            </a:r>
          </a:p>
          <a:p>
            <a:r>
              <a:t>3. Allow protected time for completion in the room.</a:t>
            </a:r>
          </a:p>
          <a:p>
            <a:r>
              <a:t>4. Provide an accessible alternative if the process includes one.</a:t>
            </a:r>
          </a:p>
          <a:p/>
          <a:p>
            <a:r>
              <a:t>RESOURCES</a:t>
            </a:r>
          </a:p>
          <a:p>
            <a:r>
              <a:t>Feedback form - http://tiny.cc/PP-PLfeedback</a:t>
            </a:r>
          </a:p>
        </p:txBody>
      </p:sp>
    </p:spTree>
    <p:extLst>
      <p:ext uri="{BB962C8B-B14F-4D97-AF65-F5344CB8AC3E}">
        <p14:creationId xmlns:p14="http://schemas.microsoft.com/office/powerpoint/2010/main" val="227017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3:59 - 4:00</a:t>
            </a:r>
          </a:p>
          <a:p/>
          <a:p>
            <a:r>
              <a:t>PURPOSE</a:t>
            </a:r>
          </a:p>
          <a:p>
            <a:r>
              <a:t>Close warmly and return participants to student-centred curiosity.</a:t>
            </a:r>
          </a:p>
          <a:p/>
          <a:p>
            <a:r>
              <a:t>WHAT TO DO</a:t>
            </a:r>
          </a:p>
          <a:p>
            <a:r>
              <a:t>1. Thank participants for their attention, questions and the close knowledge of students they brought to the day.</a:t>
            </a:r>
          </a:p>
          <a:p>
            <a:r>
              <a:t>2. Invite them to stay curious and keep students at the centre.</a:t>
            </a:r>
          </a:p>
          <a:p>
            <a:r>
              <a:t>3. Remind participants to take their action card and conversation plan.</a:t>
            </a:r>
          </a:p>
          <a:p>
            <a:r>
              <a:t>4. State the relevant follow-up and contact arrangements.</a:t>
            </a:r>
          </a:p>
          <a:p/>
          <a:p>
            <a:r>
              <a:t>KEY MESSAGES</a:t>
            </a:r>
          </a:p>
          <a:p>
            <a:r>
              <a:t>• Stay curious.</a:t>
            </a:r>
          </a:p>
          <a:p>
            <a:r>
              <a:t>• Keep students at the centre.</a:t>
            </a:r>
          </a:p>
          <a:p>
            <a:r>
              <a:t>• Small, informed changes can be reviewed and refined in partnership.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70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D6C9-C8AA-44C4-4931-B382C1863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B0037-3390-A966-0EBE-D795C3F68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B3E6-3703-518E-C773-70E0E4F9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8A0B6-825C-8E42-35F9-BC7E4501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79D15-E047-F9AE-AAE7-5BD7C3EF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76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2C15-D2D8-8F8F-F025-D2487EFD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96AF-95C1-A5C1-E73A-831D4E2F5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03DA0-50A6-D538-79D9-5E4C0C00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ECC71-AB07-9583-6936-B3C19E63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0FABA-841F-FE19-813D-42FA2271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14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C130-C195-F979-C996-43C69E20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547D-5500-AFAE-D21E-7C6357D2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5C74-8D24-AF82-BEA1-F26C254E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A315-180D-2FA3-A9BC-01C5D5D6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5573-D0B6-34B1-1291-F62FAA95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10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50D6-575C-CB41-65A7-FB804F56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AB66-7C88-6A15-6D8D-8156EBFCD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F4B84-D37C-AC67-13D5-2675C140A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CB32D-1C8A-2343-22CC-E378AEF3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C401E-C5C9-FF2F-F378-60ABB41E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EAD7F-2D27-5053-D388-C766FB4D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25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652B-4E9D-C103-17CE-5DF2B51F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16675-A71C-4904-0FF1-D5B8D371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BA880-2D6A-1AA3-9C39-74A40D9E0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FA0F3-A8A7-4F4E-61E5-2658D2491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1E242-5908-6CCF-F77A-148EE5E92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31BC2-4F17-83CD-8504-7E61BC3A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0B8AD-E95C-5456-BBC1-328DAF3C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86B90-A435-E3F2-EA44-6A8C8A6E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33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62AE-4571-FF4C-4C3E-AB065B0E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303C8-8F3A-4539-454B-4B436868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BA5F9-3C8B-EAF6-0B2D-6D968A2D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E689E-FF7B-4208-CD6A-F6398559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2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7A373-84D6-6742-696A-532FEAF8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46E7A-F9BC-67E1-8EC5-353D4A8C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AC8BD-6F60-7B66-0139-D144520F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70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48D2-D824-1C37-B882-FE52B8AF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D53E-26C1-1097-D4CA-AD653C0E7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CD386-9696-1756-8606-31933629B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04459-AEE9-32FD-67D2-E9B7F5BD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EA51B-3BA0-7066-34BA-F3E12AD6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C672D-C6E0-05A6-E1CB-1EF3705B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24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8754-344E-8F2F-37E4-8C877866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8F485-F60E-3DEC-A66D-A0A00177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0EA3D-01BC-748B-BA48-03D96EF3D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F00D2-2456-0349-31F3-BF594B96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F4A45-4B3D-E948-6973-154B5A73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4AAF0-1024-84A7-5CE2-17482354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3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1FC3-840A-471B-5906-04D822FE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75C24-F185-4C62-1569-3951DF603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F63D-BD51-529C-98FF-15F3285A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CC688-12E0-94F5-B228-F9B1D764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1C413-9089-9B05-B8EC-3DC77360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28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35A89-BCBF-4B62-DAE1-DF204AF18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03E82-6631-29FC-2AAA-C293B2945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C9247-8721-17D1-2047-627DFC46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6DB14-3D48-A4C9-A73F-0305080D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D2F71-10E0-0071-F7F8-0B08302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60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E257-01C1-FF4E-A621-4CDB8E36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41" y="2234624"/>
            <a:ext cx="6756008" cy="30417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C1C21F1-E016-B546-B8A2-0753B298F5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16213" y="917909"/>
            <a:ext cx="3264760" cy="3375187"/>
          </a:xfrm>
          <a:prstGeom prst="roundRect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93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C7C52-3677-EB4A-92DB-F07C343D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6CDA9-E14D-7E9C-B18D-D572246A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99416-908D-9535-1946-7F6B2932D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E84F6-AD10-DB0C-1F16-6CC48227F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36C2-AC8A-6FAE-4E57-F75AC4E37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hyperlink" Target="http://www.positivepartnerships.com.au/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758A-4EC0-C24C-0414-4B79E17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8549640" y="4663440"/>
            <a:ext cx="4873752" cy="4873752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9AF26-10D7-9B44-4DD4-07D17957C14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259" r="15259"/>
          <a:stretch/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0502DD-259B-5020-6871-D083521624CD}"/>
              </a:ext>
            </a:extLst>
          </p:cNvPr>
          <p:cNvSpPr txBox="1">
            <a:spLocks/>
          </p:cNvSpPr>
          <p:nvPr/>
        </p:nvSpPr>
        <p:spPr>
          <a:xfrm>
            <a:off x="7269480" y="1097280"/>
            <a:ext cx="4297680" cy="42062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1" dirty="0">
                <a:solidFill>
                  <a:srgbClr val="584099"/>
                </a:solidFill>
                <a:latin typeface="Arial"/>
                <a:ea typeface="Arial"/>
                <a:cs typeface="Arial"/>
              </a:rPr>
              <a:t>Education Support Staff · Session 6</a:t>
            </a:r>
          </a:p>
          <a:p>
            <a:pPr marL="0" indent="0" algn="l">
              <a:lnSpc>
                <a:spcPct val="95000"/>
              </a:lnSpc>
              <a:spcBef>
                <a:spcPts val="1000"/>
              </a:spcBef>
              <a:buNone/>
            </a:pPr>
            <a:r>
              <a:rPr lang="en-AU" sz="3600" b="0" dirty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Flourishing &amp; Full Circle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346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Belonging, capacity and joy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all three in the picture.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Being recognised, included and able to participate as oneself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DCD3F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3978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Capacity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the day costs, protects and restores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02117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Joy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Interests, connection and authentic expression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12064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12064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Return to these when judging whether a change supports flourishing.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E08F-A4CC-8EFD-86F4-8163A22A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1D4B3EC-9708-EFB5-BBDF-C408D4E8394A}"/>
              </a:ext>
            </a:extLst>
          </p:cNvPr>
          <p:cNvSpPr txBox="1">
            <a:spLocks/>
          </p:cNvSpPr>
          <p:nvPr/>
        </p:nvSpPr>
        <p:spPr>
          <a:xfrm>
            <a:off x="685800" y="457200"/>
            <a:ext cx="10789920" cy="7772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Bringing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Table groups: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4767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Each person shares the strongest thing they're taking back to their school: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minute each.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0779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As a table, build the shared shortlist: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three ideas from this table most worth spreading.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86791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Make each one concrete: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who needs to hear it, and in which meeting or moment will you say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251473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564336-1E2A-DABF-1A15-0FD63C44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Start · Continue · Reconsider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Plan your next day in school. On your action card, identify: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Start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strategy to start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something small you can start next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3938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3978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Continue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practice to continue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something today confirmed you already do well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2077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02117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Reconsider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approach to reconsider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something you would now do differently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For each, decide: How will you know it worked? What evidence will show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Share one thing on this card with the teacher you work with.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9436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9436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346509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8B3160-3FF6-2D0B-C202-81FA4BCAD256}"/>
              </a:ext>
            </a:extLst>
          </p:cNvPr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Plan the next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Start from your Session 5 bridge notes.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Choose the real conversation you'll have within two weeks:</a:t>
            </a:r>
            <a:b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with a student's family (planned with the teacher), or with the student themselves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Plan it in your Participant Guide: </a:t>
            </a:r>
            <a:b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I'll share (a strength first) · what I'll ask (specifically) · what I'll offer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7033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9359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Write your opening sentence, word for word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5720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6227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Note it: when, where, how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778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5778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93419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9052560" y="3931920"/>
            <a:ext cx="5486400" cy="5486400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85800" y="2740342"/>
            <a:ext cx="3687775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In their 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30775" y="1551622"/>
            <a:ext cx="6675120" cy="3754755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 w="19050">
            <a:solidFill>
              <a:srgbClr val="B9A7D6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13655" y="1551622"/>
            <a:ext cx="6309360" cy="37547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Video placeholder: Caitlin on how teacher belief shaped their success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551622"/>
            <a:ext cx="91440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5400000">
            <a:off x="996696" y="1798510"/>
            <a:ext cx="420624" cy="420624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9566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95360" y="4754880"/>
            <a:ext cx="5669280" cy="5669280"/>
          </a:xfrm>
          <a:prstGeom prst="ellipse">
            <a:avLst/>
          </a:prstGeom>
          <a:solidFill>
            <a:srgbClr val="6A52A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FBDF4-2EE7-D4AD-3DCB-B64C00E21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Final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morning you wrote what school is for, and what you were curious about. Read your own words back. What's different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000" b="0" dirty="0">
                <a:solidFill>
                  <a:srgbClr val="E6E0F5"/>
                </a:solidFill>
                <a:latin typeface="Arial"/>
                <a:ea typeface="Arial"/>
                <a:cs typeface="Arial"/>
              </a:rPr>
              <a:t>Where were you this morning?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Where are you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1800" b="0" dirty="0">
                <a:solidFill>
                  <a:srgbClr val="E6E0F5"/>
                </a:solidFill>
                <a:latin typeface="Arial"/>
                <a:ea typeface="Arial"/>
                <a:cs typeface="Arial"/>
              </a:rPr>
              <a:t>In one sentence, for yourself: what will you do differently in your work with students?</a:t>
            </a:r>
          </a:p>
        </p:txBody>
      </p:sp>
    </p:spTree>
    <p:extLst>
      <p:ext uri="{BB962C8B-B14F-4D97-AF65-F5344CB8AC3E}">
        <p14:creationId xmlns:p14="http://schemas.microsoft.com/office/powerpoint/2010/main" val="240908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AB9B-F98C-5EFD-BABF-E0BC0A46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Connections that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are you curious to learn more about next? Look back at "What am I curious about today?" on page 5: how many of your questions got answered?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Webinars and deep dives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Follow-ups on UDL, executive functioning, sensory design, anxiety and more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[Titles and dates to confirm]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58258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Online Community of Practice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A place to keep talking with other educators after today.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[Link or QR code to add]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56397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Positive Partnerships website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Resources for educators, families and students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positivepartnerships.com.au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30352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30352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Today is a starting point. These supports continue after the workshop.</a:t>
            </a:r>
          </a:p>
        </p:txBody>
      </p:sp>
    </p:spTree>
    <p:extLst>
      <p:ext uri="{BB962C8B-B14F-4D97-AF65-F5344CB8AC3E}">
        <p14:creationId xmlns:p14="http://schemas.microsoft.com/office/powerpoint/2010/main" val="314638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reads by Instagram Logo PNG Vector (AI, PDF, SVG) Free Download">
            <a:extLst>
              <a:ext uri="{FF2B5EF4-FFF2-40B4-BE49-F238E27FC236}">
                <a16:creationId xmlns:a16="http://schemas.microsoft.com/office/drawing/2014/main" id="{FD83E397-CBAC-E8DA-A6F9-60CA9F312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922" y="2839390"/>
            <a:ext cx="854361" cy="98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685800" y="457200"/>
            <a:ext cx="5029200" cy="77724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3750" y="3009124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Threads @positivepartnerships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1800" y="740142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LinkedIn Positive 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artnerships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282569" y="4151130"/>
            <a:ext cx="4595931" cy="905592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pinterest.com.au/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PositivePartnershipsAustralia/</a:t>
            </a:r>
          </a:p>
        </p:txBody>
      </p:sp>
      <p:sp>
        <p:nvSpPr>
          <p:cNvPr id="35" name="Rounded Rectangle 34">
            <a:hlinkClick r:id="rId5"/>
          </p:cNvPr>
          <p:cNvSpPr/>
          <p:nvPr/>
        </p:nvSpPr>
        <p:spPr>
          <a:xfrm>
            <a:off x="926630" y="6094462"/>
            <a:ext cx="3903603" cy="540000"/>
          </a:xfrm>
          <a:prstGeom prst="roundRect">
            <a:avLst>
              <a:gd name="adj" fmla="val 50000"/>
            </a:avLst>
          </a:prstGeom>
          <a:solidFill>
            <a:srgbClr val="584099"/>
          </a:solidFill>
        </p:spPr>
        <p:txBody>
          <a:bodyPr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positivepartnerships.com.au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92126" y="5651213"/>
            <a:ext cx="5181624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facebook.com/PositivePartnershipsAU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3750" y="1882148"/>
            <a:ext cx="4140000" cy="54000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Instagram @positivepartnerships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27443" y="1728330"/>
            <a:ext cx="4288329" cy="3370290"/>
            <a:chOff x="348618" y="1882148"/>
            <a:chExt cx="4288329" cy="3370290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782" y="2136188"/>
              <a:ext cx="3710989" cy="2333069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18" y="1882148"/>
              <a:ext cx="4288329" cy="3370290"/>
            </a:xfrm>
            <a:prstGeom prst="rect">
              <a:avLst/>
            </a:prstGeom>
          </p:spPr>
        </p:pic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89" y="587686"/>
            <a:ext cx="872779" cy="872779"/>
          </a:xfrm>
          <a:prstGeom prst="rect">
            <a:avLst/>
          </a:prstGeom>
        </p:spPr>
      </p:pic>
      <p:pic>
        <p:nvPicPr>
          <p:cNvPr id="59" name="Picture 58" descr="C:\1. POSITIVE PARTNERSHIPS_02.07.19\IMAGES\Pinterest-Badge\Badge\RGB\badgeRGB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176" y="4145920"/>
            <a:ext cx="910592" cy="91059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ounded Rectangle 60"/>
          <p:cNvSpPr/>
          <p:nvPr/>
        </p:nvSpPr>
        <p:spPr>
          <a:xfrm>
            <a:off x="7184231" y="1719503"/>
            <a:ext cx="962527" cy="8629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91" y="1452717"/>
            <a:ext cx="1366942" cy="1366942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6768" y="3384258"/>
            <a:ext cx="4363086" cy="2666331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779528" y="3938098"/>
            <a:ext cx="1053005" cy="2094376"/>
            <a:chOff x="5348822" y="4443663"/>
            <a:chExt cx="1208395" cy="2403439"/>
          </a:xfrm>
        </p:grpSpPr>
        <p:pic>
          <p:nvPicPr>
            <p:cNvPr id="66" name="Picture 65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631" y="4828674"/>
              <a:ext cx="859861" cy="1634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8822" y="4443663"/>
              <a:ext cx="1208395" cy="2403439"/>
            </a:xfrm>
            <a:prstGeom prst="rect">
              <a:avLst/>
            </a:prstGeom>
          </p:spPr>
        </p:pic>
      </p:grpSp>
      <p:pic>
        <p:nvPicPr>
          <p:cNvPr id="68" name="Picture 6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681" y="5458707"/>
            <a:ext cx="940042" cy="940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2FE0F-2221-8876-25CD-EC6882C8C1C9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9760"/>
          <a:stretch/>
        </p:blipFill>
        <p:spPr>
          <a:xfrm>
            <a:off x="2734079" y="3660558"/>
            <a:ext cx="3151714" cy="19906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053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-1000816" y="-750095"/>
            <a:ext cx="7627392" cy="7627392"/>
          </a:xfrm>
          <a:prstGeom prst="ellipse">
            <a:avLst/>
          </a:prstGeom>
          <a:solidFill>
            <a:srgbClr val="EDE8F8"/>
          </a:solidFill>
          <a:ln w="1863725">
            <a:solidFill>
              <a:srgbClr val="583F99">
                <a:alpha val="588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0E9E4-EE86-4609-AEEA-A73A5FE7CA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921" y="385795"/>
            <a:ext cx="1366272" cy="15875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343308-F7D6-8245-B839-010678F1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86" y="33652"/>
            <a:ext cx="6482277" cy="5605936"/>
          </a:xfrm>
        </p:spPr>
        <p:txBody>
          <a:bodyPr>
            <a:normAutofit/>
          </a:bodyPr>
          <a:lstStyle/>
          <a:p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32F4E-C689-4DBC-A1D6-D98409DAF178}"/>
              </a:ext>
            </a:extLst>
          </p:cNvPr>
          <p:cNvSpPr/>
          <p:nvPr/>
        </p:nvSpPr>
        <p:spPr>
          <a:xfrm>
            <a:off x="1338842" y="2002303"/>
            <a:ext cx="2948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583F99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Feedback</a:t>
            </a:r>
            <a:endParaRPr kumimoji="0" lang="en-AU" sz="36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553DFC-E15E-48CF-B60D-0A7F2586852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3492" y="5933665"/>
            <a:ext cx="1909570" cy="474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28824F-37C0-4BE7-8FAC-CBE317D6AF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01" y="2857855"/>
            <a:ext cx="2572512" cy="2572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E1E2BE-141D-A965-0C33-4F8C6435F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8591" y="685513"/>
            <a:ext cx="6909682" cy="1641255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E4DD89-7D45-2815-2C0A-3DE1A5D9B9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955" y="2573002"/>
            <a:ext cx="3600953" cy="1114581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330373-A7B7-9F5E-C3A3-FEF7615B9FB8}"/>
              </a:ext>
            </a:extLst>
          </p:cNvPr>
          <p:cNvSpPr txBox="1"/>
          <p:nvPr/>
        </p:nvSpPr>
        <p:spPr>
          <a:xfrm>
            <a:off x="1212692" y="5542923"/>
            <a:ext cx="7061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/>
              <a:t>http://tiny.cc/PP-PLfeedback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17B9B2-07E6-1C8D-2A07-16A7429911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0407" y="3933817"/>
            <a:ext cx="6246048" cy="1124453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2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0"/>
          <a:stretch/>
        </p:blipFill>
        <p:spPr>
          <a:xfrm flipH="1">
            <a:off x="0" y="-30480"/>
            <a:ext cx="12192000" cy="688848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55CFCEF-E826-4CDD-85E1-C244F749F74C}"/>
              </a:ext>
            </a:extLst>
          </p:cNvPr>
          <p:cNvSpPr txBox="1">
            <a:spLocks/>
          </p:cNvSpPr>
          <p:nvPr/>
        </p:nvSpPr>
        <p:spPr>
          <a:xfrm>
            <a:off x="877824" y="640080"/>
            <a:ext cx="4754880" cy="14630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>
              <a:defRPr sz="4400" b="1">
                <a:solidFill>
                  <a:srgbClr val="BBD64A"/>
                </a:solidFill>
                <a:latin typeface="Arial Black" panose="020B0A04020102020204" pitchFamily="34" charset="0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Good luck on your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2860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Stay curious.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students at the centre.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291840"/>
            <a:ext cx="43891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Take one thoughtful next step, include the people who hold relevant knowledge and review what happens. Small, informed changes can be refined through student voice, observation and partnership.</a:t>
            </a:r>
          </a:p>
        </p:txBody>
      </p:sp>
    </p:spTree>
    <p:extLst>
      <p:ext uri="{BB962C8B-B14F-4D97-AF65-F5344CB8AC3E}">
        <p14:creationId xmlns:p14="http://schemas.microsoft.com/office/powerpoint/2010/main" val="1833782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5DF672D9920B44888613C845FEE28C" ma:contentTypeVersion="13" ma:contentTypeDescription="Create a new document." ma:contentTypeScope="" ma:versionID="f74e0793e4bbea6511fcde495954d792">
  <xsd:schema xmlns:xsd="http://www.w3.org/2001/XMLSchema" xmlns:xs="http://www.w3.org/2001/XMLSchema" xmlns:p="http://schemas.microsoft.com/office/2006/metadata/properties" xmlns:ns2="f0bb3e21-4545-485a-b693-7e527aa5b0a1" xmlns:ns3="27f1137f-2ca6-4fef-8072-b9e4ddf9f88d" targetNamespace="http://schemas.microsoft.com/office/2006/metadata/properties" ma:root="true" ma:fieldsID="83fb0c578da1c893ab66577103c670f4" ns2:_="" ns3:_="">
    <xsd:import namespace="f0bb3e21-4545-485a-b693-7e527aa5b0a1"/>
    <xsd:import namespace="27f1137f-2ca6-4fef-8072-b9e4ddf9f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bb3e21-4545-485a-b693-7e527aa5b0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234d0ea-ced3-483a-ade0-71e1f4ad4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f1137f-2ca6-4fef-8072-b9e4ddf9f88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5baa329-1694-49a7-99b3-a1d2375b9e3c}" ma:internalName="TaxCatchAll" ma:showField="CatchAllData" ma:web="27f1137f-2ca6-4fef-8072-b9e4ddf9f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bb3e21-4545-485a-b693-7e527aa5b0a1">
      <Terms xmlns="http://schemas.microsoft.com/office/infopath/2007/PartnerControls"/>
    </lcf76f155ced4ddcb4097134ff3c332f>
    <TaxCatchAll xmlns="27f1137f-2ca6-4fef-8072-b9e4ddf9f88d" xsi:nil="true"/>
  </documentManagement>
</p:properties>
</file>

<file path=customXml/itemProps1.xml><?xml version="1.0" encoding="utf-8"?>
<ds:datastoreItem xmlns:ds="http://schemas.openxmlformats.org/officeDocument/2006/customXml" ds:itemID="{959C572B-12B9-405D-919C-282FBDEA53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bb3e21-4545-485a-b693-7e527aa5b0a1"/>
    <ds:schemaRef ds:uri="27f1137f-2ca6-4fef-8072-b9e4ddf9f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5665E-583E-409D-BD0B-29BD6D9F22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F42DEE-BB42-49AB-911B-9E6CEDB35B14}">
  <ds:schemaRefs>
    <ds:schemaRef ds:uri="http://schemas.microsoft.com/office/2006/metadata/properties"/>
    <ds:schemaRef ds:uri="http://schemas.microsoft.com/office/infopath/2007/PartnerControls"/>
    <ds:schemaRef ds:uri="f0bb3e21-4545-485a-b693-7e527aa5b0a1"/>
    <ds:schemaRef ds:uri="27f1137f-2ca6-4fef-8072-b9e4ddf9f8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2427</Words>
  <Application>Microsoft Macintosh PowerPoint</Application>
  <PresentationFormat>Widescreen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Work Sans</vt:lpstr>
      <vt:lpstr>Office Theme</vt:lpstr>
      <vt:lpstr>PowerPoint Presentation</vt:lpstr>
      <vt:lpstr>PowerPoint Presentation</vt:lpstr>
      <vt:lpstr>PowerPoint Presentation</vt:lpstr>
      <vt:lpstr>Start · Continue · Reconsider</vt:lpstr>
      <vt:lpstr>PowerPoint Presentation</vt:lpstr>
      <vt:lpstr>PowerPoint Presentation</vt:lpstr>
      <vt:lpstr>Final reflection</vt:lpstr>
      <vt:lpstr>Connections that continue</vt:lpstr>
      <vt:lpstr>PowerPoint Presentation</vt:lpstr>
      <vt:lpstr>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Macrae</dc:creator>
  <cp:lastModifiedBy>Craig Smith</cp:lastModifiedBy>
  <cp:revision>16</cp:revision>
  <dcterms:created xsi:type="dcterms:W3CDTF">2026-08-14T00:15:56Z</dcterms:created>
  <dcterms:modified xsi:type="dcterms:W3CDTF">2026-09-25T06:46:12Z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0x010100C75DF672D9920B44888613C845FEE28C</vt:lpwstr>
  </property>
  <property fmtid="{D5CDD505-2E9C-101B-9397-08002B2CF9AE}" pid="3" name="MediaServiceImageTags">
    <vt:lpwstr/>
  </property>
</Properties>
</file>