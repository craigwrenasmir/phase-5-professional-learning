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346_3E00D4D8.xml" ContentType="application/vnd.ms-powerpoint.comments+xml"/>
  <Override PartName="/ppt/comments/modernComment_34C_A86DA66C.xml" ContentType="application/vnd.ms-powerpoint.comments+xml"/>
  <Override PartName="/ppt/media/image2.svg" ContentType="image/svg+xml"/>
  <Override PartName="/ppt/media/image4.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825" r:id="rId5"/>
    <p:sldId id="838" r:id="rId6"/>
    <p:sldId id="837" r:id="rId7"/>
    <p:sldId id="844" r:id="rId8"/>
    <p:sldId id="855" r:id="rId29"/>
    <p:sldId id="856" r:id="rId30"/>
    <p:sldId id="267" r:id="rId9"/>
    <p:sldId id="849" r:id="rId10"/>
    <p:sldId id="845" r:id="rId11"/>
    <p:sldId id="846" r:id="rId12"/>
    <p:sldId id="842" r:id="rId13"/>
    <p:sldId id="850" r:id="rId14"/>
    <p:sldId id="851" r:id="rId15"/>
    <p:sldId id="852" r:id="rId16"/>
    <p:sldId id="853" r:id="rId17"/>
    <p:sldId id="572" r:id="rId18"/>
    <p:sldId id="847" r:id="rId19"/>
    <p:sldId id="358" r:id="rId20"/>
    <p:sldId id="85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DEC358-9AF5-9F80-E7CA-D932E5596AC8}" name="Alison Macrae" initials="AM" userId="S::amacrae@autismspectrum.org.au::6553da1e-2f05-4f27-a7df-76a06554bf9d" providerId="AD"/>
  <p188:author id="{7C3F8D6F-1DEE-6615-6CEF-2DFCB510BACA}" name="Nicole Torres" initials="NT" userId="S::ntorres@autismcrc.com.au::0026055d-e81a-4ac9-a7f9-7ac97c409d2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78"/>
  </p:normalViewPr>
  <p:slideViewPr>
    <p:cSldViewPr snapToGrid="0">
      <p:cViewPr varScale="1">
        <p:scale>
          <a:sx n="117" d="100"/>
          <a:sy n="117" d="100"/>
        </p:scale>
        <p:origin x="4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8/10/relationships/authors" Target="authors.xml"/><Relationship Id="rId29" Type="http://schemas.openxmlformats.org/officeDocument/2006/relationships/slide" Target="slides/slide5.xml"/><Relationship Id="rId30"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Cousins" userId="S::jcousins@autismspectrum.org.au::e5107725-ce0a-4006-bfb3-3787c68d621c" providerId="AD" clId="Web-{00000000-0000-0000-0000-000000000000}"/>
    <pc:docChg chg="modSld">
      <pc:chgData name="Jen Cousins" userId="S::jcousins@autismspectrum.org.au::e5107725-ce0a-4006-bfb3-3787c68d621c" providerId="AD" clId="Web-{00000000-0000-0000-0000-000000000000}" dt="2026-08-25T01:14:04.942" v="11" actId="1076"/>
      <pc:docMkLst>
        <pc:docMk/>
      </pc:docMkLst>
      <pc:sldChg chg="addSp delSp modSp">
        <pc:chgData name="Jen Cousins" userId="S::jcousins@autismspectrum.org.au::e5107725-ce0a-4006-bfb3-3787c68d621c" providerId="AD" clId="Web-{00000000-0000-0000-0000-000000000000}" dt="2026-08-25T01:14:04.942" v="11" actId="1076"/>
        <pc:sldMkLst>
          <pc:docMk/>
          <pc:sldMk cId="3674033657" sldId="847"/>
        </pc:sldMkLst>
        <pc:spChg chg="mod">
          <ac:chgData name="Jen Cousins" userId="S::jcousins@autismspectrum.org.au::e5107725-ce0a-4006-bfb3-3787c68d621c" providerId="AD" clId="Web-{00000000-0000-0000-0000-000000000000}" dt="2026-08-25T01:14:04.942" v="11" actId="1076"/>
          <ac:spMkLst>
            <pc:docMk/>
            <pc:sldMk cId="3674033657" sldId="847"/>
            <ac:spMk id="2" creationId="{6BFC9AB3-31EC-27A9-8206-7C0BE658E8B7}"/>
          </ac:spMkLst>
        </pc:spChg>
        <pc:picChg chg="add mod ord">
          <ac:chgData name="Jen Cousins" userId="S::jcousins@autismspectrum.org.au::e5107725-ce0a-4006-bfb3-3787c68d621c" providerId="AD" clId="Web-{00000000-0000-0000-0000-000000000000}" dt="2026-08-25T01:13:48.894" v="9"/>
          <ac:picMkLst>
            <pc:docMk/>
            <pc:sldMk cId="3674033657" sldId="847"/>
            <ac:picMk id="4" creationId="{A5C575AF-C7D4-085E-94F7-3A72A52D6DAC}"/>
          </ac:picMkLst>
        </pc:picChg>
        <pc:picChg chg="add mod">
          <ac:chgData name="Jen Cousins" userId="S::jcousins@autismspectrum.org.au::e5107725-ce0a-4006-bfb3-3787c68d621c" providerId="AD" clId="Web-{00000000-0000-0000-0000-000000000000}" dt="2026-08-25T01:13:54.207" v="10"/>
          <ac:picMkLst>
            <pc:docMk/>
            <pc:sldMk cId="3674033657" sldId="847"/>
            <ac:picMk id="5" creationId="{C27A36B8-FF2A-0D74-971A-0E4E85BADCA9}"/>
          </ac:picMkLst>
        </pc:picChg>
      </pc:sldChg>
    </pc:docChg>
  </pc:docChgLst>
</pc:chgInfo>
</file>

<file path=ppt/comments/modernComment_34C_A86DA66C.xml><?xml version="1.0" encoding="utf-8"?>
<p188:cmLst xmlns:a="http://schemas.openxmlformats.org/drawingml/2006/main" xmlns:r="http://schemas.openxmlformats.org/officeDocument/2006/relationships" xmlns:p188="http://schemas.microsoft.com/office/powerpoint/2018/8/main">
  <p188:cm id="{C807BA1F-ACAC-4181-AB02-C252BC20F6B1}" authorId="{94DEC358-9AF5-9F80-E7CA-D932E5596AC8}" created="2026-08-14T00:28:52.242">
    <ac:txMkLst xmlns:ac="http://schemas.microsoft.com/office/drawing/2013/main/command">
      <pc:docMk xmlns:pc="http://schemas.microsoft.com/office/powerpoint/2013/main/command"/>
      <pc:sldMk xmlns:pc="http://schemas.microsoft.com/office/powerpoint/2013/main/command" cId="2825758316" sldId="844"/>
      <ac:spMk id="4" creationId="{E3FD5D71-F8F8-00AA-C427-EBCCF0660E1C}"/>
      <ac:txMk cp="125" len="18">
        <ac:context len="144" hash="841651859"/>
      </ac:txMk>
    </ac:txMkLst>
    <p188:pos x="2824455" y="3280648"/>
    <p188:txBody>
      <a:bodyPr/>
      <a:lstStyle/>
      <a:p>
        <a:r>
          <a:rPr lang="en-AU"/>
          <a:t>Added this one in as it lands well with all parties and shifts perpectives</a:t>
        </a:r>
      </a:p>
    </p188:txBody>
  </p188:cm>
</p188:cmLst>
</file>

<file path=ppt/comments/modernComment_346_3E00D4D8.xml><?xml version="1.0" encoding="utf-8"?>
<p188:cmLst xmlns:a="http://schemas.openxmlformats.org/drawingml/2006/main" xmlns:r="http://schemas.openxmlformats.org/officeDocument/2006/relationships" xmlns:p188="http://schemas.microsoft.com/office/powerpoint/2018/8/main">
  <p188:cm id="{9A2E3823-3A5D-4D7E-8175-8FFB0A015633}" authorId="{94DEC358-9AF5-9F80-E7CA-D932E5596AC8}" created="2026-08-14T00:36:04.317">
    <ac:txMkLst xmlns:ac="http://schemas.microsoft.com/office/drawing/2013/main/command">
      <pc:docMk xmlns:pc="http://schemas.microsoft.com/office/powerpoint/2013/main/command"/>
      <pc:sldMk xmlns:pc="http://schemas.microsoft.com/office/powerpoint/2013/main/command" cId="1040241880" sldId="838"/>
      <ac:spMk id="5" creationId="{05A4E05F-DA50-6B99-BED1-648587EBB414}"/>
      <ac:txMk cp="0" len="23">
        <ac:context len="24" hash="2699318344"/>
      </ac:txMk>
    </ac:txMkLst>
    <p188:pos x="5065408" y="428754"/>
    <p188:txBody>
      <a:bodyPr/>
      <a:lstStyle/>
      <a:p>
        <a:r>
          <a:rPr lang="en-AU"/>
          <a:t>As this session time is so limited we discussed that we could use it as an opportunity to see where all the partnerships converge and what skills are needed for success across all partnerships.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717EB-867A-43D8-909C-6209D0EC13B1}" type="datetimeFigureOut">
              <a:rPr lang="en-AU" smtClean="0"/>
              <a:t>25/9/2026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787F1C-BD57-478D-B104-476A213D31F6}" type="slidenum">
              <a:rPr lang="en-AU" smtClean="0"/>
              <a:t>‹#›</a:t>
            </a:fld>
            <a:endParaRPr lang="en-AU"/>
          </a:p>
        </p:txBody>
      </p:sp>
    </p:spTree>
    <p:extLst>
      <p:ext uri="{BB962C8B-B14F-4D97-AF65-F5344CB8AC3E}">
        <p14:creationId xmlns:p14="http://schemas.microsoft.com/office/powerpoint/2010/main" val="394869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415D5-975D-AAB4-61E3-8C9E34FEE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64F2A-E44E-4565-7BE3-523A659D338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80E6984-A62A-9228-E4A6-3370605E1658}"/>
              </a:ext>
            </a:extLst>
          </p:cNvPr>
          <p:cNvSpPr>
            <a:spLocks noGrp="1"/>
          </p:cNvSpPr>
          <p:nvPr>
            <p:ph type="body" idx="1"/>
          </p:nvPr>
        </p:nvSpPr>
        <p:spPr/>
        <p:txBody>
          <a:bodyPr/>
          <a:lstStyle/>
          <a:p>
            <a:r>
              <a:t>SUGGESTED TIME: 1 min  ·  2:15 - 2:16</a:t>
            </a:r>
          </a:p>
          <a:p/>
          <a:p>
            <a:r>
              <a:t>PURPOSE</a:t>
            </a:r>
          </a:p>
          <a:p>
            <a:r>
              <a:t>Open the partnership session and connect it to the support design work in Session 4.</a:t>
            </a:r>
          </a:p>
          <a:p/>
          <a:p>
            <a:r>
              <a:t>WHAT TO DO</a:t>
            </a:r>
          </a:p>
          <a:p>
            <a:r>
              <a:t>1. Name the shift from the support you help deliver to how the people around the student understand and act together.</a:t>
            </a:r>
          </a:p>
          <a:p>
            <a:r>
              <a:t>2. Pick up the last line of the Session 4 commit: "What will you talk to the teacher about?", and the "I will talk with" line on the 'My students' card.</a:t>
            </a:r>
          </a:p>
          <a:p>
            <a:r>
              <a:t>3. Keep the student at the centre of the conversation.</a:t>
            </a:r>
          </a:p>
          <a:p>
            <a:r>
              <a:t>4. Acknowledge that participants may bring both productive and difficult partnership experiences, with families and with colleagues.</a:t>
            </a:r>
          </a:p>
          <a:p>
            <a:r>
              <a:t>5. Remind the room that sharing is voluntary and examples stay anonymised (initials or roles only).</a:t>
            </a:r>
          </a:p>
          <a:p/>
          <a:p>
            <a:r>
              <a:t>KEY MESSAGES</a:t>
            </a:r>
          </a:p>
          <a:p>
            <a:r>
              <a:t>• Partnership is part of understanding and support, not an additional task after decisions are made.</a:t>
            </a:r>
          </a:p>
          <a:p>
            <a:r>
              <a:t>• The student, family, teacher and support staff may each hold different parts of the picture.</a:t>
            </a:r>
          </a:p>
          <a:p/>
          <a:p>
            <a:r>
              <a:t>THREAD</a:t>
            </a:r>
          </a:p>
          <a:p>
            <a:r>
              <a:t>Picks up the Session 4 commit ("What will you talk to the teacher about?") and the "I will talk with" line on the 'My students' card (Participant Guide p. 21).</a:t>
            </a:r>
          </a:p>
        </p:txBody>
      </p:sp>
    </p:spTree>
    <p:extLst>
      <p:ext uri="{BB962C8B-B14F-4D97-AF65-F5344CB8AC3E}">
        <p14:creationId xmlns:p14="http://schemas.microsoft.com/office/powerpoint/2010/main" val="2352718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A0514-B7A9-244F-E9C3-6641E7CE1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229B0-DEB4-33F4-23E2-C94EB8AF4F3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24A3766-8288-AB86-A0F3-6B3E19660DC1}"/>
              </a:ext>
            </a:extLst>
          </p:cNvPr>
          <p:cNvSpPr>
            <a:spLocks noGrp="1"/>
          </p:cNvSpPr>
          <p:nvPr>
            <p:ph type="body" idx="1"/>
          </p:nvPr>
        </p:nvSpPr>
        <p:spPr/>
        <p:txBody>
          <a:bodyPr/>
          <a:lstStyle/>
          <a:p>
            <a:r>
              <a:t>SUGGESTED TIME: 3 min  ·  2:16 - 2:19  ·  Participant Guide p.22 - Session 5 summary</a:t>
            </a:r>
          </a:p>
          <a:p/>
          <a:p>
            <a:r>
              <a:t>PURPOSE</a:t>
            </a:r>
          </a:p>
          <a:p>
            <a:r>
              <a:t>Show where the partnerships around a student intersect, with the student at the centre of every one.</a:t>
            </a:r>
          </a:p>
          <a:p/>
          <a:p>
            <a:r>
              <a:t>WHAT TO DO</a:t>
            </a:r>
          </a:p>
          <a:p>
            <a:r>
              <a:t>1. Introduce the Venn: family, school staff and support staff, with the student at the centre.</a:t>
            </a:r>
          </a:p>
          <a:p>
            <a:r>
              <a:t>2. Name that support staff are the people in this room. Support staff often hold the closest hour-by-hour view of a student's day, across every room and space.</a:t>
            </a:r>
          </a:p>
          <a:p>
            <a:r>
              <a:t>3. Explain that every partner brings different knowledge and a different relationship with the student and with each other.</a:t>
            </a:r>
          </a:p>
          <a:p>
            <a:r>
              <a:t>4. Ask the group: What is the goal of these intersecting partnerships? Take 2-3 responses.</a:t>
            </a:r>
          </a:p>
          <a:p>
            <a:r>
              <a:t>5. Steer the discussion so the point is made that the student is at the centre of all partnerships.</a:t>
            </a:r>
          </a:p>
          <a:p>
            <a:r>
              <a:t>6. Ask who is missing from the picture and how the student's communication can be included.</a:t>
            </a:r>
          </a:p>
          <a:p>
            <a:r>
              <a:t>7. Point participants to Where partnerships converge in the Participant Guide (p. 22).</a:t>
            </a:r>
          </a:p>
          <a:p/>
          <a:p>
            <a:r>
              <a:t>YOU MIGHT SAY</a:t>
            </a:r>
          </a:p>
          <a:p>
            <a:r>
              <a:t>What is the goal of these intersecting partnerships?</a:t>
            </a:r>
          </a:p>
          <a:p/>
          <a:p>
            <a:r>
              <a:t>KEY MESSAGES</a:t>
            </a:r>
          </a:p>
          <a:p>
            <a:r>
              <a:t>• Positive partnership keeps the student at the centre.</a:t>
            </a:r>
          </a:p>
          <a:p>
            <a:r>
              <a:t>• No single person holds the complete picture.</a:t>
            </a:r>
          </a:p>
          <a:p>
            <a:r>
              <a:t>• Every partner brings different knowledge and a different relationship with the student.</a:t>
            </a:r>
          </a:p>
          <a:p>
            <a:r>
              <a:t>• Support staff knowledge of the student's day is part of that picture.</a:t>
            </a:r>
          </a:p>
          <a:p/>
          <a:p>
            <a:r>
              <a:t>KEEP IN MIND</a:t>
            </a:r>
          </a:p>
          <a:p>
            <a:r>
              <a:t>• Use the elements as discussion prompts rather than a complete definition.</a:t>
            </a:r>
          </a:p>
          <a:p/>
          <a:p>
            <a:r>
              <a:t>BACKGROUND</a:t>
            </a:r>
          </a:p>
          <a:p>
            <a:r>
              <a:t>With session time limited, this slide is a chance to see where all the partnerships converge and what is needed for success across all of them.</a:t>
            </a:r>
          </a:p>
          <a:p/>
          <a:p>
            <a:r>
              <a:t>THREAD</a:t>
            </a:r>
          </a:p>
          <a:p>
            <a:r>
              <a:t>Draws on Autistic experience (Sessions 2 and 3) and the Session 4 support design and ladder.</a:t>
            </a:r>
          </a:p>
        </p:txBody>
      </p:sp>
    </p:spTree>
    <p:extLst>
      <p:ext uri="{BB962C8B-B14F-4D97-AF65-F5344CB8AC3E}">
        <p14:creationId xmlns:p14="http://schemas.microsoft.com/office/powerpoint/2010/main" val="3560356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CE5DD-51EB-13D7-5DF1-F889E88BD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74F24-86BD-4576-581B-BC41153FEE9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643188E-3CDD-D9D9-6BC4-F2EC317559F4}"/>
              </a:ext>
            </a:extLst>
          </p:cNvPr>
          <p:cNvSpPr>
            <a:spLocks noGrp="1"/>
          </p:cNvSpPr>
          <p:nvPr>
            <p:ph type="body" idx="1"/>
          </p:nvPr>
        </p:nvSpPr>
        <p:spPr/>
        <p:txBody>
          <a:bodyPr/>
          <a:lstStyle/>
          <a:p>
            <a:r>
              <a:t>SUGGESTED TIME: 2 min  ·  2:19 - 2:21</a:t>
            </a:r>
          </a:p>
          <a:p/>
          <a:p>
            <a:r>
              <a:t>PURPOSE</a:t>
            </a:r>
          </a:p>
          <a:p>
            <a:r>
              <a:t>Make positive partnership concrete in everyday practice using the Family-School Partnerships Framework principles.</a:t>
            </a:r>
          </a:p>
          <a:p/>
          <a:p>
            <a:r>
              <a:t>WHAT TO DO</a:t>
            </a:r>
          </a:p>
          <a:p>
            <a:r>
              <a:t>1. Walk through the six Framework principles briefly.</a:t>
            </a:r>
          </a:p>
          <a:p>
            <a:r>
              <a:t>2. Position family knowledge and school knowledge as different, useful perspectives.</a:t>
            </a:r>
          </a:p>
          <a:p>
            <a:r>
              <a:t>3. Name what makes partnership visible in practice: a shared purpose, respectful listening, student voice and communication, clear accessible information, and agreed next steps, responsibilities and follow-up.</a:t>
            </a:r>
          </a:p>
          <a:p>
            <a:r>
              <a:t>4. Note that support staff are often part of the everyday contact that builds this trust: drop-off, pick-up, the playground, the bus bay.</a:t>
            </a:r>
          </a:p>
          <a:p/>
          <a:p>
            <a:r>
              <a:t>KEY MESSAGES</a:t>
            </a:r>
          </a:p>
          <a:p>
            <a:r>
              <a:t>• The student, family and school may each see different parts of experience. Partnership helps these perspectives inform understanding, design, action and review from the beginning.</a:t>
            </a:r>
          </a:p>
          <a:p>
            <a:r>
              <a:t>• Listening, clarity and shared next steps can be observed in practice.</a:t>
            </a:r>
          </a:p>
          <a:p/>
          <a:p>
            <a:r>
              <a:t>KEEP IN MIND</a:t>
            </a:r>
          </a:p>
          <a:p>
            <a:r>
              <a:t>• Avoid implying that agreement is required before listening or respect are possible.</a:t>
            </a:r>
          </a:p>
          <a:p/>
          <a:p>
            <a:r>
              <a:t>RESOURCES</a:t>
            </a:r>
          </a:p>
          <a:p>
            <a:r>
              <a:t>Family-School Partnerships Framework - Department of Education, Australian Government - https://www.education.gov.au/supporting-family-school-community-partnerships-learning/family-school-partnerships/family-school-partnerships-framework</a:t>
            </a:r>
          </a:p>
        </p:txBody>
      </p:sp>
    </p:spTree>
    <p:extLst>
      <p:ext uri="{BB962C8B-B14F-4D97-AF65-F5344CB8AC3E}">
        <p14:creationId xmlns:p14="http://schemas.microsoft.com/office/powerpoint/2010/main" val="771131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3 min  ·  2:21 - 2:24</a:t>
            </a:r>
          </a:p>
          <a:p/>
          <a:p>
            <a:r>
              <a:t>PURPOSE</a:t>
            </a:r>
          </a:p>
          <a:p>
            <a:r>
              <a:t>Name the collaboration principles that strong partnerships share, whoever is at the table.</a:t>
            </a:r>
          </a:p>
          <a:p/>
          <a:p>
            <a:r>
              <a:t>WHAT TO DO</a:t>
            </a:r>
          </a:p>
          <a:p>
            <a:r>
              <a:t>1. Introduce the importance of collaboration: for Autistic students there are many collaboration points across many partnerships, and support staff sit in several of them.</a:t>
            </a:r>
          </a:p>
          <a:p>
            <a:r>
              <a:t>2. Explain that the key collaboration skills are the same across all groups, including between support staff and teachers.</a:t>
            </a:r>
          </a:p>
          <a:p>
            <a:r>
              <a:t>3. Ask the group: What are some of the key principles for effective collaboration to occur?</a:t>
            </a:r>
          </a:p>
          <a:p>
            <a:r>
              <a:t>4. Build the discussion to cover: shared goals, shared values, mutual trust and respect, consulting on decision-making, seeing other perspectives, inviting curiosity, centring student voice, assuming good intent.</a:t>
            </a:r>
          </a:p>
          <a:p>
            <a:r>
              <a:t>5. Click to reveal the points on the slide once the room has contributed.</a:t>
            </a:r>
          </a:p>
          <a:p/>
          <a:p>
            <a:r>
              <a:t>YOU MIGHT SAY</a:t>
            </a:r>
          </a:p>
          <a:p>
            <a:r>
              <a:t>What are some of the key principles for effective collaboration to occur?</a:t>
            </a:r>
          </a:p>
          <a:p>
            <a:r>
              <a:t>How could we work together for better learning outcomes?</a:t>
            </a:r>
          </a:p>
          <a:p/>
          <a:p>
            <a:r>
              <a:t>KEY MESSAGES</a:t>
            </a:r>
          </a:p>
          <a:p>
            <a:r>
              <a:t>• The collaboration skills needed are the same across every partnership around the student, including the working relationship with the teacher.</a:t>
            </a:r>
          </a:p>
          <a:p/>
          <a:p>
            <a:r>
              <a:t>BACKGROUND</a:t>
            </a:r>
          </a:p>
          <a:p>
            <a:r>
              <a:t>This slide works well with all parties and helps shift perspectives.</a:t>
            </a:r>
          </a:p>
          <a:p/>
          <a:p>
            <a:r>
              <a:t>THREAD</a:t>
            </a:r>
          </a:p>
          <a:p>
            <a:r>
              <a:t>Leads into the next slide: a communication rhythm with the teacher.</a:t>
            </a:r>
          </a:p>
        </p:txBody>
      </p:sp>
    </p:spTree>
    <p:extLst>
      <p:ext uri="{BB962C8B-B14F-4D97-AF65-F5344CB8AC3E}">
        <p14:creationId xmlns:p14="http://schemas.microsoft.com/office/powerpoint/2010/main" val="125909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  ·  2:34 - 2:36</a:t>
            </a:r>
          </a:p>
          <a:p/>
          <a:p>
            <a:r>
              <a:t>PURPOSE</a:t>
            </a:r>
          </a:p>
          <a:p>
            <a:r>
              <a:t>Help participants notice how agendas, language, authority and decision-making shape consultation.</a:t>
            </a:r>
          </a:p>
          <a:p/>
          <a:p>
            <a:r>
              <a:t>WHAT TO DO</a:t>
            </a:r>
          </a:p>
          <a:p>
            <a:r>
              <a:t>1. Introduce the seesaw: school, home and the student.</a:t>
            </a:r>
          </a:p>
          <a:p>
            <a:r>
              <a:t>2. Name where power can sit: socio-economic status, historical and cultural experiences of education, speaking English or another language, understanding of school systems and curriculum, and perceptions of the importance of school.</a:t>
            </a:r>
          </a:p>
          <a:p>
            <a:r>
              <a:t>3. Name that support staff can see power from both sides: families may see them as part of the school, and inside the school they may have less say in decisions.</a:t>
            </a:r>
          </a:p>
          <a:p>
            <a:r>
              <a:t>4. Ask the power questions below to examine practice, not to blame individual participants.</a:t>
            </a:r>
          </a:p>
          <a:p/>
          <a:p>
            <a:r>
              <a:t>YOU MIGHT SAY</a:t>
            </a:r>
          </a:p>
          <a:p>
            <a:r>
              <a:t>Who sets the agenda?</a:t>
            </a:r>
          </a:p>
          <a:p>
            <a:r>
              <a:t>Whose knowledge is heard?</a:t>
            </a:r>
          </a:p>
          <a:p>
            <a:r>
              <a:t>Who can make decisions?</a:t>
            </a:r>
          </a:p>
          <a:p>
            <a:r>
              <a:t>Is the student included in a way that works for them?</a:t>
            </a:r>
          </a:p>
          <a:p>
            <a:r>
              <a:t>What could the school change about the process?</a:t>
            </a:r>
          </a:p>
          <a:p/>
          <a:p>
            <a:r>
              <a:t>KEY MESSAGES</a:t>
            </a:r>
          </a:p>
          <a:p>
            <a:r>
              <a:t>• Power is present in meeting structures, language and decision pathways.</a:t>
            </a:r>
          </a:p>
          <a:p>
            <a:r>
              <a:t>• Support staff may notice power imbalances that others miss.</a:t>
            </a:r>
          </a:p>
          <a:p/>
          <a:p>
            <a:r>
              <a:t>KEEP IN MIND</a:t>
            </a:r>
          </a:p>
          <a:p>
            <a:r>
              <a:t>• Avoid describing a family as difficult, disengaged or unrealistic without examining the context and process.</a:t>
            </a:r>
          </a:p>
        </p:txBody>
      </p:sp>
      <p:sp>
        <p:nvSpPr>
          <p:cNvPr id="5" name="Date Placeholder 4"/>
          <p:cNvSpPr>
            <a:spLocks noGrp="1"/>
          </p:cNvSpPr>
          <p:nvPr>
            <p:ph type="dt" idx="11"/>
          </p:nvPr>
        </p:nvSpPr>
        <p:spPr/>
        <p:txBody>
          <a:bodyPr/>
          <a:lstStyle/>
          <a:p>
            <a:endParaRPr lang="en-AU"/>
          </a:p>
        </p:txBody>
      </p:sp>
    </p:spTree>
    <p:extLst>
      <p:ext uri="{BB962C8B-B14F-4D97-AF65-F5344CB8AC3E}">
        <p14:creationId xmlns:p14="http://schemas.microsoft.com/office/powerpoint/2010/main" val="3979636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6 min  ·  2:36 - 2:42  ·  Participant Guide p.23 - Power dynamics</a:t>
            </a:r>
          </a:p>
          <a:p/>
          <a:p>
            <a:r>
              <a:t>PURPOSE</a:t>
            </a:r>
          </a:p>
          <a:p>
            <a:r>
              <a:t>Prompt participants to reflect on perceived and real power imbalances in the home-school relationship.</a:t>
            </a:r>
          </a:p>
          <a:p/>
          <a:p>
            <a:r>
              <a:t>WHAT TO DO</a:t>
            </a:r>
          </a:p>
          <a:p>
            <a:r>
              <a:t>1. Make sure every participant has Post-it notes and a pen.</a:t>
            </a:r>
          </a:p>
          <a:p>
            <a:r>
              <a:t>2. Direct participants to the three instructions on the slide.</a:t>
            </a:r>
          </a:p>
          <a:p>
            <a:r>
              <a:t>3. Choose a sharing option that suits the room (see steps).</a:t>
            </a:r>
          </a:p>
          <a:p>
            <a:r>
              <a:t>4. Support tables to look for solutions rather than place blame.</a:t>
            </a:r>
          </a:p>
          <a:p>
            <a:r>
              <a:t>5. Take feedback from a few participants at the end.</a:t>
            </a:r>
          </a:p>
          <a:p/>
          <a:p>
            <a:r>
              <a:t>KEY MESSAGES</a:t>
            </a:r>
          </a:p>
          <a:p>
            <a:r>
              <a:t>• Power can be structural, historical, cultural, conscious and unconscious.</a:t>
            </a:r>
          </a:p>
          <a:p>
            <a:r>
              <a:t>• Status can be perceived as an imbalanced power dynamic, regardless of intent.</a:t>
            </a:r>
          </a:p>
          <a:p/>
          <a:p>
            <a:r>
              <a:t>ACTIVITY: Post-it note reflection  ·  table groups  ·  6 minutes</a:t>
            </a:r>
          </a:p>
          <a:p>
            <a:r>
              <a:t>Prompt: Where do power imbalances sit in the home-school relationship, and how could you address them?</a:t>
            </a:r>
          </a:p>
          <a:p>
            <a:r>
              <a:t>1. On one Post-it, write an example of an imbalance in power dynamics from a home perspective.</a:t>
            </a:r>
          </a:p>
          <a:p>
            <a:r>
              <a:t>2. On a second, write an example from a school perspective.</a:t>
            </a:r>
          </a:p>
          <a:p>
            <a:r>
              <a:t>3. On a third, write how you could address these imbalances.</a:t>
            </a:r>
          </a:p>
          <a:p>
            <a:r>
              <a:t>4. Option 1: share Post-it notes with your table.</a:t>
            </a:r>
          </a:p>
          <a:p>
            <a:r>
              <a:t>5. Option 2 (movement break): take your Post-it notes to another person in the room to share.</a:t>
            </a:r>
          </a:p>
          <a:p>
            <a:r>
              <a:t>6. Option 3: place Post-it notes on butcher's paper on the wall under Home, School and Solutions.</a:t>
            </a:r>
          </a:p>
          <a:p>
            <a:r>
              <a:t>Bring the room back:</a:t>
            </a:r>
          </a:p>
          <a:p>
            <a:r>
              <a:t>• Who sets the agenda?</a:t>
            </a:r>
          </a:p>
          <a:p>
            <a:r>
              <a:t>• Whose knowledge is heard?</a:t>
            </a:r>
          </a:p>
          <a:p>
            <a:r>
              <a:t>• Who can make decisions?</a:t>
            </a:r>
          </a:p>
          <a:p>
            <a:r>
              <a:t>• What could the school change about the process?</a:t>
            </a:r>
          </a:p>
          <a:p>
            <a:r>
              <a:t>Close: Ask participants to keep one process change for their conversation plan.</a:t>
            </a:r>
          </a:p>
          <a:p/>
          <a:p>
            <a:r>
              <a:t>KEEP IN MIND</a:t>
            </a:r>
          </a:p>
          <a:p>
            <a:r>
              <a:t>• This may be challenging for some participants, who may have found themselves in positions of power or lack of power at different times in their work, including within the school. Guide individuals to seek solutions and not place blame.</a:t>
            </a:r>
          </a:p>
          <a:p/>
          <a:p>
            <a:r>
              <a:t>BACKGROUND</a:t>
            </a:r>
          </a:p>
          <a:p>
            <a:r>
              <a:t>Educators are immersed in the culture of education, including a shared understanding of acronyms (e.g. NAPLAN, NCCD, IEP) which families may not be able to access as easily. Some people will purposely and naturally endow teachers with higher status, which can be a cultural or personal attitude. External providers and professionals can also affect the power dynamic between those working with and supporting Autistic students. Support staff may be seen by families as closer to them than other school staff, which can make them a bridge.</a:t>
            </a:r>
          </a:p>
          <a:p/>
          <a:p>
            <a:r>
              <a:t>THREAD</a:t>
            </a:r>
          </a:p>
          <a:p>
            <a:r>
              <a:t>The process change chosen here carries into the bridge reflection (slide 19) and the Session 6 conversation plan.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5 min  ·  2:42 - 2:47  ·  Participant Guide p.23 - Student voice</a:t>
            </a:r>
          </a:p>
          <a:p/>
          <a:p>
            <a:r>
              <a:t>PURPOSE</a:t>
            </a:r>
          </a:p>
          <a:p>
            <a:r>
              <a:t>Show what happens when a student is not listened to or consulted.</a:t>
            </a:r>
          </a:p>
          <a:p/>
          <a:p>
            <a:r>
              <a:t>WHAT TO DO</a:t>
            </a:r>
          </a:p>
          <a:p>
            <a:r>
              <a:t>1. Introduce the video as an example of a student who is not listened to or consulted.</a:t>
            </a:r>
          </a:p>
          <a:p>
            <a:r>
              <a:t>2. Ask participants, while watching, to pay attention to what decisions were made and who made them.</a:t>
            </a:r>
          </a:p>
          <a:p>
            <a:r>
              <a:t>3. Play the video.</a:t>
            </a:r>
          </a:p>
          <a:p>
            <a:r>
              <a:t>4. Ask the group: What impact did those decisions have on Adon?</a:t>
            </a:r>
          </a:p>
          <a:p>
            <a:r>
              <a:t>5. Connect to the students participants support: how are their preferences asked and heard? Support staff often hear a student's preferences during the day. How do those reach the teacher?</a:t>
            </a:r>
          </a:p>
          <a:p/>
          <a:p>
            <a:r>
              <a:t>YOU MIGHT SAY</a:t>
            </a:r>
          </a:p>
          <a:p>
            <a:r>
              <a:t>While watching, pay attention to what decisions were made and who made them.</a:t>
            </a:r>
          </a:p>
          <a:p>
            <a:r>
              <a:t>What impact did those decisions have on Adon?</a:t>
            </a:r>
          </a:p>
          <a:p/>
          <a:p>
            <a:r>
              <a:t>KEY MESSAGES</a:t>
            </a:r>
          </a:p>
          <a:p>
            <a:r>
              <a:t>• Students should have a say in decisions about them, at their level and in the way they communicate.</a:t>
            </a:r>
          </a:p>
          <a:p>
            <a:r>
              <a:t>• Even young children can show preferences: choices offered visually, reactions observed and honoured.</a:t>
            </a:r>
          </a:p>
          <a:p>
            <a:r>
              <a:t>• Ask students in a way that works for them: what helps? what's hard? what should staff know?</a:t>
            </a:r>
          </a:p>
          <a:p>
            <a:r>
              <a:t>• Pass on what students tell you in their own words, so the student's view is part of the record.</a:t>
            </a:r>
          </a:p>
          <a:p>
            <a:r>
              <a:t>• This is an early step in building self-advocacy.</a:t>
            </a:r>
          </a:p>
        </p:txBody>
      </p:sp>
    </p:spTree>
    <p:extLst>
      <p:ext uri="{BB962C8B-B14F-4D97-AF65-F5344CB8AC3E}">
        <p14:creationId xmlns:p14="http://schemas.microsoft.com/office/powerpoint/2010/main" val="1841038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8A0A0-7380-C08E-2D70-17F76DB5B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16B5E-5CF6-7FE6-0FB0-2A2E1DB43E8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19B43A1-D97B-9EC2-E9E7-26DF67432322}"/>
              </a:ext>
            </a:extLst>
          </p:cNvPr>
          <p:cNvSpPr>
            <a:spLocks noGrp="1"/>
          </p:cNvSpPr>
          <p:nvPr>
            <p:ph type="body" idx="1"/>
          </p:nvPr>
        </p:nvSpPr>
        <p:spPr/>
        <p:txBody>
          <a:bodyPr/>
          <a:lstStyle/>
          <a:p>
            <a:r>
              <a:t>SUGGESTED TIME: 8 min  ·  2:47 - 2:55  ·  Participant Guide p.24 - Partnership activity</a:t>
            </a:r>
          </a:p>
          <a:p/>
          <a:p>
            <a:r>
              <a:t>PURPOSE</a:t>
            </a:r>
          </a:p>
          <a:p>
            <a:r>
              <a:t>Compare what each partner brings and the challenges they may face, and find what they share.</a:t>
            </a:r>
          </a:p>
          <a:p/>
          <a:p>
            <a:r>
              <a:t>WHAT TO DO</a:t>
            </a:r>
          </a:p>
          <a:p>
            <a:r>
              <a:t>1. Make sure each table has the Partnership activity grid in the Participant Guide (p. 24).</a:t>
            </a:r>
          </a:p>
          <a:p>
            <a:r>
              <a:t>2. Ask table groups to record what each partner brings and what challenges they might face: student, parents and carers, teachers, support staff.</a:t>
            </a:r>
          </a:p>
          <a:p>
            <a:r>
              <a:t>3. Name that the support staff are the people in this room. Ask tables to give that row the same care as the others, and to be specific about what they bring.</a:t>
            </a:r>
          </a:p>
          <a:p>
            <a:r>
              <a:t>4. If a table is stuck on the Support staff row, prompt: the hour-by-hour view of the student's day, relationships with the student and often the family, knowledge of what works across settings, and the trust families place in them.</a:t>
            </a:r>
          </a:p>
          <a:p>
            <a:r>
              <a:t>5. Ask tables to compare: what do all four have in common?</a:t>
            </a:r>
          </a:p>
          <a:p>
            <a:r>
              <a:t>6. Take thoughts on similarities and differences, list the commonalities, and ask what would make the partnership more successful.</a:t>
            </a:r>
          </a:p>
          <a:p/>
          <a:p>
            <a:r>
              <a:t>KEY MESSAGES</a:t>
            </a:r>
          </a:p>
          <a:p>
            <a:r>
              <a:t>• Understanding the challenges and strengths of each partner can help build trust and confidence in the relationship.</a:t>
            </a:r>
          </a:p>
          <a:p>
            <a:r>
              <a:t>• There are similarities and differences between what each partner brings to the partnership.</a:t>
            </a:r>
          </a:p>
          <a:p>
            <a:r>
              <a:t>• Support staff bring knowledge no one else in the partnership holds.</a:t>
            </a:r>
          </a:p>
          <a:p>
            <a:r>
              <a:t>• Everyone has the student at the centre and student voice is included.</a:t>
            </a:r>
          </a:p>
          <a:p>
            <a:r>
              <a:t>• At the heart of all interactions there should be an assumption of good intent regarding the outcomes for the student.</a:t>
            </a:r>
          </a:p>
          <a:p/>
          <a:p>
            <a:r>
              <a:t>ACTIVITY: Table group partnership grid  ·  table groups  ·  8 minutes</a:t>
            </a:r>
          </a:p>
          <a:p>
            <a:r>
              <a:t>Prompt: For each partner: what do they bring, and what challenges might they face?</a:t>
            </a:r>
          </a:p>
          <a:p>
            <a:r>
              <a:t>1. Work through the four partners: student, parents and carers, teachers, support staff.</a:t>
            </a:r>
          </a:p>
          <a:p>
            <a:r>
              <a:t>2. For each, note what they bring and what challenges they might face.</a:t>
            </a:r>
          </a:p>
          <a:p>
            <a:r>
              <a:t>3. Compare: what do all four have in common?</a:t>
            </a:r>
          </a:p>
          <a:p>
            <a:r>
              <a:t>Bring the room back:</a:t>
            </a:r>
          </a:p>
          <a:p>
            <a:r>
              <a:t>• What did your table write in the Support staff row?</a:t>
            </a:r>
          </a:p>
          <a:p>
            <a:r>
              <a:t>• What are the similarities and differences across the four partners?</a:t>
            </a:r>
          </a:p>
          <a:p>
            <a:r>
              <a:t>• What would make the partnership more successful?</a:t>
            </a:r>
          </a:p>
          <a:p>
            <a:r>
              <a:t>Close: List the commonalities the room names and link them to the collaboration principles on slide 4.</a:t>
            </a:r>
          </a:p>
          <a:p/>
          <a:p>
            <a:r>
              <a:t>KEEP IN MIND</a:t>
            </a:r>
          </a:p>
          <a:p>
            <a:r>
              <a:t>• Do not let the Support staff row become an afterthought, or only a list of challenges. Take feedback on it first.</a:t>
            </a:r>
          </a:p>
          <a:p>
            <a:r>
              <a:t>• Keep the Teachers row respectful. Challenges are about workload and systems, not individuals.</a:t>
            </a:r>
          </a:p>
        </p:txBody>
      </p:sp>
    </p:spTree>
    <p:extLst>
      <p:ext uri="{BB962C8B-B14F-4D97-AF65-F5344CB8AC3E}">
        <p14:creationId xmlns:p14="http://schemas.microsoft.com/office/powerpoint/2010/main" val="2419269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23862-DA1D-B1A1-9895-FC9A71AF85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38FBF-1361-F969-DC98-01A54DC72E4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941276F-589B-898A-F5FE-D4D7F4EC37DB}"/>
              </a:ext>
            </a:extLst>
          </p:cNvPr>
          <p:cNvSpPr>
            <a:spLocks noGrp="1"/>
          </p:cNvSpPr>
          <p:nvPr>
            <p:ph type="body" idx="1"/>
          </p:nvPr>
        </p:nvSpPr>
        <p:spPr/>
        <p:txBody>
          <a:bodyPr/>
          <a:lstStyle/>
          <a:p>
            <a:r>
              <a:t>SUGGESTED TIME: 6 min  ·  2:55 - 3:01  ·  Participant Guide p.24 - What works?</a:t>
            </a:r>
          </a:p>
          <a:p/>
          <a:p>
            <a:r>
              <a:t>PURPOSE</a:t>
            </a:r>
          </a:p>
          <a:p>
            <a:r>
              <a:t>Draw on relationships with families that already work, and name the moves that work for everyone at the table.</a:t>
            </a:r>
          </a:p>
          <a:p/>
          <a:p>
            <a:r>
              <a:t>WHAT TO DO</a:t>
            </a:r>
          </a:p>
          <a:p>
            <a:r>
              <a:t>1. Ask participants, in small groups, to think of a family they have or have had a good relationship with.</a:t>
            </a:r>
          </a:p>
          <a:p>
            <a:r>
              <a:t>2. Discuss the prompts on the slide. Many support staff relationships with families are built in everyday moments, such as drop-off, pick-up and the playground.</a:t>
            </a:r>
          </a:p>
          <a:p>
            <a:r>
              <a:t>3. Ask groups to feed back some of the key ideas to the whole room.</a:t>
            </a:r>
          </a:p>
          <a:p>
            <a:r>
              <a:t>4. Point to the list of what works for everyone at the table, and add what each move can look like for support staff.</a:t>
            </a:r>
          </a:p>
          <a:p/>
          <a:p>
            <a:r>
              <a:t>YOU MIGHT SAY</a:t>
            </a:r>
          </a:p>
          <a:p>
            <a:r>
              <a:t>How did you establish this? What does it look like? Why does it work?</a:t>
            </a:r>
          </a:p>
          <a:p/>
          <a:p>
            <a:r>
              <a:t>KEY MESSAGES</a:t>
            </a:r>
          </a:p>
          <a:p>
            <a:r>
              <a:t>• Be prepared: before a meeting, agree with the teacher what observations you will share.</a:t>
            </a:r>
          </a:p>
          <a:p>
            <a:r>
              <a:t>• Share information through the agreed pathway, so the teacher and family hear the same thing.</a:t>
            </a:r>
          </a:p>
          <a:p>
            <a:r>
              <a:t>• Ask questions and seek clarification when a plan or a role is unclear.</a:t>
            </a:r>
          </a:p>
          <a:p>
            <a:r>
              <a:t>• Open with a strength: support staff often know what went well in the day.</a:t>
            </a:r>
          </a:p>
          <a:p>
            <a:r>
              <a:t>• Families may bring a support person. This is normal and allowed, and it can change the dynamic of the meeting.</a:t>
            </a:r>
          </a:p>
          <a:p>
            <a:r>
              <a:t>• If it went wrong: acknowledge it, offer a reset, and bring the teacher in.</a:t>
            </a:r>
          </a:p>
          <a:p/>
          <a:p>
            <a:r>
              <a:t>ACTIVITY: Small group reflection  ·  small groups  ·  6 minutes</a:t>
            </a:r>
          </a:p>
          <a:p>
            <a:r>
              <a:t>Prompt: Think of a family you have a good relationship with. How did you establish this? What does it look like? Why does it work?</a:t>
            </a:r>
          </a:p>
          <a:p>
            <a:r>
              <a:t>1. Think of a family you have or have had a good relationship with.</a:t>
            </a:r>
          </a:p>
          <a:p>
            <a:r>
              <a:t>2. Discuss the three prompts in your group.</a:t>
            </a:r>
          </a:p>
          <a:p>
            <a:r>
              <a:t>3. Keep examples anonymised.</a:t>
            </a:r>
          </a:p>
          <a:p>
            <a:r>
              <a:t>Bring the room back:</a:t>
            </a:r>
          </a:p>
          <a:p>
            <a:r>
              <a:t>• What key ideas came up in your group?</a:t>
            </a:r>
          </a:p>
          <a:p>
            <a:r>
              <a:t>Close: Connect the ideas shared to the list of what works for everyone at the table.</a:t>
            </a:r>
          </a:p>
          <a:p/>
          <a:p>
            <a:r>
              <a:t>BACKGROUND</a:t>
            </a:r>
          </a:p>
          <a:p>
            <a:r>
              <a:t>Parent and family engagement in learning happens when schools and educators support families, understanding and leveraging how they interact with their child's learning, and supporting them to do that in equal partnership with the school. Parents and families need to know how important their continued support for learning is, and that as the experts in their child they are an extremely valuable resource. Educators have a vital role to play here (Barker &amp; Harris, 2020).</a:t>
            </a:r>
          </a:p>
          <a:p/>
          <a:p>
            <a:r>
              <a:t>RESOURCES</a:t>
            </a:r>
          </a:p>
          <a:p>
            <a:r>
              <a:t>Barker, B., &amp; Harris, D. (2020). Parent and Family Engagement: An Implementation Guide for School Communities. Canberra: ARACY</a:t>
            </a:r>
          </a:p>
          <a:p>
            <a:r>
              <a:t>Tett, L. &amp; Macleod, G. (2020) Enacting home-school partnerships: the roles of headteachers, family-learning practitioners and parents, Cambridge Journal of Education, 50:4, 451-468 https://doi.org/10.1080/0305764X.2020.1722062</a:t>
            </a:r>
          </a:p>
        </p:txBody>
      </p:sp>
    </p:spTree>
    <p:extLst>
      <p:ext uri="{BB962C8B-B14F-4D97-AF65-F5344CB8AC3E}">
        <p14:creationId xmlns:p14="http://schemas.microsoft.com/office/powerpoint/2010/main" val="3017701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1 min  ·  3:01 - 3:02</a:t>
            </a:r>
          </a:p>
          <a:p/>
          <a:p>
            <a:r>
              <a:t>PURPOSE</a:t>
            </a:r>
          </a:p>
          <a:p>
            <a:r>
              <a:t>Emphasise listening before solving, and making room for questions, uncertainty and different priorities.</a:t>
            </a:r>
          </a:p>
          <a:p/>
          <a:p>
            <a:r>
              <a:t>WHAT TO DO</a:t>
            </a:r>
          </a:p>
          <a:p>
            <a:r>
              <a:t>1. Read the six practices briefly.</a:t>
            </a:r>
          </a:p>
          <a:p>
            <a:r>
              <a:t>2. Emphasise listening before solving.</a:t>
            </a:r>
          </a:p>
          <a:p>
            <a:r>
              <a:t>3. Make the key point: environment-first thinking applies to meetings too.</a:t>
            </a:r>
          </a:p>
          <a:p/>
          <a:p>
            <a:r>
              <a:t>YOU MIGHT SAY</a:t>
            </a:r>
          </a:p>
          <a:p>
            <a:r>
              <a:t>What could the school change about the process?</a:t>
            </a:r>
          </a:p>
          <a:p/>
          <a:p>
            <a:r>
              <a:t>KEY MESSAGES</a:t>
            </a:r>
          </a:p>
          <a:p>
            <a:r>
              <a:t>• Power is present in meeting structures, language and decision pathways.</a:t>
            </a:r>
          </a:p>
          <a:p>
            <a:r>
              <a:t>• Meeting families where they are begins with listening and clarity.</a:t>
            </a:r>
          </a:p>
          <a:p>
            <a:r>
              <a:t>• Environment-first thinking also applies to consultation processes.</a:t>
            </a:r>
          </a:p>
          <a:p/>
          <a:p>
            <a:r>
              <a:t>KEEP IN MIND</a:t>
            </a:r>
          </a:p>
          <a:p>
            <a:r>
              <a:t>• Avoid judging a family's pace, response or choices.</a:t>
            </a:r>
          </a:p>
          <a:p>
            <a:r>
              <a:t>• Avoid describing a family as difficult, disengaged or unrealistic without examining the context and process.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3:02 - 3:04  ·  Participant Guide p.25 - Consultation checklist</a:t>
            </a:r>
          </a:p>
          <a:p/>
          <a:p>
            <a:r>
              <a:t>PURPOSE</a:t>
            </a:r>
          </a:p>
          <a:p>
            <a:r>
              <a:t>Introduce consultation literacy: asking, listening and following up.</a:t>
            </a:r>
          </a:p>
          <a:p/>
          <a:p>
            <a:r>
              <a:t>WHAT TO DO</a:t>
            </a:r>
          </a:p>
          <a:p>
            <a:r>
              <a:t>1. Walk through what useful consultation includes.</a:t>
            </a:r>
          </a:p>
          <a:p>
            <a:r>
              <a:t>2. Frame the list as a check participants can use before and after a meeting or conversation they are part of.</a:t>
            </a:r>
          </a:p>
          <a:p>
            <a:r>
              <a:t>3. Note that accurate recording matters for support staff too: what the student or family said, in their words, passed on through the agreed pathway.</a:t>
            </a:r>
          </a:p>
          <a:p>
            <a:r>
              <a:t>4. Make the point: ask, listen, and follow up.</a:t>
            </a:r>
          </a:p>
          <a:p/>
          <a:p>
            <a:r>
              <a:t>KEY MESSAGES</a:t>
            </a:r>
          </a:p>
          <a:p>
            <a:r>
              <a:t>• Ask, listen, and follow up.</a:t>
            </a:r>
          </a:p>
          <a:p>
            <a:r>
              <a:t>• Tools should support consultation rather than replace listening and student voice.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3:04 - 3:06</a:t>
            </a:r>
          </a:p>
          <a:p/>
          <a:p>
            <a:r>
              <a:t>PURPOSE</a:t>
            </a:r>
          </a:p>
          <a:p>
            <a:r>
              <a:t>Give practical ways to consult students and families so every voice can be heard.</a:t>
            </a:r>
          </a:p>
          <a:p/>
          <a:p>
            <a:r>
              <a:t>WHAT TO DO</a:t>
            </a:r>
          </a:p>
          <a:p>
            <a:r>
              <a:t>1. Take the two columns in turn: with students, then with families.</a:t>
            </a:r>
          </a:p>
          <a:p>
            <a:r>
              <a:t>2. With students: presume competence, provide communication supports, offer choices, allow time, and act on what students tell us.</a:t>
            </a:r>
          </a:p>
          <a:p>
            <a:r>
              <a:t>3. Point to 'Support - don't speak for'. Support staff often sit beside a student in a meeting. The role is to help the student communicate, not to answer for them.</a:t>
            </a:r>
          </a:p>
          <a:p>
            <a:r>
              <a:t>4. With families: start with the student's strengths, interests and what works well, and listen to families' knowledge of their child without making assumptions.</a:t>
            </a:r>
          </a:p>
          <a:p>
            <a:r>
              <a:t>5. Ask participants to pick one practice from each column to try with the students they support.</a:t>
            </a:r>
          </a:p>
          <a:p/>
          <a:p>
            <a:r>
              <a:t>KEY MESSAGES</a:t>
            </a:r>
          </a:p>
          <a:p>
            <a:r>
              <a:t>• Listen, adapt, give choices, and make it easy for every student to have a voice.</a:t>
            </a:r>
          </a:p>
          <a:p>
            <a:r>
              <a:t>• Ensure trusted supporters assist communication without replacing the student's voice.</a:t>
            </a:r>
          </a:p>
          <a:p>
            <a:r>
              <a:t>• Use plain language and explain educational terms clearly.</a:t>
            </a:r>
          </a:p>
          <a:p>
            <a:r>
              <a:t>• Focus on the student's needs and goals, not just their diagnosis.</a:t>
            </a:r>
          </a:p>
          <a:p>
            <a:r>
              <a:t>• Recognise that some parents will be neurodivergent themselves.</a:t>
            </a:r>
          </a:p>
          <a:p/>
          <a:p>
            <a:r>
              <a:t>BACKGROUND</a:t>
            </a:r>
          </a:p>
          <a:p>
            <a:r>
              <a:t>Student consultation: provide multiple communication options (AAC, visuals, writing, drawing, video, symbols); prepare students in advance with questions, agendas and meeting information; use supported decision-making with simple choices and extra processing time; create sensory-friendly environments; recognise that behaviour is communication and can indicate preferences; build on strengths, interests and preferences; use accessible, strengths-based questions. Family consultation: be respectful of different cultures, experiences and family perspectives; use real examples from school to discuss supports and adjustments; check everyone has the same understanding; agree clear next steps and how progress will be reviewed; keep communication open and ongoing.</a:t>
            </a:r>
          </a:p>
          <a:p/>
          <a:p>
            <a:r>
              <a:t>THREAD</a:t>
            </a:r>
          </a:p>
          <a:p>
            <a:r>
              <a:t>Picks up the consultation with the student and family touched on in the Session 4 commit.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3:06 - 3:08</a:t>
            </a:r>
          </a:p>
          <a:p/>
          <a:p>
            <a:r>
              <a:t>PURPOSE</a:t>
            </a:r>
          </a:p>
          <a:p>
            <a:r>
              <a:t>Introduce meltdown, shutdown and School Can't within partnership discussion, without blame.</a:t>
            </a:r>
          </a:p>
          <a:p/>
          <a:p>
            <a:r>
              <a:t>WHAT TO DO</a:t>
            </a:r>
          </a:p>
          <a:p>
            <a:r>
              <a:t>1. Introduce the three terms without presenting them as wilful behaviour.</a:t>
            </a:r>
          </a:p>
          <a:p>
            <a:r>
              <a:t>2. Note that support staff are often the first to see early signs, and are often with the student when capacity runs out.</a:t>
            </a:r>
          </a:p>
          <a:p>
            <a:r>
              <a:t>3. Connect discussion to accumulated demands, what may not be visible, and what home and school can learn from each other.</a:t>
            </a:r>
          </a:p>
          <a:p>
            <a:r>
              <a:t>4. Point to the focus line: safety, what preceded the situation, what supports recovery and what can change in the environment, task or response.</a:t>
            </a:r>
          </a:p>
          <a:p/>
          <a:p>
            <a:r>
              <a:t>KEY MESSAGES</a:t>
            </a:r>
          </a:p>
          <a:p>
            <a:r>
              <a:t>• Capacity should be discussed without blame.</a:t>
            </a:r>
          </a:p>
          <a:p>
            <a:r>
              <a:t>• Home and school may observe different parts of the student's experience.</a:t>
            </a:r>
          </a:p>
          <a:p>
            <a:r>
              <a:t>• Support staff observations of what came before and what helped recovery are useful to the teacher and family.</a:t>
            </a:r>
          </a:p>
          <a:p>
            <a:r>
              <a:t>• Use non-blaming language and the workshop safety guidance.</a:t>
            </a:r>
          </a:p>
          <a:p/>
          <a:p>
            <a:r>
              <a:t>KEEP IN MIND</a:t>
            </a:r>
          </a:p>
          <a:p>
            <a:r>
              <a:t>• Do not frame meltdown, shutdown or School Can't as wilful misbehaviour or a failure of parenting.</a:t>
            </a:r>
          </a:p>
          <a:p>
            <a:r>
              <a:t>• Do not offer clinical, diagnostic, legal or crisis guidance beyond the material.</a:t>
            </a:r>
          </a:p>
          <a:p>
            <a:r>
              <a:t>• Keep this to support and recovery. Follow the student's plan and school policy. This slide is not about restraint or physical intervention.</a:t>
            </a:r>
          </a:p>
          <a:p/>
          <a:p>
            <a:r>
              <a:t>THREAD</a:t>
            </a:r>
          </a:p>
          <a:p>
            <a:r>
              <a:t>Builds on capacity and accumulated demands from Sessions 2 and 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1 min  ·  3:08 - 3:09</a:t>
            </a:r>
          </a:p>
          <a:p/>
          <a:p>
            <a:r>
              <a:t>PURPOSE</a:t>
            </a:r>
          </a:p>
          <a:p>
            <a:r>
              <a:t>Demonstrate the Partnership tools and explain how they are used.</a:t>
            </a:r>
          </a:p>
          <a:p/>
          <a:p>
            <a:r>
              <a:t>WHAT TO DO</a:t>
            </a:r>
          </a:p>
          <a:p>
            <a:r>
              <a:t>1. Show the Partnership tools and explain how each is used.</a:t>
            </a:r>
          </a:p>
          <a:p>
            <a:r>
              <a:t>2. Frame the tools as supports for consultation, not replacements for listening.</a:t>
            </a:r>
          </a:p>
          <a:p/>
          <a:p>
            <a:r>
              <a:t>KEY MESSAGES</a:t>
            </a:r>
          </a:p>
          <a:p>
            <a:r>
              <a:t>• Tools should support consultation rather than replace listening and student voice.</a:t>
            </a:r>
          </a:p>
        </p:txBody>
      </p:sp>
      <p:sp>
        <p:nvSpPr>
          <p:cNvPr id="4" name="Date Placeholder 3"/>
          <p:cNvSpPr>
            <a:spLocks noGrp="1"/>
          </p:cNvSpPr>
          <p:nvPr>
            <p:ph type="dt" idx="10"/>
          </p:nvPr>
        </p:nvSpPr>
        <p:spPr/>
        <p:txBody>
          <a:bodyPr/>
          <a:lstStyle/>
          <a:p>
            <a:endParaRPr lang="en-AU"/>
          </a:p>
        </p:txBody>
      </p:sp>
    </p:spTree>
    <p:extLst>
      <p:ext uri="{BB962C8B-B14F-4D97-AF65-F5344CB8AC3E}">
        <p14:creationId xmlns:p14="http://schemas.microsoft.com/office/powerpoint/2010/main" val="617367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1 min  ·  3:09 - 3:10</a:t>
            </a:r>
          </a:p>
          <a:p/>
          <a:p>
            <a:r>
              <a:t>PURPOSE</a:t>
            </a:r>
          </a:p>
          <a:p>
            <a:r>
              <a:t>Introduce the NCCD Meetings Tool Kit and direct participants to official NCCD information.</a:t>
            </a:r>
          </a:p>
          <a:p/>
          <a:p>
            <a:r>
              <a:t>WHAT TO DO</a:t>
            </a:r>
          </a:p>
          <a:p>
            <a:r>
              <a:t>1. Explain how the Tool Kit makes the meeting purpose, consultation process, possible adjustments, evidence and next steps clear.</a:t>
            </a:r>
          </a:p>
          <a:p>
            <a:r>
              <a:t>2. Note that the teacher and school lead the NCCD process. Support staff observations and records of the support given can be part of the evidence the school keeps.</a:t>
            </a:r>
          </a:p>
          <a:p>
            <a:r>
              <a:t>3. Remind participants to follow the processes used in their school or system.</a:t>
            </a:r>
          </a:p>
          <a:p>
            <a:r>
              <a:t>4. Direct participants to official NCCD information.</a:t>
            </a:r>
          </a:p>
          <a:p/>
          <a:p>
            <a:r>
              <a:t>KEY MESSAGES</a:t>
            </a:r>
          </a:p>
          <a:p>
            <a:r>
              <a:t>• NCCD information must be current and official.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  ·  3:10 - 3:11</a:t>
            </a:r>
          </a:p>
          <a:p/>
          <a:p>
            <a:r>
              <a:t>PURPOSE</a:t>
            </a:r>
          </a:p>
          <a:p>
            <a:r>
              <a:t>Introduce the support pathways included in the workshop.</a:t>
            </a:r>
          </a:p>
          <a:p/>
          <a:p>
            <a:r>
              <a:t>WHAT TO DO</a:t>
            </a:r>
          </a:p>
          <a:p>
            <a:r>
              <a:t>1. Briefly introduce the Positive Partnerships support options and other supports on the slide.</a:t>
            </a:r>
          </a:p>
          <a:p>
            <a:r>
              <a:t>2. Point participants to Participant Guide p. 30 for resources.</a:t>
            </a:r>
          </a:p>
          <a:p/>
          <a:p>
            <a:r>
              <a:t>KEY MESSAGES</a:t>
            </a:r>
          </a:p>
          <a:p>
            <a:r>
              <a:t>• Introduce the Positive Partnerships support options included with the workshop.</a:t>
            </a:r>
          </a:p>
          <a:p/>
          <a:p>
            <a:r>
              <a:t>KEEP IN MIND</a:t>
            </a:r>
          </a:p>
          <a:p>
            <a:r>
              <a:t>• Check phone numbers and services are current before delivery.</a:t>
            </a:r>
          </a:p>
        </p:txBody>
      </p:sp>
      <p:sp>
        <p:nvSpPr>
          <p:cNvPr id="4" name="Slide Number Placeholder 3"/>
          <p:cNvSpPr>
            <a:spLocks noGrp="1"/>
          </p:cNvSpPr>
          <p:nvPr>
            <p:ph type="sldNum" sz="quarter" idx="10"/>
          </p:nvPr>
        </p:nvSpPr>
        <p:spPr/>
        <p:txBody>
          <a:bodyPr/>
          <a:lstStyle/>
          <a:p>
            <a:pPr defTabSz="966338">
              <a:defRPr/>
            </a:pPr>
            <a:fld id="{548C6345-C4B0-4EAE-A3B4-FCAC51D578EF}" type="slidenum">
              <a:rPr lang="en-AU">
                <a:solidFill>
                  <a:prstClr val="black"/>
                </a:solidFill>
                <a:latin typeface="Calibri" panose="020F0502020204030204"/>
              </a:rPr>
              <a:pPr defTabSz="966338">
                <a:defRPr/>
              </a:pPr>
              <a:t>16</a:t>
            </a:fld>
            <a:endParaRPr lang="en-AU">
              <a:solidFill>
                <a:prstClr val="black"/>
              </a:solidFill>
              <a:latin typeface="Calibri" panose="020F0502020204030204"/>
            </a:endParaRPr>
          </a:p>
        </p:txBody>
      </p:sp>
    </p:spTree>
    <p:extLst>
      <p:ext uri="{BB962C8B-B14F-4D97-AF65-F5344CB8AC3E}">
        <p14:creationId xmlns:p14="http://schemas.microsoft.com/office/powerpoint/2010/main" val="1384576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4 min  ·  3:11 - 3:15  ·  Participant Guide p.25 - Bridge to the next family conversation</a:t>
            </a:r>
          </a:p>
          <a:p/>
          <a:p>
            <a:r>
              <a:t>PURPOSE</a:t>
            </a:r>
          </a:p>
          <a:p>
            <a:r>
              <a:t>Identify the question and shared purpose participants will take into the Session 6 conversation plan.</a:t>
            </a:r>
          </a:p>
          <a:p/>
          <a:p>
            <a:r>
              <a:t>WHAT TO DO</a:t>
            </a:r>
          </a:p>
          <a:p>
            <a:r>
              <a:t>1. Ask participants to return to the students they support and the support they plan to fade.</a:t>
            </a:r>
          </a:p>
          <a:p>
            <a:r>
              <a:t>2. Invite them to work through the prompts on the slide privately.</a:t>
            </a:r>
          </a:p>
          <a:p>
            <a:r>
              <a:t>3. The conversation can be with a family or with the student. If it is with a family, ask participants to plan how the teacher will be part of it.</a:t>
            </a:r>
          </a:p>
          <a:p>
            <a:r>
              <a:t>4. Keep the focus on preparation rather than scripting what the family should say.</a:t>
            </a:r>
          </a:p>
          <a:p>
            <a:r>
              <a:t>5. Ask participants to carry one process change from the power reflection into the plan.</a:t>
            </a:r>
          </a:p>
          <a:p>
            <a:r>
              <a:t>6. Preview the closing session on belonging, capacity, joy and practical next steps.</a:t>
            </a:r>
          </a:p>
          <a:p/>
          <a:p>
            <a:r>
              <a:t>YOU MIGHT SAY</a:t>
            </a:r>
          </a:p>
          <a:p>
            <a:r>
              <a:t>Keep these notes for your conversation plan in Session 6.</a:t>
            </a:r>
          </a:p>
          <a:p/>
          <a:p>
            <a:r>
              <a:t>KEY MESSAGES</a:t>
            </a:r>
          </a:p>
          <a:p>
            <a:r>
              <a:t>• Prepare for one purposeful conversation.</a:t>
            </a:r>
          </a:p>
          <a:p/>
          <a:p>
            <a:r>
              <a:t>ACTIVITY: Private bridge reflection  ·  on your own  ·  4 minutes</a:t>
            </a:r>
          </a:p>
          <a:p>
            <a:r>
              <a:t>Prompt: Prepare for one purposeful conversation.</a:t>
            </a:r>
          </a:p>
          <a:p>
            <a:r>
              <a:t>1. What needs to be understood?</a:t>
            </a:r>
          </a:p>
          <a:p>
            <a:r>
              <a:t>2. What question will open the conversation?</a:t>
            </a:r>
          </a:p>
          <a:p>
            <a:r>
              <a:t>3. How will the student's voice be included?</a:t>
            </a:r>
          </a:p>
          <a:p>
            <a:r>
              <a:t>4. What can be decided together?</a:t>
            </a:r>
          </a:p>
          <a:p>
            <a:r>
              <a:t>5. How and when will the school follow up?</a:t>
            </a:r>
          </a:p>
          <a:p>
            <a:r>
              <a:t>Close: Keep these notes available for the conversation plan in Session 6.</a:t>
            </a:r>
          </a:p>
          <a:p/>
          <a:p>
            <a:r>
              <a:t>THREAD</a:t>
            </a:r>
          </a:p>
          <a:p>
            <a:r>
              <a:t>Connects to the Session 4 commit and 'My students' card ("I will talk with"), the warm handover on slide 6, and the conversation plan in Session 6 (Participant Guide p. 28).</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2:24 - 2:28  ·  Participant Guide p.22 - Session 5 summary</a:t>
            </a:r>
          </a:p>
          <a:p/>
          <a:p>
            <a:r>
              <a:t>PURPOSE</a:t>
            </a:r>
          </a:p>
          <a:p>
            <a:r>
              <a:t>Build a regular, brief and planned communication rhythm with the teacher, working from the teacher's plan.</a:t>
            </a:r>
          </a:p>
          <a:p/>
          <a:p>
            <a:r>
              <a:t>WHAT TO DO</a:t>
            </a:r>
          </a:p>
          <a:p>
            <a:r>
              <a:t>1. Direct people to the slide and read the top line: short, regular and planned works better than catching up when something goes wrong.</a:t>
            </a:r>
          </a:p>
          <a:p>
            <a:r>
              <a:t>2. Walk through the four cards.</a:t>
            </a:r>
          </a:p>
          <a:p>
            <a:r>
              <a:t>3. Regular: a few minutes at a set time, even once a week. Primary example: five minutes at the end of a set lesson each week. Secondary example: a quick check with a subject teacher at the start of a set lesson.</a:t>
            </a:r>
          </a:p>
          <a:p>
            <a:r>
              <a:t>4. Brief and planned: what you saw, what helped, and one question. Keep what you saw separate from what you think it means.</a:t>
            </a:r>
          </a:p>
          <a:p>
            <a:r>
              <a:t>5. The teacher's plan: work from the teacher's plan for the lesson and the student.</a:t>
            </a:r>
          </a:p>
          <a:p>
            <a:r>
              <a:t>6. No plan yet: pause before making up a new support. Ask: 'What should I know to support them well?' and agree a first step.</a:t>
            </a:r>
          </a:p>
          <a:p>
            <a:r>
              <a:t>7. Give 1 minute: note one realistic time in your week for a check-in, and one question you would bring to it.</a:t>
            </a:r>
          </a:p>
          <a:p>
            <a:r>
              <a:t>8. Read the bottom line aloud.</a:t>
            </a:r>
          </a:p>
          <a:p/>
          <a:p>
            <a:r>
              <a:t>YOU MIGHT SAY</a:t>
            </a:r>
          </a:p>
          <a:p>
            <a:r>
              <a:t>What should I know to support them well?</a:t>
            </a:r>
          </a:p>
          <a:p>
            <a:r>
              <a:t>You help deliver adjustments. The teacher plans them with you.</a:t>
            </a:r>
          </a:p>
          <a:p/>
          <a:p>
            <a:r>
              <a:t>KEY MESSAGES</a:t>
            </a:r>
          </a:p>
          <a:p>
            <a:r>
              <a:t>• A short, planned rhythm is more useful than waiting for a problem or relying on a rushed chat in the doorway.</a:t>
            </a:r>
          </a:p>
          <a:p>
            <a:r>
              <a:t>• Specific observations help the teacher plan.</a:t>
            </a:r>
          </a:p>
          <a:p>
            <a:r>
              <a:t>• No plan yet is a reason to ask and agree a first step, not to change the approach alone.</a:t>
            </a:r>
          </a:p>
          <a:p>
            <a:r>
              <a:t>• You help deliver adjustments. The teacher plans them with you.</a:t>
            </a:r>
          </a:p>
          <a:p/>
          <a:p>
            <a:r>
              <a:t>KEEP IN MIND</a:t>
            </a:r>
          </a:p>
          <a:p>
            <a:r>
              <a:t>• Time for this is not always built into support staff hours. Acknowledge that, and keep the rhythm to what is realistic.</a:t>
            </a:r>
          </a:p>
          <a:p>
            <a:r>
              <a:t>• In secondary settings, support staff may work with many teachers. Suggest starting with one.</a:t>
            </a:r>
          </a:p>
          <a:p>
            <a:r>
              <a:t>• Keep the tone collegial: a missing plan is a reason to ask, not a criticism of the teacher.</a:t>
            </a:r>
          </a:p>
          <a:p/>
          <a:p>
            <a:r>
              <a:t>THREAD</a:t>
            </a:r>
          </a:p>
          <a:p>
            <a:r>
              <a:t>Builds on the Session 4 commit ("What will you talk to the teacher about?"). The Session 6 action card asks participants to share one thing with the teacher they work with.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6 min  ·  2:28 - 2:34  ·  Participant Guide p.22 - Session 5 summary</a:t>
            </a:r>
          </a:p>
          <a:p/>
          <a:p>
            <a:r>
              <a:t>PURPOSE</a:t>
            </a:r>
          </a:p>
          <a:p>
            <a:r>
              <a:t>Recognise that families often trust support staff first, and practise receiving what they share and bringing the teacher in through the school's pathway.</a:t>
            </a:r>
          </a:p>
          <a:p/>
          <a:p>
            <a:r>
              <a:t>WHAT TO DO</a:t>
            </a:r>
          </a:p>
          <a:p>
            <a:r>
              <a:t>1. Read the top line: families often trust support staff first. You see them at drop-off, pick-up or the bus bay, and you know the student.</a:t>
            </a:r>
          </a:p>
          <a:p>
            <a:r>
              <a:t>2. Ask: Where do families talk to you? Take 2-3 responses (for example the gate, pick-up, the playground, the bus bay, the community).</a:t>
            </a:r>
          </a:p>
          <a:p>
            <a:r>
              <a:t>3. Community roles: say this directly and give it time. In First Nations communities especially, support staff are often a key link for families and teachers. That link is part of how the school works well for those families and students.</a:t>
            </a:r>
          </a:p>
          <a:p>
            <a:r>
              <a:t>4. If Aboriginal and Torres Strait Islander education officers or other staff in the room want to add to this, make space. Do not ask anyone to speak for their community.</a:t>
            </a:r>
          </a:p>
          <a:p>
            <a:r>
              <a:t>5. Know your pathway: ask participants to think about how concerns are passed on in their school, and what should never sit with them alone. Anything that raises a safety concern follows the school's child protection procedures straight away.</a:t>
            </a:r>
          </a:p>
          <a:p>
            <a:r>
              <a:t>6. The warm handover: read the sentence, then ask the room to say it aloud together or to the person next to them.</a:t>
            </a:r>
          </a:p>
          <a:p>
            <a:r>
              <a:t>7. Keep the trust: tell the family what will happen next, and follow up.</a:t>
            </a:r>
          </a:p>
          <a:p>
            <a:r>
              <a:t>8. Give 1 minute: note who you would go to first in your school, and one part of the pathway you need to check.</a:t>
            </a:r>
          </a:p>
          <a:p>
            <a:r>
              <a:t>9. Read the bottom line aloud.</a:t>
            </a:r>
          </a:p>
          <a:p/>
          <a:p>
            <a:r>
              <a:t>YOU MIGHT SAY</a:t>
            </a:r>
          </a:p>
          <a:p>
            <a:r>
              <a:t>That matters. Can we bring the teacher into this together?</a:t>
            </a:r>
          </a:p>
          <a:p/>
          <a:p>
            <a:r>
              <a:t>KEY MESSAGES</a:t>
            </a:r>
          </a:p>
          <a:p>
            <a:r>
              <a:t>• The trust families place in support staff is a strength. The school's pathway helps you use it well.</a:t>
            </a:r>
          </a:p>
          <a:p>
            <a:r>
              <a:t>• Receive what the family shares, acknowledge it, and bring the teacher in. You do not have to carry it alone.</a:t>
            </a:r>
          </a:p>
          <a:p>
            <a:r>
              <a:t>• Tell the family what will happen next, and follow up.</a:t>
            </a:r>
          </a:p>
          <a:p>
            <a:r>
              <a:t>• In First Nations communities especially, support staff are often a key link for families and teachers.</a:t>
            </a:r>
          </a:p>
          <a:p/>
          <a:p>
            <a:r>
              <a:t>KEEP IN MIND</a:t>
            </a:r>
          </a:p>
          <a:p>
            <a:r>
              <a:t>• Never frame a family's trust in support staff as a problem. It is something the school should value and build on.</a:t>
            </a:r>
          </a:p>
          <a:p>
            <a:r>
              <a:t>• Do not generalise about First Nations families, communities, staff roles or protocols. Follow local, culturally informed guidance.</a:t>
            </a:r>
          </a:p>
          <a:p>
            <a:r>
              <a:t>• Do not invite real family stories or identifiable details. Use general or made-up examples.</a:t>
            </a:r>
          </a:p>
          <a:p>
            <a:r>
              <a:t>• Do not promise families an outcome or confidentiality you cannot keep.</a:t>
            </a:r>
          </a:p>
          <a:p>
            <a:r>
              <a:t>• Keep to what support staff need to know to do their role. Participants should not go looking for more information than the family offers.</a:t>
            </a:r>
          </a:p>
          <a:p/>
          <a:p>
            <a:r>
              <a:t>BACKGROUND</a:t>
            </a:r>
          </a:p>
          <a:p>
            <a:r>
              <a:t>The First Nations point is meant to be delivered with weight, not as an aside. Information-sharing and child protection pathways differ between schools and systems, so the slide asks participants to know their own pathway rather than teaching one.</a:t>
            </a:r>
          </a:p>
          <a:p/>
          <a:p>
            <a:r>
              <a:t>THREAD</a:t>
            </a:r>
          </a:p>
          <a:p>
            <a:r>
              <a:t>The bridge activity (slide 19) and the Session 6 conversation plan can include bringing the teacher into a family conversation.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1D28A-B3EE-B2F8-2D9F-E38956BB4C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091FFC2E-1ACE-62A5-4072-FDF6F0EA0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04599CF-C943-D7C4-7811-263721D4555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1EEF46FB-5BFF-6413-8DC9-C662D210F6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3AE1BB-D8CC-E9DD-8F6F-D88C38DE89A5}"/>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295910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E3CB4-060A-C51F-2EC8-354B364A60F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3379BE2-E71C-D173-20F7-3DC235E13D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F0FBE1-DEF4-01E6-B192-F54120AB142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3D19024-81F6-B24D-2524-4A38F3C7340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7EF9EC-1F2C-3CE9-DEFE-2FF7BA77C9D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36573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B6A3-2485-D4A0-889B-2A92728386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E0D3F2C-BD31-4AAE-2D0A-9FDF485296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1D3BE7-495A-45AB-B509-EF0F34943E9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40B1C35D-E99A-E291-987B-AF21274B258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0857903-8C9F-BACD-61B4-225B4ACBFE1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93137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0A35-C5D0-A8D3-1ED0-DBF6C7038B5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0B0E58A-4B8D-2F6C-6CED-E77C340B9E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31D8A72-9F1F-7780-A02A-6480C7F096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5D4972C-A7FC-EEBF-EB80-07E12A45D2D0}"/>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B2E53512-D333-F27C-FA62-2D6D626AD1C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E326B4B-35FD-594C-461D-73FB077E727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149526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8FB18-6446-C345-2715-2FCD4BBD208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D51CA7F-8671-00FB-2759-AE7473DA2F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592E17-C65A-E73A-04CA-7B10C867F4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12DC5BF-9F4A-A4A9-2DCD-D39C08A7EE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20E987-78C7-89E8-B39B-214F536731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5BB3663-DCDB-9D47-2A05-8C8A1751BD1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8" name="Footer Placeholder 7">
            <a:extLst>
              <a:ext uri="{FF2B5EF4-FFF2-40B4-BE49-F238E27FC236}">
                <a16:creationId xmlns:a16="http://schemas.microsoft.com/office/drawing/2014/main" id="{9A1E0899-2FB9-D5F8-C7D9-6A64DF55DCD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1B0A265-38DC-25F3-63F7-264C7CBC5749}"/>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196331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A0DD-9672-EA32-8499-5F359273C84D}"/>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7A619D4-673B-7869-BDA8-90EF6AE1A4F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4" name="Footer Placeholder 3">
            <a:extLst>
              <a:ext uri="{FF2B5EF4-FFF2-40B4-BE49-F238E27FC236}">
                <a16:creationId xmlns:a16="http://schemas.microsoft.com/office/drawing/2014/main" id="{3DC3F31B-821F-4600-8E2D-5409A083DDD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99563D0-06DF-DDC6-6DE6-F286B2AD439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91107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C158A0-525F-DBD6-072B-A32480F33201}"/>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3" name="Footer Placeholder 2">
            <a:extLst>
              <a:ext uri="{FF2B5EF4-FFF2-40B4-BE49-F238E27FC236}">
                <a16:creationId xmlns:a16="http://schemas.microsoft.com/office/drawing/2014/main" id="{EC38CD13-2E9D-DA86-8592-84CB918BBA0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1326335-F22B-E001-C43D-596FB359436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793934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F21E-74D4-6662-046B-D00B43AFFA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E6EBDC0-FB04-159F-A56E-FCD49D6E2A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14CC297-D38C-33F2-3923-309BA88C8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45D466-15C2-9CF9-49C4-908884E657CA}"/>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E51A267D-366B-4133-F6AE-178CB1C413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9CE10DC-6374-4602-A4F6-08445FF5D48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83169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0875E-4B02-5185-26A1-8AA35D4581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A93C0B0-4CE7-414A-A922-9910F4AE40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A186429-E09E-E274-D9B2-B9FF7D73DC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BDFA4-C431-D3D2-E11D-6B0825CAC2E6}"/>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D68A784D-C53A-7D39-41EB-A5FAB54CAA0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9DF602B-2F43-D06E-EEA1-A5842078DF4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46965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BFF24-BA52-E356-2969-BBEC613C5B3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FE647FD-F15F-0F7E-6331-911A43B458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229ABCC-425E-F40B-430F-6DBE435D59C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6ADAE07-2F6D-543D-8ADD-06E28BD16A3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6E3D450-00E6-5570-3748-99DB1FFF86AE}"/>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078430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977934-68A4-5202-087B-135726E7E4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0513942-979E-AFC8-F6F0-1B745E88E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ADD712E-6F85-5F6F-2C74-2CEEBD8D63A8}"/>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8B04549D-D6FE-6A64-0BA2-1D595DEB189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8DA3E06-3B8D-A569-B398-19316245599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3880623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F2001-A193-4D5D-A091-B92800E3CAF8}"/>
              </a:ext>
            </a:extLst>
          </p:cNvPr>
          <p:cNvSpPr>
            <a:spLocks noGrp="1"/>
          </p:cNvSpPr>
          <p:nvPr>
            <p:ph type="title"/>
          </p:nvPr>
        </p:nvSpPr>
        <p:spPr>
          <a:xfrm>
            <a:off x="695326" y="555852"/>
            <a:ext cx="10801350" cy="523220"/>
          </a:xfrm>
        </p:spPr>
        <p:txBody>
          <a:bodyPr/>
          <a:lstStyle>
            <a:lvl1pPr>
              <a:defRPr sz="4000"/>
            </a:lvl1pPr>
          </a:lstStyle>
          <a:p>
            <a:r>
              <a:rPr lang="en-US"/>
              <a:t>Click to edit Master title style</a:t>
            </a:r>
            <a:endParaRPr lang="en-AU"/>
          </a:p>
        </p:txBody>
      </p:sp>
    </p:spTree>
    <p:extLst>
      <p:ext uri="{BB962C8B-B14F-4D97-AF65-F5344CB8AC3E}">
        <p14:creationId xmlns:p14="http://schemas.microsoft.com/office/powerpoint/2010/main" val="210504356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A2D69F-858A-1B9A-29B7-9C2FE4AA8D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8B2ED96-8E16-D26A-34FC-9612F0C054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4CBCBF3-792B-3F72-232C-3BB15CC787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B22C0ED6-9CA2-5575-50F9-C6F846B015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D4396C1-8D9B-39FF-FBFF-EAB2040EDB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AFDF43-DACD-40EF-801D-14F8956C6332}" type="slidenum">
              <a:rPr lang="en-AU" smtClean="0"/>
              <a:t>‹#›</a:t>
            </a:fld>
            <a:endParaRPr lang="en-AU"/>
          </a:p>
        </p:txBody>
      </p:sp>
    </p:spTree>
    <p:extLst>
      <p:ext uri="{BB962C8B-B14F-4D97-AF65-F5344CB8AC3E}">
        <p14:creationId xmlns:p14="http://schemas.microsoft.com/office/powerpoint/2010/main" val="1684930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7.xml"/><Relationship Id="rId3" Type="http://schemas.openxmlformats.org/officeDocument/2006/relationships/notesSlide" Target="../notesSlides/notesSl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microsoft.com/office/2018/10/relationships/comments" Target="../comments/modernComment_346_3E00D4D8.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microsoft.com/office/2018/10/relationships/comments" Target="../comments/modernComment_34C_A86DA66C.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7.xml"/><Relationship Id="rId3" Type="http://schemas.openxmlformats.org/officeDocument/2006/relationships/notesSlide" Target="../notesSlides/notesSlide5.xml"/><Relationship Id="rId4" Type="http://schemas.openxmlformats.org/officeDocument/2006/relationships/image" Target="../media/image5.png"/><Relationship Id="rId5" Type="http://schemas.openxmlformats.org/officeDocument/2006/relationships/image" Target="../media/image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tags" Target="../tags/tag3.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slideLayout" Target="../slideLayouts/slideLayout12.xml"/><Relationship Id="rId5" Type="http://schemas.openxmlformats.org/officeDocument/2006/relationships/notesSlide" Target="../notesSlides/notesSlide7.xml"/><Relationship Id="rId6" Type="http://schemas.openxmlformats.org/officeDocument/2006/relationships/image" Target="../media/image7.svg"/><Relationship Id="rId7"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e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xml"/><Relationship Id="rId3" Type="http://schemas.openxmlformats.org/officeDocument/2006/relationships/notesSlide" Target="../notesSlides/notesSlide16.xml"/><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jpeg"/><Relationship Id="rId8"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CD1B9-A570-DB32-424F-E4936D559176}"/>
            </a:ext>
          </a:extLst>
        </p:cNvPr>
        <p:cNvGrpSpPr/>
        <p:nvPr/>
      </p:nvGrpSpPr>
      <p:grpSpPr>
        <a:xfrm>
          <a:off x="0" y="0"/>
          <a:ext cx="0" cy="0"/>
          <a:chOff x="0" y="0"/>
          <a:chExt cx="0" cy="0"/>
        </a:xfrm>
      </p:grpSpPr>
      <p:sp>
        <p:nvSpPr>
          <p:cNvPr id="13" name="Oval 12"/>
          <p:cNvSpPr/>
          <p:nvPr/>
        </p:nvSpPr>
        <p:spPr>
          <a:xfrm>
            <a:off x="8549640" y="4663440"/>
            <a:ext cx="4873752" cy="4873752"/>
          </a:xfrm>
          <a:prstGeom prst="ellipse">
            <a:avLst/>
          </a:prstGeom>
          <a:solidFill>
            <a:srgbClr val="EDE8F8"/>
          </a:solidFill>
          <a:ln>
            <a:noFill/>
          </a:ln>
        </p:spPr>
        <p:txBody>
          <a:bodyPr rtlCol="0" anchor="ctr"/>
          <a:lstStyle/>
          <a:p>
            <a:pPr algn="ctr"/>
            <a:endParaRPr/>
          </a:p>
        </p:txBody>
      </p:sp>
      <p:pic>
        <p:nvPicPr>
          <p:cNvPr id="4" name="Picture 3">
            <a:extLst>
              <a:ext uri="{FF2B5EF4-FFF2-40B4-BE49-F238E27FC236}">
                <a16:creationId xmlns:a16="http://schemas.microsoft.com/office/drawing/2014/main" id="{FE5D2DEF-3A6F-22DF-DC11-FD415D02042D}"/>
              </a:ext>
            </a:extLst>
          </p:cNvPr>
          <p:cNvPicPr>
            <a:picLocks noChangeAspect="1"/>
          </p:cNvPicPr>
          <p:nvPr/>
        </p:nvPicPr>
        <p:blipFill>
          <a:blip r:embed="rId4">
            <a:extLst>
              <a:ext uri="{28A0092B-C50C-407E-A947-70E740481C1C}">
                <a14:useLocalDpi xmlns:a14="http://schemas.microsoft.com/office/drawing/2010/main" val="0"/>
              </a:ext>
            </a:extLst>
          </a:blip>
          <a:srcRect l="8535" r="8535"/>
          <a:stretch>
            <a:fillRect/>
          </a:stretch>
        </p:blipFill>
        <p:spPr>
          <a:xfrm>
            <a:off x="0" y="0"/>
            <a:ext cx="6766560" cy="6858000"/>
          </a:xfrm>
          <a:prstGeom prst="rect">
            <a:avLst/>
          </a:prstGeom>
          <a:scene3d>
            <a:camera prst="orthographicFront">
              <a:rot lat="0" lon="10800000" rev="0"/>
            </a:camera>
            <a:lightRig rig="threePt" dir="t"/>
          </a:scene3d>
        </p:spPr>
      </p:pic>
      <p:sp>
        <p:nvSpPr>
          <p:cNvPr id="12" name="Title 3">
            <a:extLst>
              <a:ext uri="{FF2B5EF4-FFF2-40B4-BE49-F238E27FC236}">
                <a16:creationId xmlns:a16="http://schemas.microsoft.com/office/drawing/2014/main" id="{1F7B0FA0-9D53-70A9-352A-BBC0EC34F991}"/>
              </a:ext>
            </a:extLst>
          </p:cNvPr>
          <p:cNvSpPr txBox="1">
            <a:spLocks/>
          </p:cNvSpPr>
          <p:nvPr/>
        </p:nvSpPr>
        <p:spPr>
          <a:xfrm>
            <a:off x="7269480" y="1097280"/>
            <a:ext cx="4297680" cy="4206240"/>
          </a:xfrm>
          <a:prstGeom prst="rect">
            <a:avLst/>
          </a:prstGeom>
          <a:solidFill>
            <a:schemeClr val="bg1"/>
          </a:solidFill>
        </p:spPr>
        <p:txBody>
          <a:bodyPr vert="horz" wrap="square" lIns="0" tIns="0" rIns="0" bIns="0" rtlCol="0" anchor="ctr">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100000"/>
              </a:lnSpc>
              <a:spcBef>
                <a:spcPts val="0"/>
              </a:spcBef>
              <a:buNone/>
            </a:pPr>
            <a:r>
              <a:rPr lang="en-AU" sz="1600" b="1" dirty="0">
                <a:solidFill>
                  <a:srgbClr val="584099"/>
                </a:solidFill>
                <a:latin typeface="Arial"/>
                <a:ea typeface="Arial"/>
                <a:cs typeface="Arial"/>
              </a:rPr>
              <a:t>Education Support Staff · Session 5</a:t>
            </a:r>
          </a:p>
          <a:p>
            <a:pPr marL="0" indent="0" algn="l">
              <a:lnSpc>
                <a:spcPct val="95000"/>
              </a:lnSpc>
              <a:spcBef>
                <a:spcPts val="1000"/>
              </a:spcBef>
              <a:buNone/>
            </a:pPr>
            <a:r>
              <a:rPr lang="en-AU" sz="3600" b="0" dirty="0">
                <a:solidFill>
                  <a:srgbClr val="584099"/>
                </a:solidFill>
                <a:latin typeface="Arial Black"/>
                <a:ea typeface="Arial Black"/>
                <a:cs typeface="Arial Black"/>
              </a:rPr>
              <a:t>Working in Partnership</a:t>
            </a:r>
          </a:p>
        </p:txBody>
      </p:sp>
    </p:spTree>
    <p:custDataLst>
      <p:tags r:id="rId1"/>
    </p:custDataLst>
    <p:extLst>
      <p:ext uri="{BB962C8B-B14F-4D97-AF65-F5344CB8AC3E}">
        <p14:creationId xmlns:p14="http://schemas.microsoft.com/office/powerpoint/2010/main" val="2715102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382F8-452B-88C6-A84D-650D7D2C34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A4E05F-DA50-6B99-BED1-648587EBB41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Working in partnership</a:t>
            </a:r>
          </a:p>
        </p:txBody>
      </p:sp>
      <p:sp>
        <p:nvSpPr>
          <p:cNvPr id="6" name="Oval 5"/>
          <p:cNvSpPr/>
          <p:nvPr/>
        </p:nvSpPr>
        <p:spPr>
          <a:xfrm>
            <a:off x="109728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7" name="TextBox 6"/>
          <p:cNvSpPr txBox="1"/>
          <p:nvPr/>
        </p:nvSpPr>
        <p:spPr>
          <a:xfrm>
            <a:off x="123444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Family</a:t>
            </a:r>
          </a:p>
        </p:txBody>
      </p:sp>
      <p:sp>
        <p:nvSpPr>
          <p:cNvPr id="8" name="Oval 7"/>
          <p:cNvSpPr/>
          <p:nvPr/>
        </p:nvSpPr>
        <p:spPr>
          <a:xfrm>
            <a:off x="283464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9" name="TextBox 8"/>
          <p:cNvSpPr txBox="1"/>
          <p:nvPr/>
        </p:nvSpPr>
        <p:spPr>
          <a:xfrm>
            <a:off x="361188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School staff</a:t>
            </a:r>
          </a:p>
        </p:txBody>
      </p:sp>
      <p:sp>
        <p:nvSpPr>
          <p:cNvPr id="10" name="Oval 9"/>
          <p:cNvSpPr/>
          <p:nvPr/>
        </p:nvSpPr>
        <p:spPr>
          <a:xfrm>
            <a:off x="1965960" y="315468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11" name="TextBox 10"/>
          <p:cNvSpPr txBox="1"/>
          <p:nvPr/>
        </p:nvSpPr>
        <p:spPr>
          <a:xfrm>
            <a:off x="2377440" y="530352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Support staff</a:t>
            </a:r>
          </a:p>
        </p:txBody>
      </p:sp>
      <p:sp>
        <p:nvSpPr>
          <p:cNvPr id="12" name="Oval 11"/>
          <p:cNvSpPr/>
          <p:nvPr/>
        </p:nvSpPr>
        <p:spPr>
          <a:xfrm>
            <a:off x="2890311" y="3337560"/>
            <a:ext cx="1316736" cy="640080"/>
          </a:xfrm>
          <a:prstGeom prst="ellipse">
            <a:avLst/>
          </a:prstGeom>
          <a:solidFill>
            <a:srgbClr val="584099"/>
          </a:solidFill>
          <a:ln>
            <a:noFill/>
          </a:ln>
        </p:spPr>
        <p:txBody>
          <a:bodyPr rtlCol="0" anchor="ctr"/>
          <a:lstStyle/>
          <a:p>
            <a:pPr algn="ctr"/>
            <a:endParaRPr/>
          </a:p>
        </p:txBody>
      </p:sp>
      <p:sp>
        <p:nvSpPr>
          <p:cNvPr id="14" name="Rounded Rectangle 13"/>
          <p:cNvSpPr/>
          <p:nvPr/>
        </p:nvSpPr>
        <p:spPr>
          <a:xfrm>
            <a:off x="6949440" y="1920240"/>
            <a:ext cx="4556455" cy="3291840"/>
          </a:xfrm>
          <a:prstGeom prst="roundRect">
            <a:avLst>
              <a:gd name="adj" fmla="val 8000"/>
            </a:avLst>
          </a:prstGeom>
          <a:solidFill>
            <a:srgbClr val="F3F0FA"/>
          </a:solidFill>
          <a:ln>
            <a:noFill/>
          </a:ln>
        </p:spPr>
        <p:txBody>
          <a:bodyPr rtlCol="0" anchor="ctr"/>
          <a:lstStyle/>
          <a:p>
            <a:pPr algn="ctr"/>
            <a:endParaRPr/>
          </a:p>
        </p:txBody>
      </p:sp>
      <p:pic>
        <p:nvPicPr>
          <p:cNvPr id="15" name="Discussion icon" descr="Speech bubbl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69480" y="2240280"/>
            <a:ext cx="658368" cy="658368"/>
          </a:xfrm>
          <a:prstGeom prst="rect">
            <a:avLst/>
          </a:prstGeom>
        </p:spPr>
      </p:pic>
      <p:sp>
        <p:nvSpPr>
          <p:cNvPr id="16" name="TextBox 15"/>
          <p:cNvSpPr txBox="1"/>
          <p:nvPr/>
        </p:nvSpPr>
        <p:spPr>
          <a:xfrm>
            <a:off x="7269480" y="3017520"/>
            <a:ext cx="3931920" cy="201168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What is the goal of these intersecting partnerships?</a:t>
            </a:r>
          </a:p>
          <a:p>
            <a:pPr marL="0" indent="0" algn="l">
              <a:lnSpc>
                <a:spcPct val="100000"/>
              </a:lnSpc>
              <a:spcBef>
                <a:spcPts val="1200"/>
              </a:spcBef>
              <a:buNone/>
            </a:pPr>
            <a:r>
              <a:rPr lang="en-AU" sz="1600" b="0">
                <a:solidFill>
                  <a:srgbClr val="2D2440"/>
                </a:solidFill>
                <a:latin typeface="Arial"/>
                <a:ea typeface="Arial"/>
                <a:cs typeface="Arial"/>
              </a:rPr>
              <a:t>Every partner brings different knowledge and a different relationship with the student.</a:t>
            </a:r>
          </a:p>
          <a:p>
            <a:pPr marL="0" indent="0" algn="l">
              <a:lnSpc>
                <a:spcPct val="100000"/>
              </a:lnSpc>
              <a:spcBef>
                <a:spcPts val="1200"/>
              </a:spcBef>
              <a:buNone/>
            </a:pPr>
            <a:r>
              <a:rPr lang="en-AU" sz="1600" b="1">
                <a:solidFill>
                  <a:srgbClr val="584099"/>
                </a:solidFill>
                <a:latin typeface="Arial"/>
                <a:ea typeface="Arial"/>
                <a:cs typeface="Arial"/>
              </a:rPr>
              <a:t>The student is at the centre of every partnership.</a:t>
            </a:r>
          </a:p>
        </p:txBody>
      </p:sp>
      <p:sp>
        <p:nvSpPr>
          <p:cNvPr id="2" name="TextBox 1">
            <a:extLst>
              <a:ext uri="{FF2B5EF4-FFF2-40B4-BE49-F238E27FC236}">
                <a16:creationId xmlns:a16="http://schemas.microsoft.com/office/drawing/2014/main" id="{C758B936-5435-16D0-6819-E05EF9A278A0}"/>
              </a:ext>
            </a:extLst>
          </p:cNvPr>
          <p:cNvSpPr txBox="1"/>
          <p:nvPr/>
        </p:nvSpPr>
        <p:spPr>
          <a:xfrm>
            <a:off x="2743200" y="3322768"/>
            <a:ext cx="164592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700" b="0">
                <a:solidFill>
                  <a:srgbClr val="FFFFFF"/>
                </a:solidFill>
                <a:latin typeface="Arial Black"/>
                <a:ea typeface="Arial Black"/>
                <a:cs typeface="Arial Black"/>
              </a:rPr>
              <a:t>Student</a:t>
            </a:r>
          </a:p>
        </p:txBody>
      </p:sp>
    </p:spTree>
    <p:extLst>
      <p:ext uri="{BB962C8B-B14F-4D97-AF65-F5344CB8AC3E}">
        <p14:creationId xmlns:p14="http://schemas.microsoft.com/office/powerpoint/2010/main" val="104024188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2A71-DB4E-97BC-3132-9E28665CA63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B504D76-083F-2200-C970-1C646DB25B35}"/>
              </a:ext>
            </a:extLst>
          </p:cNvPr>
          <p:cNvSpPr txBox="1"/>
          <p:nvPr/>
        </p:nvSpPr>
        <p:spPr>
          <a:xfrm>
            <a:off x="685800" y="457200"/>
            <a:ext cx="5445106" cy="1188720"/>
          </a:xfrm>
          <a:prstGeom prst="rect">
            <a:avLst/>
          </a:prstGeom>
          <a:solidFill>
            <a:schemeClr val="bg1"/>
          </a:solidFill>
        </p:spPr>
        <p:txBody>
          <a:bodyPr wrap="square" lIns="0" tIns="0" rIns="0" bIns="0" rtlCol="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Building a home-school partnership</a:t>
            </a:r>
          </a:p>
        </p:txBody>
      </p:sp>
      <p:pic>
        <p:nvPicPr>
          <p:cNvPr id="7" name="Picture 6">
            <a:extLst>
              <a:ext uri="{FF2B5EF4-FFF2-40B4-BE49-F238E27FC236}">
                <a16:creationId xmlns:a16="http://schemas.microsoft.com/office/drawing/2014/main" id="{5C0225A2-F084-EEFE-AA8A-46A192737F61}"/>
              </a:ext>
            </a:extLst>
          </p:cNvPr>
          <p:cNvPicPr>
            <a:picLocks noChangeAspect="1"/>
          </p:cNvPicPr>
          <p:nvPr/>
        </p:nvPicPr>
        <p:blipFill>
          <a:blip r:embed="rId3">
            <a:extLst>
              <a:ext uri="{28A0092B-C50C-407E-A947-70E740481C1C}">
                <a14:useLocalDpi xmlns:a14="http://schemas.microsoft.com/office/drawing/2010/main" val="0"/>
              </a:ext>
            </a:extLst>
          </a:blip>
          <a:srcRect l="3919" r="29143"/>
          <a:stretch>
            <a:fillRect/>
          </a:stretch>
        </p:blipFill>
        <p:spPr>
          <a:xfrm>
            <a:off x="6405226" y="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9" name="Rounded Rectangle 8"/>
          <p:cNvSpPr/>
          <p:nvPr/>
        </p:nvSpPr>
        <p:spPr>
          <a:xfrm>
            <a:off x="685800" y="1783080"/>
            <a:ext cx="5353666" cy="603504"/>
          </a:xfrm>
          <a:prstGeom prst="roundRect">
            <a:avLst>
              <a:gd name="adj" fmla="val 25000"/>
            </a:avLst>
          </a:prstGeom>
          <a:solidFill>
            <a:srgbClr val="F3F0FA"/>
          </a:solidFill>
          <a:ln>
            <a:noFill/>
          </a:ln>
        </p:spPr>
        <p:txBody>
          <a:bodyPr rtlCol="0" anchor="ctr"/>
          <a:lstStyle/>
          <a:p>
            <a:pPr algn="ctr"/>
            <a:endParaRPr/>
          </a:p>
        </p:txBody>
      </p:sp>
      <p:sp>
        <p:nvSpPr>
          <p:cNvPr id="10" name="TextBox 9"/>
          <p:cNvSpPr txBox="1"/>
          <p:nvPr/>
        </p:nvSpPr>
        <p:spPr>
          <a:xfrm>
            <a:off x="960120" y="1783080"/>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Parents and families are the first and continuing educators of their children</a:t>
            </a:r>
          </a:p>
        </p:txBody>
      </p:sp>
      <p:sp>
        <p:nvSpPr>
          <p:cNvPr id="11" name="Rounded Rectangle 10"/>
          <p:cNvSpPr/>
          <p:nvPr/>
        </p:nvSpPr>
        <p:spPr>
          <a:xfrm>
            <a:off x="685800" y="2478024"/>
            <a:ext cx="5353666" cy="603504"/>
          </a:xfrm>
          <a:prstGeom prst="roundRect">
            <a:avLst>
              <a:gd name="adj" fmla="val 25000"/>
            </a:avLst>
          </a:prstGeom>
          <a:solidFill>
            <a:srgbClr val="F3F0FA"/>
          </a:solidFill>
          <a:ln>
            <a:noFill/>
          </a:ln>
        </p:spPr>
        <p:txBody>
          <a:bodyPr rtlCol="0" anchor="ctr"/>
          <a:lstStyle/>
          <a:p>
            <a:pPr algn="ctr"/>
            <a:endParaRPr/>
          </a:p>
        </p:txBody>
      </p:sp>
      <p:sp>
        <p:nvSpPr>
          <p:cNvPr id="12" name="TextBox 11"/>
          <p:cNvSpPr txBox="1"/>
          <p:nvPr/>
        </p:nvSpPr>
        <p:spPr>
          <a:xfrm>
            <a:off x="960120" y="2478024"/>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Learning is lifelong and occurs in multiple settings</a:t>
            </a:r>
          </a:p>
        </p:txBody>
      </p:sp>
      <p:sp>
        <p:nvSpPr>
          <p:cNvPr id="13" name="Rounded Rectangle 12"/>
          <p:cNvSpPr/>
          <p:nvPr/>
        </p:nvSpPr>
        <p:spPr>
          <a:xfrm>
            <a:off x="685800" y="3172968"/>
            <a:ext cx="5353666" cy="603504"/>
          </a:xfrm>
          <a:prstGeom prst="roundRect">
            <a:avLst>
              <a:gd name="adj" fmla="val 25000"/>
            </a:avLst>
          </a:prstGeom>
          <a:solidFill>
            <a:srgbClr val="F3F0FA"/>
          </a:solidFill>
          <a:ln>
            <a:noFill/>
          </a:ln>
        </p:spPr>
        <p:txBody>
          <a:bodyPr rtlCol="0" anchor="ctr"/>
          <a:lstStyle/>
          <a:p>
            <a:pPr algn="ctr"/>
            <a:endParaRPr/>
          </a:p>
        </p:txBody>
      </p:sp>
      <p:sp>
        <p:nvSpPr>
          <p:cNvPr id="14" name="TextBox 13"/>
          <p:cNvSpPr txBox="1"/>
          <p:nvPr/>
        </p:nvSpPr>
        <p:spPr>
          <a:xfrm>
            <a:off x="960120" y="3172968"/>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schools and school communities flourish when the diversity and strengths of families are valued and leveraged</a:t>
            </a:r>
          </a:p>
        </p:txBody>
      </p:sp>
      <p:sp>
        <p:nvSpPr>
          <p:cNvPr id="15" name="Rounded Rectangle 14"/>
          <p:cNvSpPr/>
          <p:nvPr/>
        </p:nvSpPr>
        <p:spPr>
          <a:xfrm>
            <a:off x="685800" y="3867912"/>
            <a:ext cx="5353666" cy="603504"/>
          </a:xfrm>
          <a:prstGeom prst="roundRect">
            <a:avLst>
              <a:gd name="adj" fmla="val 25000"/>
            </a:avLst>
          </a:prstGeom>
          <a:solidFill>
            <a:srgbClr val="F3F0FA"/>
          </a:solidFill>
          <a:ln>
            <a:noFill/>
          </a:ln>
        </p:spPr>
        <p:txBody>
          <a:bodyPr rtlCol="0" anchor="ctr"/>
          <a:lstStyle/>
          <a:p>
            <a:pPr algn="ctr"/>
            <a:endParaRPr/>
          </a:p>
        </p:txBody>
      </p:sp>
      <p:sp>
        <p:nvSpPr>
          <p:cNvPr id="16" name="TextBox 15"/>
          <p:cNvSpPr txBox="1"/>
          <p:nvPr/>
        </p:nvSpPr>
        <p:spPr>
          <a:xfrm>
            <a:off x="960120" y="3867912"/>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Community engagement expands responsibility and resources</a:t>
            </a:r>
          </a:p>
        </p:txBody>
      </p:sp>
      <p:sp>
        <p:nvSpPr>
          <p:cNvPr id="17" name="Rounded Rectangle 16"/>
          <p:cNvSpPr/>
          <p:nvPr/>
        </p:nvSpPr>
        <p:spPr>
          <a:xfrm>
            <a:off x="685800" y="4562856"/>
            <a:ext cx="5353666" cy="603504"/>
          </a:xfrm>
          <a:prstGeom prst="roundRect">
            <a:avLst>
              <a:gd name="adj" fmla="val 25000"/>
            </a:avLst>
          </a:prstGeom>
          <a:solidFill>
            <a:srgbClr val="F3F0FA"/>
          </a:solidFill>
          <a:ln>
            <a:noFill/>
          </a:ln>
        </p:spPr>
        <p:txBody>
          <a:bodyPr rtlCol="0" anchor="ctr"/>
          <a:lstStyle/>
          <a:p>
            <a:pPr algn="ctr"/>
            <a:endParaRPr/>
          </a:p>
        </p:txBody>
      </p:sp>
      <p:sp>
        <p:nvSpPr>
          <p:cNvPr id="18" name="TextBox 17"/>
          <p:cNvSpPr txBox="1"/>
          <p:nvPr/>
        </p:nvSpPr>
        <p:spPr>
          <a:xfrm>
            <a:off x="960120" y="4562856"/>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grow from mutual trust, respect and responsibility</a:t>
            </a:r>
          </a:p>
        </p:txBody>
      </p:sp>
      <p:sp>
        <p:nvSpPr>
          <p:cNvPr id="19" name="Rounded Rectangle 18"/>
          <p:cNvSpPr/>
          <p:nvPr/>
        </p:nvSpPr>
        <p:spPr>
          <a:xfrm>
            <a:off x="685800" y="5257800"/>
            <a:ext cx="5353666" cy="603504"/>
          </a:xfrm>
          <a:prstGeom prst="roundRect">
            <a:avLst>
              <a:gd name="adj" fmla="val 25000"/>
            </a:avLst>
          </a:prstGeom>
          <a:solidFill>
            <a:srgbClr val="F3F0FA"/>
          </a:solidFill>
          <a:ln>
            <a:noFill/>
          </a:ln>
        </p:spPr>
        <p:txBody>
          <a:bodyPr rtlCol="0" anchor="ctr"/>
          <a:lstStyle/>
          <a:p>
            <a:pPr algn="ctr"/>
            <a:endParaRPr/>
          </a:p>
        </p:txBody>
      </p:sp>
      <p:sp>
        <p:nvSpPr>
          <p:cNvPr id="20" name="TextBox 19"/>
          <p:cNvSpPr txBox="1"/>
          <p:nvPr/>
        </p:nvSpPr>
        <p:spPr>
          <a:xfrm>
            <a:off x="960120" y="5257800"/>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need committed, collaborative and creative leadership</a:t>
            </a:r>
          </a:p>
        </p:txBody>
      </p:sp>
      <p:sp>
        <p:nvSpPr>
          <p:cNvPr id="21" name="TextBox 20"/>
          <p:cNvSpPr txBox="1"/>
          <p:nvPr/>
        </p:nvSpPr>
        <p:spPr>
          <a:xfrm>
            <a:off x="685800" y="5998464"/>
            <a:ext cx="5353666" cy="365760"/>
          </a:xfrm>
          <a:prstGeom prst="rect">
            <a:avLst/>
          </a:prstGeom>
          <a:noFill/>
        </p:spPr>
        <p:txBody>
          <a:bodyPr wrap="square" lIns="0" tIns="0" rIns="0" bIns="0" anchor="t">
            <a:noAutofit/>
          </a:bodyPr>
          <a:lstStyle/>
          <a:p>
            <a:pPr marL="0" indent="0" algn="l">
              <a:lnSpc>
                <a:spcPct val="100000"/>
              </a:lnSpc>
              <a:spcBef>
                <a:spcPts val="0"/>
              </a:spcBef>
              <a:buNone/>
            </a:pPr>
            <a:r>
              <a:rPr lang="en-AU" sz="1100" b="0">
                <a:solidFill>
                  <a:srgbClr val="5B5670"/>
                </a:solidFill>
                <a:latin typeface="Arial"/>
                <a:ea typeface="Arial"/>
                <a:cs typeface="Arial"/>
              </a:rPr>
              <a:t>Family-School Partnerships Framework, Department of Education, 2020</a:t>
            </a:r>
          </a:p>
        </p:txBody>
      </p:sp>
    </p:spTree>
    <p:extLst>
      <p:ext uri="{BB962C8B-B14F-4D97-AF65-F5344CB8AC3E}">
        <p14:creationId xmlns:p14="http://schemas.microsoft.com/office/powerpoint/2010/main" val="58971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9244D-510C-C6BB-761F-A461E115D58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7876DD-2B34-7063-87FE-E7FB353BEA9D}"/>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What is effective collaboration?</a:t>
            </a:r>
          </a:p>
        </p:txBody>
      </p:sp>
      <p:pic>
        <p:nvPicPr>
          <p:cNvPr id="3" name="Graphic 2" descr="Open hand with plant with solid fill">
            <a:extLst>
              <a:ext uri="{FF2B5EF4-FFF2-40B4-BE49-F238E27FC236}">
                <a16:creationId xmlns:a16="http://schemas.microsoft.com/office/drawing/2014/main" id="{3100122F-92D3-EF73-C7AD-7DFAAD7A4B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32808" y="2148840"/>
            <a:ext cx="2926080" cy="2926080"/>
          </a:xfrm>
          <a:prstGeom prst="rect">
            <a:avLst/>
          </a:prstGeom>
        </p:spPr>
      </p:pic>
      <p:sp>
        <p:nvSpPr>
          <p:cNvPr id="23" name="Rounded Rectangle 22"/>
          <p:cNvSpPr/>
          <p:nvPr/>
        </p:nvSpPr>
        <p:spPr>
          <a:xfrm>
            <a:off x="685800" y="1737360"/>
            <a:ext cx="3931920" cy="731520"/>
          </a:xfrm>
          <a:prstGeom prst="roundRect">
            <a:avLst>
              <a:gd name="adj" fmla="val 25000"/>
            </a:avLst>
          </a:prstGeom>
          <a:solidFill>
            <a:srgbClr val="F3F0FA"/>
          </a:solidFill>
          <a:ln>
            <a:noFill/>
          </a:ln>
        </p:spPr>
        <p:txBody>
          <a:bodyPr rtlCol="0" anchor="ctr"/>
          <a:lstStyle/>
          <a:p>
            <a:pPr algn="ctr"/>
            <a:endParaRPr/>
          </a:p>
        </p:txBody>
      </p:sp>
      <p:sp>
        <p:nvSpPr>
          <p:cNvPr id="24" name="TextBox 23"/>
          <p:cNvSpPr txBox="1"/>
          <p:nvPr/>
        </p:nvSpPr>
        <p:spPr>
          <a:xfrm>
            <a:off x="960120" y="1737360"/>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Shared goals</a:t>
            </a:r>
          </a:p>
        </p:txBody>
      </p:sp>
      <p:sp>
        <p:nvSpPr>
          <p:cNvPr id="25" name="Rounded Rectangle 24"/>
          <p:cNvSpPr/>
          <p:nvPr/>
        </p:nvSpPr>
        <p:spPr>
          <a:xfrm>
            <a:off x="685800" y="2624328"/>
            <a:ext cx="3931920" cy="731520"/>
          </a:xfrm>
          <a:prstGeom prst="roundRect">
            <a:avLst>
              <a:gd name="adj" fmla="val 25000"/>
            </a:avLst>
          </a:prstGeom>
          <a:solidFill>
            <a:srgbClr val="F3F0FA"/>
          </a:solidFill>
          <a:ln>
            <a:noFill/>
          </a:ln>
        </p:spPr>
        <p:txBody>
          <a:bodyPr rtlCol="0" anchor="ctr"/>
          <a:lstStyle/>
          <a:p>
            <a:pPr algn="ctr"/>
            <a:endParaRPr/>
          </a:p>
        </p:txBody>
      </p:sp>
      <p:sp>
        <p:nvSpPr>
          <p:cNvPr id="26" name="TextBox 25"/>
          <p:cNvSpPr txBox="1"/>
          <p:nvPr/>
        </p:nvSpPr>
        <p:spPr>
          <a:xfrm>
            <a:off x="960120" y="2624328"/>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Shared values</a:t>
            </a:r>
          </a:p>
        </p:txBody>
      </p:sp>
      <p:sp>
        <p:nvSpPr>
          <p:cNvPr id="27" name="Rounded Rectangle 26"/>
          <p:cNvSpPr/>
          <p:nvPr/>
        </p:nvSpPr>
        <p:spPr>
          <a:xfrm>
            <a:off x="685800" y="3511296"/>
            <a:ext cx="3931920" cy="731520"/>
          </a:xfrm>
          <a:prstGeom prst="roundRect">
            <a:avLst>
              <a:gd name="adj" fmla="val 25000"/>
            </a:avLst>
          </a:prstGeom>
          <a:solidFill>
            <a:srgbClr val="F3F0FA"/>
          </a:solidFill>
          <a:ln>
            <a:noFill/>
          </a:ln>
        </p:spPr>
        <p:txBody>
          <a:bodyPr rtlCol="0" anchor="ctr"/>
          <a:lstStyle/>
          <a:p>
            <a:pPr algn="ctr"/>
            <a:endParaRPr/>
          </a:p>
        </p:txBody>
      </p:sp>
      <p:sp>
        <p:nvSpPr>
          <p:cNvPr id="28" name="TextBox 27"/>
          <p:cNvSpPr txBox="1"/>
          <p:nvPr/>
        </p:nvSpPr>
        <p:spPr>
          <a:xfrm>
            <a:off x="960120" y="3511296"/>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Mutual trust and respect</a:t>
            </a:r>
          </a:p>
        </p:txBody>
      </p:sp>
      <p:sp>
        <p:nvSpPr>
          <p:cNvPr id="29" name="Rounded Rectangle 28"/>
          <p:cNvSpPr/>
          <p:nvPr/>
        </p:nvSpPr>
        <p:spPr>
          <a:xfrm>
            <a:off x="685800" y="4398264"/>
            <a:ext cx="3931920" cy="731520"/>
          </a:xfrm>
          <a:prstGeom prst="roundRect">
            <a:avLst>
              <a:gd name="adj" fmla="val 25000"/>
            </a:avLst>
          </a:prstGeom>
          <a:solidFill>
            <a:srgbClr val="F3F0FA"/>
          </a:solidFill>
          <a:ln>
            <a:noFill/>
          </a:ln>
        </p:spPr>
        <p:txBody>
          <a:bodyPr rtlCol="0" anchor="ctr"/>
          <a:lstStyle/>
          <a:p>
            <a:pPr algn="ctr"/>
            <a:endParaRPr/>
          </a:p>
        </p:txBody>
      </p:sp>
      <p:sp>
        <p:nvSpPr>
          <p:cNvPr id="30" name="TextBox 29"/>
          <p:cNvSpPr txBox="1"/>
          <p:nvPr/>
        </p:nvSpPr>
        <p:spPr>
          <a:xfrm>
            <a:off x="960120" y="4398264"/>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Consult on decision-making</a:t>
            </a:r>
          </a:p>
        </p:txBody>
      </p:sp>
      <p:sp>
        <p:nvSpPr>
          <p:cNvPr id="31" name="Rounded Rectangle 30"/>
          <p:cNvSpPr/>
          <p:nvPr/>
        </p:nvSpPr>
        <p:spPr>
          <a:xfrm>
            <a:off x="7573975" y="1737360"/>
            <a:ext cx="3931920" cy="731520"/>
          </a:xfrm>
          <a:prstGeom prst="roundRect">
            <a:avLst>
              <a:gd name="adj" fmla="val 25000"/>
            </a:avLst>
          </a:prstGeom>
          <a:solidFill>
            <a:srgbClr val="F3F0FA"/>
          </a:solidFill>
          <a:ln>
            <a:noFill/>
          </a:ln>
        </p:spPr>
        <p:txBody>
          <a:bodyPr rtlCol="0" anchor="ctr"/>
          <a:lstStyle/>
          <a:p>
            <a:pPr algn="ctr"/>
            <a:endParaRPr/>
          </a:p>
        </p:txBody>
      </p:sp>
      <p:sp>
        <p:nvSpPr>
          <p:cNvPr id="32" name="TextBox 31"/>
          <p:cNvSpPr txBox="1"/>
          <p:nvPr/>
        </p:nvSpPr>
        <p:spPr>
          <a:xfrm>
            <a:off x="7848295" y="1737360"/>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Seeing other perspectives</a:t>
            </a:r>
          </a:p>
        </p:txBody>
      </p:sp>
      <p:sp>
        <p:nvSpPr>
          <p:cNvPr id="33" name="Rounded Rectangle 32"/>
          <p:cNvSpPr/>
          <p:nvPr/>
        </p:nvSpPr>
        <p:spPr>
          <a:xfrm>
            <a:off x="7573975" y="2624328"/>
            <a:ext cx="3931920" cy="914400"/>
          </a:xfrm>
          <a:prstGeom prst="roundRect">
            <a:avLst>
              <a:gd name="adj" fmla="val 25000"/>
            </a:avLst>
          </a:prstGeom>
          <a:solidFill>
            <a:srgbClr val="F3F0FA"/>
          </a:solidFill>
          <a:ln>
            <a:noFill/>
          </a:ln>
        </p:spPr>
        <p:txBody>
          <a:bodyPr rtlCol="0" anchor="ctr"/>
          <a:lstStyle/>
          <a:p>
            <a:pPr algn="ctr"/>
            <a:endParaRPr/>
          </a:p>
        </p:txBody>
      </p:sp>
      <p:sp>
        <p:nvSpPr>
          <p:cNvPr id="34" name="TextBox 33"/>
          <p:cNvSpPr txBox="1"/>
          <p:nvPr/>
        </p:nvSpPr>
        <p:spPr>
          <a:xfrm>
            <a:off x="7848295" y="2624328"/>
            <a:ext cx="3383280" cy="914400"/>
          </a:xfrm>
          <a:prstGeom prst="rect">
            <a:avLst/>
          </a:prstGeom>
          <a:noFill/>
        </p:spPr>
        <p:txBody>
          <a:bodyPr wrap="square" lIns="0" tIns="0" rIns="0" bIns="0" anchor="ctr">
            <a:noAutofit/>
          </a:bodyPr>
          <a:lstStyle/>
          <a:p>
            <a:pPr marL="0" indent="0" algn="l">
              <a:lnSpc>
                <a:spcPct val="100000"/>
              </a:lnSpc>
              <a:spcBef>
                <a:spcPts val="0"/>
              </a:spcBef>
              <a:buNone/>
            </a:pPr>
            <a:r>
              <a:rPr lang="en-AU" sz="1700" b="1">
                <a:solidFill>
                  <a:srgbClr val="3D2A6B"/>
                </a:solidFill>
                <a:latin typeface="Arial"/>
                <a:ea typeface="Arial"/>
                <a:cs typeface="Arial"/>
              </a:rPr>
              <a:t>Invite curiosity: How could we work together for better learning outcomes?</a:t>
            </a:r>
          </a:p>
        </p:txBody>
      </p:sp>
      <p:sp>
        <p:nvSpPr>
          <p:cNvPr id="35" name="Rounded Rectangle 34"/>
          <p:cNvSpPr/>
          <p:nvPr/>
        </p:nvSpPr>
        <p:spPr>
          <a:xfrm>
            <a:off x="7573975" y="3694176"/>
            <a:ext cx="3931920" cy="731520"/>
          </a:xfrm>
          <a:prstGeom prst="roundRect">
            <a:avLst>
              <a:gd name="adj" fmla="val 25000"/>
            </a:avLst>
          </a:prstGeom>
          <a:solidFill>
            <a:srgbClr val="F3F0FA"/>
          </a:solidFill>
          <a:ln>
            <a:noFill/>
          </a:ln>
        </p:spPr>
        <p:txBody>
          <a:bodyPr rtlCol="0" anchor="ctr"/>
          <a:lstStyle/>
          <a:p>
            <a:pPr algn="ctr"/>
            <a:endParaRPr/>
          </a:p>
        </p:txBody>
      </p:sp>
      <p:sp>
        <p:nvSpPr>
          <p:cNvPr id="36" name="TextBox 35"/>
          <p:cNvSpPr txBox="1"/>
          <p:nvPr/>
        </p:nvSpPr>
        <p:spPr>
          <a:xfrm>
            <a:off x="7848295" y="3694176"/>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Centring student voice</a:t>
            </a:r>
          </a:p>
        </p:txBody>
      </p:sp>
      <p:sp>
        <p:nvSpPr>
          <p:cNvPr id="37" name="Rounded Rectangle 36"/>
          <p:cNvSpPr/>
          <p:nvPr/>
        </p:nvSpPr>
        <p:spPr>
          <a:xfrm>
            <a:off x="7573975" y="4581144"/>
            <a:ext cx="3931920" cy="731520"/>
          </a:xfrm>
          <a:prstGeom prst="roundRect">
            <a:avLst>
              <a:gd name="adj" fmla="val 25000"/>
            </a:avLst>
          </a:prstGeom>
          <a:solidFill>
            <a:srgbClr val="F3F0FA"/>
          </a:solidFill>
          <a:ln>
            <a:noFill/>
          </a:ln>
        </p:spPr>
        <p:txBody>
          <a:bodyPr rtlCol="0" anchor="ctr"/>
          <a:lstStyle/>
          <a:p>
            <a:pPr algn="ctr"/>
            <a:endParaRPr/>
          </a:p>
        </p:txBody>
      </p:sp>
      <p:sp>
        <p:nvSpPr>
          <p:cNvPr id="38" name="TextBox 37"/>
          <p:cNvSpPr txBox="1"/>
          <p:nvPr/>
        </p:nvSpPr>
        <p:spPr>
          <a:xfrm>
            <a:off x="7848295" y="4581144"/>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Assume good intent</a:t>
            </a:r>
          </a:p>
        </p:txBody>
      </p:sp>
    </p:spTree>
    <p:extLst>
      <p:ext uri="{BB962C8B-B14F-4D97-AF65-F5344CB8AC3E}">
        <p14:creationId xmlns:p14="http://schemas.microsoft.com/office/powerpoint/2010/main" val="2825758316"/>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A communication rhythm with the teacher</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Short, regular and planned works better than catching up when something goes wrong.</a:t>
            </a:r>
          </a:p>
        </p:txBody>
      </p:sp>
      <p:sp>
        <p:nvSpPr>
          <p:cNvPr id="5" name="Rounded Rectangle 4"/>
          <p:cNvSpPr/>
          <p:nvPr/>
        </p:nvSpPr>
        <p:spPr>
          <a:xfrm>
            <a:off x="685800" y="2103120"/>
            <a:ext cx="2554148" cy="265176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Regular</a:t>
            </a:r>
          </a:p>
          <a:p>
            <a:pPr algn="l" marL="0" indent="0">
              <a:lnSpc>
                <a:spcPct val="100000"/>
              </a:lnSpc>
              <a:spcBef>
                <a:spcPts val="800"/>
              </a:spcBef>
              <a:buNone/>
            </a:pPr>
            <a:r>
              <a:rPr lang="en-AU" sz="1600" b="0">
                <a:solidFill>
                  <a:srgbClr val="3D2A6B"/>
                </a:solidFill>
                <a:latin typeface="Arial"/>
                <a:ea typeface="Arial"/>
                <a:cs typeface="Arial"/>
              </a:rPr>
              <a:t>A few minutes at a set time, even once a week.</a:t>
            </a:r>
          </a:p>
        </p:txBody>
      </p:sp>
      <p:sp>
        <p:nvSpPr>
          <p:cNvPr id="7" name="Rounded Rectangle 6"/>
          <p:cNvSpPr/>
          <p:nvPr/>
        </p:nvSpPr>
        <p:spPr>
          <a:xfrm>
            <a:off x="3441116" y="2103120"/>
            <a:ext cx="2554148" cy="265176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715436"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Brief and planned</a:t>
            </a:r>
          </a:p>
          <a:p>
            <a:pPr algn="l" marL="0" indent="0">
              <a:lnSpc>
                <a:spcPct val="100000"/>
              </a:lnSpc>
              <a:spcBef>
                <a:spcPts val="800"/>
              </a:spcBef>
              <a:buNone/>
            </a:pPr>
            <a:r>
              <a:rPr lang="en-AU" sz="1600" b="0">
                <a:solidFill>
                  <a:srgbClr val="3D2A6B"/>
                </a:solidFill>
                <a:latin typeface="Arial"/>
                <a:ea typeface="Arial"/>
                <a:cs typeface="Arial"/>
              </a:rPr>
              <a:t>What you saw, what helped, and one question.</a:t>
            </a:r>
          </a:p>
        </p:txBody>
      </p:sp>
      <p:sp>
        <p:nvSpPr>
          <p:cNvPr id="9" name="Rounded Rectangle 8"/>
          <p:cNvSpPr/>
          <p:nvPr/>
        </p:nvSpPr>
        <p:spPr>
          <a:xfrm>
            <a:off x="6196432" y="2103120"/>
            <a:ext cx="2554148" cy="265176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470752"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The teacher’s plan</a:t>
            </a:r>
          </a:p>
          <a:p>
            <a:pPr algn="l" marL="0" indent="0">
              <a:lnSpc>
                <a:spcPct val="100000"/>
              </a:lnSpc>
              <a:spcBef>
                <a:spcPts val="800"/>
              </a:spcBef>
              <a:buNone/>
            </a:pPr>
            <a:r>
              <a:rPr lang="en-AU" sz="1600" b="0">
                <a:solidFill>
                  <a:srgbClr val="3D2A6B"/>
                </a:solidFill>
                <a:latin typeface="Arial"/>
                <a:ea typeface="Arial"/>
                <a:cs typeface="Arial"/>
              </a:rPr>
              <a:t>Work from the teacher’s plan for the lesson and the student.</a:t>
            </a:r>
          </a:p>
        </p:txBody>
      </p:sp>
      <p:sp>
        <p:nvSpPr>
          <p:cNvPr id="11" name="Rounded Rectangle 10"/>
          <p:cNvSpPr/>
          <p:nvPr/>
        </p:nvSpPr>
        <p:spPr>
          <a:xfrm>
            <a:off x="8951747" y="2103120"/>
            <a:ext cx="2554148" cy="265176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226067"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No plan yet?</a:t>
            </a:r>
          </a:p>
          <a:p>
            <a:pPr algn="l" marL="0" indent="0">
              <a:lnSpc>
                <a:spcPct val="100000"/>
              </a:lnSpc>
              <a:spcBef>
                <a:spcPts val="800"/>
              </a:spcBef>
              <a:buNone/>
            </a:pPr>
            <a:r>
              <a:rPr lang="en-AU" sz="1600" b="0">
                <a:solidFill>
                  <a:srgbClr val="3D2A6B"/>
                </a:solidFill>
                <a:latin typeface="Arial"/>
                <a:ea typeface="Arial"/>
                <a:cs typeface="Arial"/>
              </a:rPr>
              <a:t>Ask: 'What should I know to support them well?' and agree a first step.</a:t>
            </a:r>
          </a:p>
        </p:txBody>
      </p:sp>
      <p:sp>
        <p:nvSpPr>
          <p:cNvPr id="13" name="Rounded Rectangle 12"/>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4" name="TextBox 13"/>
          <p:cNvSpPr txBox="1"/>
          <p:nvPr/>
        </p:nvSpPr>
        <p:spPr>
          <a:xfrm>
            <a:off x="960120" y="525780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You help deliver adjustments. The teacher plans them with you.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When families tell you first</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Families often trust support staff first. You see them at drop-off, pick-up or the bus bay, and you know the student.</a:t>
            </a:r>
          </a:p>
        </p:txBody>
      </p:sp>
      <p:sp>
        <p:nvSpPr>
          <p:cNvPr id="5" name="Rounded Rectangle 4"/>
          <p:cNvSpPr/>
          <p:nvPr/>
        </p:nvSpPr>
        <p:spPr>
          <a:xfrm>
            <a:off x="685800" y="2103120"/>
            <a:ext cx="2554148" cy="265176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Community roles</a:t>
            </a:r>
          </a:p>
          <a:p>
            <a:pPr algn="l" marL="0" indent="0">
              <a:lnSpc>
                <a:spcPct val="100000"/>
              </a:lnSpc>
              <a:spcBef>
                <a:spcPts val="800"/>
              </a:spcBef>
              <a:buNone/>
            </a:pPr>
            <a:r>
              <a:rPr lang="en-AU" sz="1600" b="0">
                <a:solidFill>
                  <a:srgbClr val="3D2A6B"/>
                </a:solidFill>
                <a:latin typeface="Arial"/>
                <a:ea typeface="Arial"/>
                <a:cs typeface="Arial"/>
              </a:rPr>
              <a:t>In First Nations communities especially, support staff are often a key link for families and teachers.</a:t>
            </a:r>
          </a:p>
        </p:txBody>
      </p:sp>
      <p:sp>
        <p:nvSpPr>
          <p:cNvPr id="7" name="Rounded Rectangle 6"/>
          <p:cNvSpPr/>
          <p:nvPr/>
        </p:nvSpPr>
        <p:spPr>
          <a:xfrm>
            <a:off x="3441116" y="2103120"/>
            <a:ext cx="2554148" cy="265176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715436"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Know your pathway</a:t>
            </a:r>
          </a:p>
          <a:p>
            <a:pPr algn="l" marL="0" indent="0">
              <a:lnSpc>
                <a:spcPct val="100000"/>
              </a:lnSpc>
              <a:spcBef>
                <a:spcPts val="800"/>
              </a:spcBef>
              <a:buNone/>
            </a:pPr>
            <a:r>
              <a:rPr lang="en-AU" sz="1600" b="0">
                <a:solidFill>
                  <a:srgbClr val="3D2A6B"/>
                </a:solidFill>
                <a:latin typeface="Arial"/>
                <a:ea typeface="Arial"/>
                <a:cs typeface="Arial"/>
              </a:rPr>
              <a:t>Know how concerns are passed on, and what should never sit with you alone.</a:t>
            </a:r>
          </a:p>
        </p:txBody>
      </p:sp>
      <p:sp>
        <p:nvSpPr>
          <p:cNvPr id="9" name="Rounded Rectangle 8"/>
          <p:cNvSpPr/>
          <p:nvPr/>
        </p:nvSpPr>
        <p:spPr>
          <a:xfrm>
            <a:off x="6196432" y="2103120"/>
            <a:ext cx="2554148" cy="265176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470752"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The warm handover</a:t>
            </a:r>
          </a:p>
          <a:p>
            <a:pPr algn="l" marL="0" indent="0">
              <a:lnSpc>
                <a:spcPct val="100000"/>
              </a:lnSpc>
              <a:spcBef>
                <a:spcPts val="800"/>
              </a:spcBef>
              <a:buNone/>
            </a:pPr>
            <a:r>
              <a:rPr lang="en-AU" sz="1600" b="0">
                <a:solidFill>
                  <a:srgbClr val="3D2A6B"/>
                </a:solidFill>
                <a:latin typeface="Arial"/>
                <a:ea typeface="Arial"/>
                <a:cs typeface="Arial"/>
              </a:rPr>
              <a:t>'That matters. Can we bring the teacher into this together?'</a:t>
            </a:r>
          </a:p>
        </p:txBody>
      </p:sp>
      <p:sp>
        <p:nvSpPr>
          <p:cNvPr id="11" name="Rounded Rectangle 10"/>
          <p:cNvSpPr/>
          <p:nvPr/>
        </p:nvSpPr>
        <p:spPr>
          <a:xfrm>
            <a:off x="8951747" y="2103120"/>
            <a:ext cx="2554148" cy="265176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226067"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Keep the trust</a:t>
            </a:r>
          </a:p>
          <a:p>
            <a:pPr algn="l" marL="0" indent="0">
              <a:lnSpc>
                <a:spcPct val="100000"/>
              </a:lnSpc>
              <a:spcBef>
                <a:spcPts val="800"/>
              </a:spcBef>
              <a:buNone/>
            </a:pPr>
            <a:r>
              <a:rPr lang="en-AU" sz="1600" b="0">
                <a:solidFill>
                  <a:srgbClr val="3D2A6B"/>
                </a:solidFill>
                <a:latin typeface="Arial"/>
                <a:ea typeface="Arial"/>
                <a:cs typeface="Arial"/>
              </a:rPr>
              <a:t>Tell the family what will happen next, and follow up.</a:t>
            </a:r>
          </a:p>
        </p:txBody>
      </p:sp>
      <p:sp>
        <p:nvSpPr>
          <p:cNvPr id="13" name="Rounded Rectangle 12"/>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4" name="TextBox 13"/>
          <p:cNvSpPr txBox="1"/>
          <p:nvPr/>
        </p:nvSpPr>
        <p:spPr>
          <a:xfrm>
            <a:off x="960120" y="525780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700" b="1">
                <a:solidFill>
                  <a:srgbClr val="584099"/>
                </a:solidFill>
                <a:latin typeface="Arial"/>
                <a:ea typeface="Arial"/>
                <a:cs typeface="Arial"/>
              </a:rPr>
              <a:t>The trust families place in you is a strength. Your school’s pathway helps you use it well.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0FC69C-54F3-05A7-B346-4E036CA9F2D3}"/>
              </a:ext>
            </a:extLst>
          </p:cNvPr>
          <p:cNvPicPr>
            <a:picLocks noChangeAspect="1"/>
          </p:cNvPicPr>
          <p:nvPr/>
        </p:nvPicPr>
        <p:blipFill>
          <a:blip r:embed="rId4"/>
          <a:stretch>
            <a:fillRect/>
          </a:stretch>
        </p:blipFill>
        <p:spPr>
          <a:xfrm>
            <a:off x="5078454" y="2003743"/>
            <a:ext cx="6608395" cy="3094461"/>
          </a:xfrm>
          <a:prstGeom prst="rect">
            <a:avLst/>
          </a:prstGeom>
        </p:spPr>
      </p:pic>
      <p:sp>
        <p:nvSpPr>
          <p:cNvPr id="3" name="Title 3">
            <a:extLst>
              <a:ext uri="{FF2B5EF4-FFF2-40B4-BE49-F238E27FC236}">
                <a16:creationId xmlns:a16="http://schemas.microsoft.com/office/drawing/2014/main" id="{017F69A2-4E80-48E0-BDCA-6D087D9DE7AF}"/>
              </a:ext>
            </a:extLst>
          </p:cNvPr>
          <p:cNvSpPr txBox="1">
            <a:spLocks/>
          </p:cNvSpPr>
          <p:nvPr/>
        </p:nvSpPr>
        <p:spPr>
          <a:xfrm>
            <a:off x="685800" y="457200"/>
            <a:ext cx="10789920"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95000"/>
              </a:lnSpc>
              <a:spcBef>
                <a:spcPts val="0"/>
              </a:spcBef>
              <a:buNone/>
            </a:pPr>
            <a:r>
              <a:rPr lang="en-AU" sz="3600" b="0">
                <a:solidFill>
                  <a:srgbClr val="584099"/>
                </a:solidFill>
                <a:latin typeface="Arial Black"/>
                <a:ea typeface="Arial Black"/>
                <a:cs typeface="Arial Black"/>
              </a:rPr>
              <a:t>Power dynamics</a:t>
            </a:r>
          </a:p>
        </p:txBody>
      </p:sp>
      <p:sp>
        <p:nvSpPr>
          <p:cNvPr id="5" name="TextBox 4">
            <a:extLst>
              <a:ext uri="{FF2B5EF4-FFF2-40B4-BE49-F238E27FC236}">
                <a16:creationId xmlns:a16="http://schemas.microsoft.com/office/drawing/2014/main" id="{5C3E7BD3-ACD6-4A5D-B3A7-83716831489D}"/>
              </a:ext>
            </a:extLst>
          </p:cNvPr>
          <p:cNvSpPr txBox="1"/>
          <p:nvPr/>
        </p:nvSpPr>
        <p:spPr>
          <a:xfrm>
            <a:off x="9123426" y="4227460"/>
            <a:ext cx="1887474"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School</a:t>
            </a:r>
          </a:p>
        </p:txBody>
      </p:sp>
      <p:sp>
        <p:nvSpPr>
          <p:cNvPr id="8" name="TextBox 7">
            <a:extLst>
              <a:ext uri="{FF2B5EF4-FFF2-40B4-BE49-F238E27FC236}">
                <a16:creationId xmlns:a16="http://schemas.microsoft.com/office/drawing/2014/main" id="{A39AF474-49DB-4994-9B0B-E907B650A5BE}"/>
              </a:ext>
            </a:extLst>
          </p:cNvPr>
          <p:cNvSpPr txBox="1"/>
          <p:nvPr/>
        </p:nvSpPr>
        <p:spPr>
          <a:xfrm>
            <a:off x="5424419" y="4227461"/>
            <a:ext cx="1751167"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Home</a:t>
            </a:r>
          </a:p>
        </p:txBody>
      </p:sp>
      <p:pic>
        <p:nvPicPr>
          <p:cNvPr id="7" name="Graphic 6" descr="Confused person">
            <a:extLst>
              <a:ext uri="{FF2B5EF4-FFF2-40B4-BE49-F238E27FC236}">
                <a16:creationId xmlns:a16="http://schemas.microsoft.com/office/drawing/2014/main" id="{5436BB0C-EB1E-4C4A-A071-D6F24BFC66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02768" y="2132525"/>
            <a:ext cx="1503427" cy="1418449"/>
          </a:xfrm>
          <a:prstGeom prst="rect">
            <a:avLst/>
          </a:prstGeom>
        </p:spPr>
      </p:pic>
      <p:sp>
        <p:nvSpPr>
          <p:cNvPr id="9" name="TextBox 8">
            <a:extLst>
              <a:ext uri="{FF2B5EF4-FFF2-40B4-BE49-F238E27FC236}">
                <a16:creationId xmlns:a16="http://schemas.microsoft.com/office/drawing/2014/main" id="{FB9EA08C-CE5C-4006-A049-2F14C8C74149}"/>
              </a:ext>
            </a:extLst>
          </p:cNvPr>
          <p:cNvSpPr txBox="1"/>
          <p:nvPr/>
        </p:nvSpPr>
        <p:spPr>
          <a:xfrm>
            <a:off x="7255326" y="1283934"/>
            <a:ext cx="1998309"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Student</a:t>
            </a:r>
          </a:p>
        </p:txBody>
      </p:sp>
      <p:sp>
        <p:nvSpPr>
          <p:cNvPr id="11" name="TextBox 10"/>
          <p:cNvSpPr txBox="1"/>
          <p:nvPr/>
        </p:nvSpPr>
        <p:spPr>
          <a:xfrm>
            <a:off x="685800" y="1325880"/>
            <a:ext cx="4206240" cy="45720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Power can sit in:</a:t>
            </a:r>
          </a:p>
        </p:txBody>
      </p:sp>
      <p:sp>
        <p:nvSpPr>
          <p:cNvPr id="12" name="Rounded Rectangle 11"/>
          <p:cNvSpPr/>
          <p:nvPr/>
        </p:nvSpPr>
        <p:spPr>
          <a:xfrm>
            <a:off x="685800" y="1874520"/>
            <a:ext cx="4206240" cy="713232"/>
          </a:xfrm>
          <a:prstGeom prst="roundRect">
            <a:avLst>
              <a:gd name="adj" fmla="val 20000"/>
            </a:avLst>
          </a:prstGeom>
          <a:solidFill>
            <a:srgbClr val="F3F0FA"/>
          </a:solidFill>
          <a:ln>
            <a:noFill/>
          </a:ln>
        </p:spPr>
        <p:txBody>
          <a:bodyPr rtlCol="0" anchor="ctr"/>
          <a:lstStyle/>
          <a:p>
            <a:pPr algn="ctr"/>
            <a:endParaRPr/>
          </a:p>
        </p:txBody>
      </p:sp>
      <p:sp>
        <p:nvSpPr>
          <p:cNvPr id="13" name="TextBox 12"/>
          <p:cNvSpPr txBox="1"/>
          <p:nvPr/>
        </p:nvSpPr>
        <p:spPr>
          <a:xfrm>
            <a:off x="960120" y="187452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Socio-economic status</a:t>
            </a:r>
          </a:p>
        </p:txBody>
      </p:sp>
      <p:sp>
        <p:nvSpPr>
          <p:cNvPr id="14" name="Rounded Rectangle 13"/>
          <p:cNvSpPr/>
          <p:nvPr/>
        </p:nvSpPr>
        <p:spPr>
          <a:xfrm>
            <a:off x="685800" y="2697480"/>
            <a:ext cx="4206240" cy="713232"/>
          </a:xfrm>
          <a:prstGeom prst="roundRect">
            <a:avLst>
              <a:gd name="adj" fmla="val 20000"/>
            </a:avLst>
          </a:prstGeom>
          <a:solidFill>
            <a:srgbClr val="F3F0FA"/>
          </a:solidFill>
          <a:ln>
            <a:noFill/>
          </a:ln>
        </p:spPr>
        <p:txBody>
          <a:bodyPr rtlCol="0" anchor="ctr"/>
          <a:lstStyle/>
          <a:p>
            <a:pPr algn="ctr"/>
            <a:endParaRPr/>
          </a:p>
        </p:txBody>
      </p:sp>
      <p:sp>
        <p:nvSpPr>
          <p:cNvPr id="15" name="TextBox 14"/>
          <p:cNvSpPr txBox="1"/>
          <p:nvPr/>
        </p:nvSpPr>
        <p:spPr>
          <a:xfrm>
            <a:off x="960120" y="269748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Historical / cultural experiences of education</a:t>
            </a:r>
          </a:p>
        </p:txBody>
      </p:sp>
      <p:sp>
        <p:nvSpPr>
          <p:cNvPr id="16" name="Rounded Rectangle 15"/>
          <p:cNvSpPr/>
          <p:nvPr/>
        </p:nvSpPr>
        <p:spPr>
          <a:xfrm>
            <a:off x="685800" y="3520440"/>
            <a:ext cx="4206240" cy="713232"/>
          </a:xfrm>
          <a:prstGeom prst="roundRect">
            <a:avLst>
              <a:gd name="adj" fmla="val 20000"/>
            </a:avLst>
          </a:prstGeom>
          <a:solidFill>
            <a:srgbClr val="F3F0FA"/>
          </a:solidFill>
          <a:ln>
            <a:noFill/>
          </a:ln>
        </p:spPr>
        <p:txBody>
          <a:bodyPr rtlCol="0" anchor="ctr"/>
          <a:lstStyle/>
          <a:p>
            <a:pPr algn="ctr"/>
            <a:endParaRPr/>
          </a:p>
        </p:txBody>
      </p:sp>
      <p:sp>
        <p:nvSpPr>
          <p:cNvPr id="17" name="TextBox 16"/>
          <p:cNvSpPr txBox="1"/>
          <p:nvPr/>
        </p:nvSpPr>
        <p:spPr>
          <a:xfrm>
            <a:off x="960120" y="352044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Speaking English vs speaking a language other than English</a:t>
            </a:r>
          </a:p>
        </p:txBody>
      </p:sp>
      <p:sp>
        <p:nvSpPr>
          <p:cNvPr id="18" name="Rounded Rectangle 17"/>
          <p:cNvSpPr/>
          <p:nvPr/>
        </p:nvSpPr>
        <p:spPr>
          <a:xfrm>
            <a:off x="685800" y="4343400"/>
            <a:ext cx="4206240" cy="713232"/>
          </a:xfrm>
          <a:prstGeom prst="roundRect">
            <a:avLst>
              <a:gd name="adj" fmla="val 20000"/>
            </a:avLst>
          </a:prstGeom>
          <a:solidFill>
            <a:srgbClr val="F3F0FA"/>
          </a:solidFill>
          <a:ln>
            <a:noFill/>
          </a:ln>
        </p:spPr>
        <p:txBody>
          <a:bodyPr rtlCol="0" anchor="ctr"/>
          <a:lstStyle/>
          <a:p>
            <a:pPr algn="ctr"/>
            <a:endParaRPr/>
          </a:p>
        </p:txBody>
      </p:sp>
      <p:sp>
        <p:nvSpPr>
          <p:cNvPr id="19" name="TextBox 18"/>
          <p:cNvSpPr txBox="1"/>
          <p:nvPr/>
        </p:nvSpPr>
        <p:spPr>
          <a:xfrm>
            <a:off x="960120" y="434340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Pedagogy / understanding of school systems and curriculum</a:t>
            </a:r>
          </a:p>
        </p:txBody>
      </p:sp>
      <p:sp>
        <p:nvSpPr>
          <p:cNvPr id="20" name="Rounded Rectangle 19"/>
          <p:cNvSpPr/>
          <p:nvPr/>
        </p:nvSpPr>
        <p:spPr>
          <a:xfrm>
            <a:off x="685800" y="5166360"/>
            <a:ext cx="4206240" cy="713232"/>
          </a:xfrm>
          <a:prstGeom prst="roundRect">
            <a:avLst>
              <a:gd name="adj" fmla="val 20000"/>
            </a:avLst>
          </a:prstGeom>
          <a:solidFill>
            <a:srgbClr val="F3F0FA"/>
          </a:solidFill>
          <a:ln>
            <a:noFill/>
          </a:ln>
        </p:spPr>
        <p:txBody>
          <a:bodyPr rtlCol="0" anchor="ctr"/>
          <a:lstStyle/>
          <a:p>
            <a:pPr algn="ctr"/>
            <a:endParaRPr/>
          </a:p>
        </p:txBody>
      </p:sp>
      <p:sp>
        <p:nvSpPr>
          <p:cNvPr id="21" name="TextBox 20"/>
          <p:cNvSpPr txBox="1"/>
          <p:nvPr/>
        </p:nvSpPr>
        <p:spPr>
          <a:xfrm>
            <a:off x="960120" y="516636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Perception of the importance / experience of school</a:t>
            </a:r>
          </a:p>
        </p:txBody>
      </p:sp>
    </p:spTree>
    <p:custDataLst>
      <p:tags r:id="rId1"/>
    </p:custDataLst>
    <p:extLst>
      <p:ext uri="{BB962C8B-B14F-4D97-AF65-F5344CB8AC3E}">
        <p14:creationId xmlns:p14="http://schemas.microsoft.com/office/powerpoint/2010/main" val="580302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200" fill="hold">
                                          <p:stCondLst>
                                            <p:cond delay="0"/>
                                          </p:stCondLst>
                                        </p:cTn>
                                        <p:tgtEl>
                                          <p:spTgt spid="2"/>
                                        </p:tgtEl>
                                        <p:attrNameLst>
                                          <p:attrName>r</p:attrName>
                                        </p:attrNameLst>
                                      </p:cBhvr>
                                    </p:animRot>
                                    <p:animRot by="-240000">
                                      <p:cBhvr>
                                        <p:cTn id="7" dur="400" fill="hold">
                                          <p:stCondLst>
                                            <p:cond delay="400"/>
                                          </p:stCondLst>
                                        </p:cTn>
                                        <p:tgtEl>
                                          <p:spTgt spid="2"/>
                                        </p:tgtEl>
                                        <p:attrNameLst>
                                          <p:attrName>r</p:attrName>
                                        </p:attrNameLst>
                                      </p:cBhvr>
                                    </p:animRot>
                                    <p:animRot by="240000">
                                      <p:cBhvr>
                                        <p:cTn id="8" dur="400" fill="hold">
                                          <p:stCondLst>
                                            <p:cond delay="800"/>
                                          </p:stCondLst>
                                        </p:cTn>
                                        <p:tgtEl>
                                          <p:spTgt spid="2"/>
                                        </p:tgtEl>
                                        <p:attrNameLst>
                                          <p:attrName>r</p:attrName>
                                        </p:attrNameLst>
                                      </p:cBhvr>
                                    </p:animRot>
                                    <p:animRot by="-240000">
                                      <p:cBhvr>
                                        <p:cTn id="9" dur="400" fill="hold">
                                          <p:stCondLst>
                                            <p:cond delay="1200"/>
                                          </p:stCondLst>
                                        </p:cTn>
                                        <p:tgtEl>
                                          <p:spTgt spid="2"/>
                                        </p:tgtEl>
                                        <p:attrNameLst>
                                          <p:attrName>r</p:attrName>
                                        </p:attrNameLst>
                                      </p:cBhvr>
                                    </p:animRot>
                                    <p:animRot by="120000">
                                      <p:cBhvr>
                                        <p:cTn id="10" dur="400" fill="hold">
                                          <p:stCondLst>
                                            <p:cond delay="16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endParaRPr/>
          </a:p>
        </p:txBody>
      </p:sp>
      <p:sp>
        <p:nvSpPr>
          <p:cNvPr id="3" name="Oval 2"/>
          <p:cNvSpPr/>
          <p:nvPr/>
        </p:nvSpPr>
        <p:spPr>
          <a:xfrm>
            <a:off x="8138160" y="3291840"/>
            <a:ext cx="5669280" cy="5669280"/>
          </a:xfrm>
          <a:prstGeom prst="ellipse">
            <a:avLst/>
          </a:prstGeom>
          <a:solidFill>
            <a:srgbClr val="6A52AB"/>
          </a:solidFill>
          <a:ln>
            <a:noFill/>
          </a:ln>
        </p:spPr>
        <p:txBody>
          <a:bodyPr rtlCol="0" anchor="ctr"/>
          <a:lstStyle/>
          <a:p>
            <a:pPr algn="ctr"/>
            <a:endParaRPr/>
          </a:p>
        </p:txBody>
      </p:sp>
      <p:sp>
        <p:nvSpPr>
          <p:cNvPr id="4"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FFFFFF"/>
                </a:solidFill>
                <a:latin typeface="Arial Black"/>
                <a:ea typeface="Arial Black"/>
                <a:cs typeface="Arial Black"/>
              </a:rPr>
              <a:t>Power dynamics activity</a:t>
            </a:r>
          </a:p>
        </p:txBody>
      </p:sp>
      <p:sp>
        <p:nvSpPr>
          <p:cNvPr id="5" name="TextBox 4"/>
          <p:cNvSpPr txBox="1"/>
          <p:nvPr/>
        </p:nvSpPr>
        <p:spPr>
          <a:xfrm>
            <a:off x="685800" y="132588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FFFFFF"/>
                </a:solidFill>
                <a:latin typeface="Arial"/>
                <a:ea typeface="Arial"/>
                <a:cs typeface="Arial"/>
              </a:rPr>
              <a:t>On Post-it notes:</a:t>
            </a:r>
          </a:p>
        </p:txBody>
      </p:sp>
      <p:sp>
        <p:nvSpPr>
          <p:cNvPr id="6" name="Oval 5"/>
          <p:cNvSpPr/>
          <p:nvPr/>
        </p:nvSpPr>
        <p:spPr>
          <a:xfrm>
            <a:off x="685800" y="210312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7" name="TextBox 6"/>
          <p:cNvSpPr txBox="1"/>
          <p:nvPr/>
        </p:nvSpPr>
        <p:spPr>
          <a:xfrm>
            <a:off x="685800" y="210312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1</a:t>
            </a:r>
          </a:p>
        </p:txBody>
      </p:sp>
      <p:sp>
        <p:nvSpPr>
          <p:cNvPr id="8" name="TextBox 7"/>
          <p:cNvSpPr txBox="1"/>
          <p:nvPr/>
        </p:nvSpPr>
        <p:spPr>
          <a:xfrm>
            <a:off x="1325880" y="199339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home perspective.</a:t>
            </a:r>
          </a:p>
        </p:txBody>
      </p:sp>
      <p:sp>
        <p:nvSpPr>
          <p:cNvPr id="9" name="Oval 8"/>
          <p:cNvSpPr/>
          <p:nvPr/>
        </p:nvSpPr>
        <p:spPr>
          <a:xfrm>
            <a:off x="685800" y="297180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0" name="TextBox 9"/>
          <p:cNvSpPr txBox="1"/>
          <p:nvPr/>
        </p:nvSpPr>
        <p:spPr>
          <a:xfrm>
            <a:off x="685800" y="297180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2</a:t>
            </a:r>
          </a:p>
        </p:txBody>
      </p:sp>
      <p:sp>
        <p:nvSpPr>
          <p:cNvPr id="11" name="TextBox 10"/>
          <p:cNvSpPr txBox="1"/>
          <p:nvPr/>
        </p:nvSpPr>
        <p:spPr>
          <a:xfrm>
            <a:off x="1325880" y="286207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school perspective.</a:t>
            </a:r>
          </a:p>
        </p:txBody>
      </p:sp>
      <p:sp>
        <p:nvSpPr>
          <p:cNvPr id="12" name="Oval 11"/>
          <p:cNvSpPr/>
          <p:nvPr/>
        </p:nvSpPr>
        <p:spPr>
          <a:xfrm>
            <a:off x="685800" y="384048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3" name="TextBox 12"/>
          <p:cNvSpPr txBox="1"/>
          <p:nvPr/>
        </p:nvSpPr>
        <p:spPr>
          <a:xfrm>
            <a:off x="685800" y="384048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3</a:t>
            </a:r>
          </a:p>
        </p:txBody>
      </p:sp>
      <p:sp>
        <p:nvSpPr>
          <p:cNvPr id="14" name="TextBox 13"/>
          <p:cNvSpPr txBox="1"/>
          <p:nvPr/>
        </p:nvSpPr>
        <p:spPr>
          <a:xfrm>
            <a:off x="1325880" y="373075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how you could address these imbalances.</a:t>
            </a:r>
          </a:p>
        </p:txBody>
      </p:sp>
      <p:sp>
        <p:nvSpPr>
          <p:cNvPr id="15" name="TextBox 14"/>
          <p:cNvSpPr txBox="1"/>
          <p:nvPr/>
        </p:nvSpPr>
        <p:spPr>
          <a:xfrm>
            <a:off x="685800" y="480060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1700" b="0">
                <a:solidFill>
                  <a:srgbClr val="E6E0F5"/>
                </a:solidFill>
                <a:latin typeface="Arial"/>
                <a:ea typeface="Arial"/>
                <a:cs typeface="Arial"/>
              </a:rPr>
              <a:t>Share at your table, or add your notes to the wall under Home, School and Solutions.</a:t>
            </a:r>
          </a:p>
        </p:txBody>
      </p:sp>
      <p:sp>
        <p:nvSpPr>
          <p:cNvPr id="16" name="Rounded Rectangle 15"/>
          <p:cNvSpPr/>
          <p:nvPr/>
        </p:nvSpPr>
        <p:spPr>
          <a:xfrm>
            <a:off x="685800" y="5669280"/>
            <a:ext cx="2103120" cy="548640"/>
          </a:xfrm>
          <a:prstGeom prst="roundRect">
            <a:avLst>
              <a:gd name="adj" fmla="val 50000"/>
            </a:avLst>
          </a:prstGeom>
          <a:solidFill>
            <a:srgbClr val="584099"/>
          </a:solidFill>
          <a:ln w="19050">
            <a:solidFill>
              <a:srgbClr val="FFFFFF"/>
            </a:solidFill>
          </a:ln>
        </p:spPr>
        <p:txBody>
          <a:bodyPr rtlCol="0" anchor="ctr"/>
          <a:lstStyle/>
          <a:p>
            <a:pPr algn="ctr"/>
            <a:endParaRPr/>
          </a:p>
        </p:txBody>
      </p:sp>
      <p:sp>
        <p:nvSpPr>
          <p:cNvPr id="17" name="TextBox 16"/>
          <p:cNvSpPr txBox="1"/>
          <p:nvPr/>
        </p:nvSpPr>
        <p:spPr>
          <a:xfrm>
            <a:off x="960120" y="5669280"/>
            <a:ext cx="155448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FFFFFF"/>
                </a:solidFill>
                <a:latin typeface="Arial"/>
                <a:ea typeface="Arial"/>
                <a:cs typeface="Arial"/>
              </a:rPr>
              <a:t>6 minutes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p:cNvSpPr/>
          <p:nvPr/>
        </p:nvSpPr>
        <p:spPr>
          <a:xfrm>
            <a:off x="9052560" y="3931920"/>
            <a:ext cx="5486400" cy="5486400"/>
          </a:xfrm>
          <a:prstGeom prst="ellipse">
            <a:avLst/>
          </a:prstGeom>
          <a:solidFill>
            <a:srgbClr val="EDE8F8"/>
          </a:solidFill>
          <a:ln>
            <a:noFill/>
          </a:ln>
        </p:spPr>
        <p:txBody>
          <a:bodyPr rtlCol="0" anchor="ctr"/>
          <a:lstStyle/>
          <a:p>
            <a:pPr algn="ctr"/>
            <a:endParaRPr/>
          </a:p>
        </p:txBody>
      </p:sp>
      <p:pic>
        <p:nvPicPr>
          <p:cNvPr id="11" name="Graphic 19">
            <a:extLst>
              <a:ext uri="{FF2B5EF4-FFF2-40B4-BE49-F238E27FC236}">
                <a16:creationId xmlns:a16="http://schemas.microsoft.com/office/drawing/2014/main" id="{5AADB8DD-F243-4F8D-BC60-11443AF4F579}"/>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5800" y="1551622"/>
            <a:ext cx="914400" cy="914400"/>
          </a:xfrm>
          <a:prstGeom prst="rect">
            <a:avLst/>
          </a:prstGeom>
        </p:spPr>
      </p:pic>
      <p:pic>
        <p:nvPicPr>
          <p:cNvPr id="9" name="Diversity_Self_care_slide_26">
            <a:hlinkClick r:id="" action="ppaction://media"/>
            <a:extLst>
              <a:ext uri="{FF2B5EF4-FFF2-40B4-BE49-F238E27FC236}">
                <a16:creationId xmlns:a16="http://schemas.microsoft.com/office/drawing/2014/main" id="{2528EEDD-2764-4D95-BAB4-AC44ACE96B2B}"/>
              </a:ext>
            </a:extLst>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4830775" y="1551622"/>
            <a:ext cx="6675120" cy="3754755"/>
          </a:xfrm>
          <a:prstGeom prst="roundRect">
            <a:avLst>
              <a:gd name="adj" fmla="val 5000"/>
            </a:avLst>
          </a:prstGeom>
        </p:spPr>
      </p:pic>
      <p:sp>
        <p:nvSpPr>
          <p:cNvPr id="14" name="Title"/>
          <p:cNvSpPr txBox="1"/>
          <p:nvPr/>
        </p:nvSpPr>
        <p:spPr>
          <a:xfrm>
            <a:off x="685800" y="2740342"/>
            <a:ext cx="3687775" cy="1463040"/>
          </a:xfrm>
          <a:prstGeom prst="rect">
            <a:avLst/>
          </a:prstGeom>
          <a:noFill/>
        </p:spPr>
        <p:txBody>
          <a:bodyPr wrap="square" lIns="0" tIns="0" rIns="0" bIns="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Student voice</a:t>
            </a:r>
          </a:p>
        </p:txBody>
      </p:sp>
      <p:sp>
        <p:nvSpPr>
          <p:cNvPr id="15" name="Rounded Rectangle 14"/>
          <p:cNvSpPr/>
          <p:nvPr/>
        </p:nvSpPr>
        <p:spPr>
          <a:xfrm>
            <a:off x="685800" y="4218242"/>
            <a:ext cx="3687775" cy="1088136"/>
          </a:xfrm>
          <a:prstGeom prst="roundRect">
            <a:avLst>
              <a:gd name="adj" fmla="val 10000"/>
            </a:avLst>
          </a:prstGeom>
          <a:solidFill>
            <a:srgbClr val="F3F0FA"/>
          </a:solidFill>
          <a:ln>
            <a:noFill/>
          </a:ln>
        </p:spPr>
        <p:txBody>
          <a:bodyPr rtlCol="0" anchor="ctr"/>
          <a:lstStyle/>
          <a:p>
            <a:pPr algn="ctr"/>
            <a:endParaRPr/>
          </a:p>
        </p:txBody>
      </p:sp>
      <p:sp>
        <p:nvSpPr>
          <p:cNvPr id="16" name="TextBox 15"/>
          <p:cNvSpPr txBox="1"/>
          <p:nvPr/>
        </p:nvSpPr>
        <p:spPr>
          <a:xfrm>
            <a:off x="914400" y="4218242"/>
            <a:ext cx="3230575" cy="1088136"/>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What decisions were made, and who made them?</a:t>
            </a:r>
          </a:p>
          <a:p>
            <a:pPr marL="0" indent="0" algn="l">
              <a:lnSpc>
                <a:spcPct val="100000"/>
              </a:lnSpc>
              <a:spcBef>
                <a:spcPts val="400"/>
              </a:spcBef>
              <a:buNone/>
            </a:pPr>
            <a:r>
              <a:rPr lang="en-AU" sz="1600" b="1">
                <a:solidFill>
                  <a:srgbClr val="3D2A6B"/>
                </a:solidFill>
                <a:latin typeface="Arial"/>
                <a:ea typeface="Arial"/>
                <a:cs typeface="Arial"/>
              </a:rPr>
              <a:t>What impact did those decisions have on Adon?</a:t>
            </a:r>
          </a:p>
        </p:txBody>
      </p:sp>
    </p:spTree>
    <p:custDataLst>
      <p:tags r:id="rId1"/>
    </p:custDataLst>
    <p:extLst>
      <p:ext uri="{BB962C8B-B14F-4D97-AF65-F5344CB8AC3E}">
        <p14:creationId xmlns:p14="http://schemas.microsoft.com/office/powerpoint/2010/main" val="3747052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10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DC6C6-9BF4-BACA-5DF6-0792FC905A7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555D9F-B869-6745-EE48-E0ACD4DE005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Partnership activity</a:t>
            </a:r>
          </a:p>
        </p:txBody>
      </p:sp>
      <p:sp>
        <p:nvSpPr>
          <p:cNvPr id="6" name="TextBox 5"/>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100" b="1">
                <a:solidFill>
                  <a:srgbClr val="3D2A6B"/>
                </a:solidFill>
                <a:latin typeface="Arial"/>
                <a:ea typeface="Arial"/>
                <a:cs typeface="Arial"/>
              </a:rPr>
              <a:t>For each partner: what do they bring, and what challenges might they face?</a:t>
            </a:r>
          </a:p>
        </p:txBody>
      </p:sp>
      <p:sp>
        <p:nvSpPr>
          <p:cNvPr id="7" name="Rounded Rectangle 6"/>
          <p:cNvSpPr/>
          <p:nvPr/>
        </p:nvSpPr>
        <p:spPr>
          <a:xfrm>
            <a:off x="685800" y="2011680"/>
            <a:ext cx="2554148" cy="685800"/>
          </a:xfrm>
          <a:prstGeom prst="roundRect">
            <a:avLst>
              <a:gd name="adj" fmla="val 30000"/>
            </a:avLst>
          </a:prstGeom>
          <a:solidFill>
            <a:srgbClr val="584099"/>
          </a:solidFill>
          <a:ln>
            <a:noFill/>
          </a:ln>
        </p:spPr>
        <p:txBody>
          <a:bodyPr rtlCol="0" anchor="ctr"/>
          <a:lstStyle/>
          <a:p>
            <a:pPr algn="ctr"/>
            <a:endParaRPr/>
          </a:p>
        </p:txBody>
      </p:sp>
      <p:sp>
        <p:nvSpPr>
          <p:cNvPr id="8" name="TextBox 7"/>
          <p:cNvSpPr txBox="1"/>
          <p:nvPr/>
        </p:nvSpPr>
        <p:spPr>
          <a:xfrm>
            <a:off x="960120"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FFFFFF"/>
                </a:solidFill>
                <a:latin typeface="Arial Black"/>
                <a:ea typeface="Arial Black"/>
                <a:cs typeface="Arial Black"/>
              </a:rPr>
              <a:t>Student</a:t>
            </a:r>
          </a:p>
        </p:txBody>
      </p:sp>
      <p:sp>
        <p:nvSpPr>
          <p:cNvPr id="9" name="Rounded Rectangle 8"/>
          <p:cNvSpPr/>
          <p:nvPr/>
        </p:nvSpPr>
        <p:spPr>
          <a:xfrm>
            <a:off x="685800"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0" name="TextBox 9"/>
          <p:cNvSpPr txBox="1"/>
          <p:nvPr/>
        </p:nvSpPr>
        <p:spPr>
          <a:xfrm>
            <a:off x="868680"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11" name="Rounded Rectangle 10"/>
          <p:cNvSpPr/>
          <p:nvPr/>
        </p:nvSpPr>
        <p:spPr>
          <a:xfrm>
            <a:off x="685800"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2" name="TextBox 11"/>
          <p:cNvSpPr txBox="1"/>
          <p:nvPr/>
        </p:nvSpPr>
        <p:spPr>
          <a:xfrm>
            <a:off x="868680"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13" name="Rounded Rectangle 12"/>
          <p:cNvSpPr/>
          <p:nvPr/>
        </p:nvSpPr>
        <p:spPr>
          <a:xfrm>
            <a:off x="3441116" y="2011680"/>
            <a:ext cx="2554148" cy="685800"/>
          </a:xfrm>
          <a:prstGeom prst="roundRect">
            <a:avLst>
              <a:gd name="adj" fmla="val 30000"/>
            </a:avLst>
          </a:prstGeom>
          <a:solidFill>
            <a:srgbClr val="F3F0FA"/>
          </a:solidFill>
          <a:ln>
            <a:noFill/>
          </a:ln>
        </p:spPr>
        <p:txBody>
          <a:bodyPr rtlCol="0" anchor="ctr"/>
          <a:lstStyle/>
          <a:p>
            <a:pPr algn="ctr"/>
            <a:endParaRPr/>
          </a:p>
        </p:txBody>
      </p:sp>
      <p:sp>
        <p:nvSpPr>
          <p:cNvPr id="14" name="TextBox 13"/>
          <p:cNvSpPr txBox="1"/>
          <p:nvPr/>
        </p:nvSpPr>
        <p:spPr>
          <a:xfrm>
            <a:off x="3715436"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584099"/>
                </a:solidFill>
                <a:latin typeface="Arial Black"/>
                <a:ea typeface="Arial Black"/>
                <a:cs typeface="Arial Black"/>
              </a:rPr>
              <a:t>Parents and carers</a:t>
            </a:r>
          </a:p>
        </p:txBody>
      </p:sp>
      <p:sp>
        <p:nvSpPr>
          <p:cNvPr id="15" name="Rounded Rectangle 14"/>
          <p:cNvSpPr/>
          <p:nvPr/>
        </p:nvSpPr>
        <p:spPr>
          <a:xfrm>
            <a:off x="3441116"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6" name="TextBox 15"/>
          <p:cNvSpPr txBox="1"/>
          <p:nvPr/>
        </p:nvSpPr>
        <p:spPr>
          <a:xfrm>
            <a:off x="3623996"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17" name="Rounded Rectangle 16"/>
          <p:cNvSpPr/>
          <p:nvPr/>
        </p:nvSpPr>
        <p:spPr>
          <a:xfrm>
            <a:off x="3441116"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8" name="TextBox 17"/>
          <p:cNvSpPr txBox="1"/>
          <p:nvPr/>
        </p:nvSpPr>
        <p:spPr>
          <a:xfrm>
            <a:off x="3623996"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19" name="Rounded Rectangle 18"/>
          <p:cNvSpPr/>
          <p:nvPr/>
        </p:nvSpPr>
        <p:spPr>
          <a:xfrm>
            <a:off x="6196432" y="2011680"/>
            <a:ext cx="2554148" cy="685800"/>
          </a:xfrm>
          <a:prstGeom prst="roundRect">
            <a:avLst>
              <a:gd name="adj" fmla="val 30000"/>
            </a:avLst>
          </a:prstGeom>
          <a:solidFill>
            <a:srgbClr val="F3F0FA"/>
          </a:solidFill>
          <a:ln>
            <a:noFill/>
          </a:ln>
        </p:spPr>
        <p:txBody>
          <a:bodyPr rtlCol="0" anchor="ctr"/>
          <a:lstStyle/>
          <a:p>
            <a:pPr algn="ctr"/>
            <a:endParaRPr/>
          </a:p>
        </p:txBody>
      </p:sp>
      <p:sp>
        <p:nvSpPr>
          <p:cNvPr id="20" name="TextBox 19"/>
          <p:cNvSpPr txBox="1"/>
          <p:nvPr/>
        </p:nvSpPr>
        <p:spPr>
          <a:xfrm>
            <a:off x="6470752"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584099"/>
                </a:solidFill>
                <a:latin typeface="Arial Black"/>
                <a:ea typeface="Arial Black"/>
                <a:cs typeface="Arial Black"/>
              </a:rPr>
              <a:t>Teachers</a:t>
            </a:r>
          </a:p>
        </p:txBody>
      </p:sp>
      <p:sp>
        <p:nvSpPr>
          <p:cNvPr id="21" name="Rounded Rectangle 20"/>
          <p:cNvSpPr/>
          <p:nvPr/>
        </p:nvSpPr>
        <p:spPr>
          <a:xfrm>
            <a:off x="6196432"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22" name="TextBox 21"/>
          <p:cNvSpPr txBox="1"/>
          <p:nvPr/>
        </p:nvSpPr>
        <p:spPr>
          <a:xfrm>
            <a:off x="6379312"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23" name="Rounded Rectangle 22"/>
          <p:cNvSpPr/>
          <p:nvPr/>
        </p:nvSpPr>
        <p:spPr>
          <a:xfrm>
            <a:off x="6196432"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24" name="TextBox 23"/>
          <p:cNvSpPr txBox="1"/>
          <p:nvPr/>
        </p:nvSpPr>
        <p:spPr>
          <a:xfrm>
            <a:off x="6379312"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25" name="Rounded Rectangle 24"/>
          <p:cNvSpPr/>
          <p:nvPr/>
        </p:nvSpPr>
        <p:spPr>
          <a:xfrm>
            <a:off x="8951747" y="2011680"/>
            <a:ext cx="2554148" cy="685800"/>
          </a:xfrm>
          <a:prstGeom prst="roundRect">
            <a:avLst>
              <a:gd name="adj" fmla="val 30000"/>
            </a:avLst>
          </a:prstGeom>
          <a:solidFill>
            <a:srgbClr val="F3F0FA"/>
          </a:solidFill>
          <a:ln>
            <a:noFill/>
          </a:ln>
        </p:spPr>
        <p:txBody>
          <a:bodyPr rtlCol="0" anchor="ctr"/>
          <a:lstStyle/>
          <a:p>
            <a:pPr algn="ctr"/>
            <a:endParaRPr/>
          </a:p>
        </p:txBody>
      </p:sp>
      <p:sp>
        <p:nvSpPr>
          <p:cNvPr id="26" name="TextBox 25"/>
          <p:cNvSpPr txBox="1"/>
          <p:nvPr/>
        </p:nvSpPr>
        <p:spPr>
          <a:xfrm>
            <a:off x="9226067"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584099"/>
                </a:solidFill>
                <a:latin typeface="Arial Black"/>
                <a:ea typeface="Arial Black"/>
                <a:cs typeface="Arial Black"/>
              </a:rPr>
              <a:t>Support staff</a:t>
            </a:r>
          </a:p>
        </p:txBody>
      </p:sp>
      <p:sp>
        <p:nvSpPr>
          <p:cNvPr id="27" name="Rounded Rectangle 26"/>
          <p:cNvSpPr/>
          <p:nvPr/>
        </p:nvSpPr>
        <p:spPr>
          <a:xfrm>
            <a:off x="8951747"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28" name="TextBox 27"/>
          <p:cNvSpPr txBox="1"/>
          <p:nvPr/>
        </p:nvSpPr>
        <p:spPr>
          <a:xfrm>
            <a:off x="9134627"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29" name="Rounded Rectangle 28"/>
          <p:cNvSpPr/>
          <p:nvPr/>
        </p:nvSpPr>
        <p:spPr>
          <a:xfrm>
            <a:off x="8951747"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30" name="TextBox 29"/>
          <p:cNvSpPr txBox="1"/>
          <p:nvPr/>
        </p:nvSpPr>
        <p:spPr>
          <a:xfrm>
            <a:off x="9134627"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31" name="TextBox 30"/>
          <p:cNvSpPr txBox="1"/>
          <p:nvPr/>
        </p:nvSpPr>
        <p:spPr>
          <a:xfrm>
            <a:off x="5029200" y="5806440"/>
            <a:ext cx="6476695" cy="548640"/>
          </a:xfrm>
          <a:prstGeom prst="rect">
            <a:avLst/>
          </a:prstGeom>
          <a:noFill/>
        </p:spPr>
        <p:txBody>
          <a:bodyPr wrap="square" lIns="0" tIns="0" rIns="0" bIns="0" anchor="ctr">
            <a:noAutofit/>
          </a:bodyPr>
          <a:lstStyle/>
          <a:p>
            <a:pPr marL="0" indent="0" algn="r">
              <a:lnSpc>
                <a:spcPct val="100000"/>
              </a:lnSpc>
              <a:spcBef>
                <a:spcPts val="0"/>
              </a:spcBef>
              <a:buNone/>
            </a:pPr>
            <a:r>
              <a:rPr lang="en-AU" sz="1700" b="1">
                <a:solidFill>
                  <a:srgbClr val="584099"/>
                </a:solidFill>
                <a:latin typeface="Arial"/>
                <a:ea typeface="Arial"/>
                <a:cs typeface="Arial"/>
              </a:rPr>
              <a:t>Then compare: what do all four have in common?</a:t>
            </a:r>
          </a:p>
        </p:txBody>
      </p:sp>
      <p:sp>
        <p:nvSpPr>
          <p:cNvPr id="32" name="Rounded Rectangle 31"/>
          <p:cNvSpPr/>
          <p:nvPr/>
        </p:nvSpPr>
        <p:spPr>
          <a:xfrm>
            <a:off x="685800" y="5806440"/>
            <a:ext cx="2103120" cy="548640"/>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33" name="TextBox 32"/>
          <p:cNvSpPr txBox="1"/>
          <p:nvPr/>
        </p:nvSpPr>
        <p:spPr>
          <a:xfrm>
            <a:off x="960120" y="5806440"/>
            <a:ext cx="155448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8 minutes</a:t>
            </a:r>
          </a:p>
        </p:txBody>
      </p:sp>
    </p:spTree>
    <p:extLst>
      <p:ext uri="{BB962C8B-B14F-4D97-AF65-F5344CB8AC3E}">
        <p14:creationId xmlns:p14="http://schemas.microsoft.com/office/powerpoint/2010/main" val="3514962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2A8AD-30E8-445B-A354-028A833B793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4838D88-E610-403C-B6B2-EC64CB6D651F}"/>
              </a:ext>
            </a:extLst>
          </p:cNvPr>
          <p:cNvSpPr txBox="1"/>
          <p:nvPr/>
        </p:nvSpPr>
        <p:spPr>
          <a:xfrm>
            <a:off x="685800" y="457200"/>
            <a:ext cx="5445106" cy="822960"/>
          </a:xfrm>
          <a:prstGeom prst="rect">
            <a:avLst/>
          </a:prstGeom>
          <a:solidFill>
            <a:schemeClr val="bg1"/>
          </a:solidFill>
        </p:spPr>
        <p:txBody>
          <a:bodyPr wrap="square" lIns="0" tIns="0" rIns="0" bIns="0" rtlCol="0" anchor="t">
            <a:noAutofit/>
          </a:bodyPr>
          <a:lstStyle/>
          <a:p>
            <a:pPr marL="0" indent="0" algn="l">
              <a:lnSpc>
                <a:spcPct val="100000"/>
              </a:lnSpc>
              <a:spcBef>
                <a:spcPts val="0"/>
              </a:spcBef>
              <a:buNone/>
            </a:pPr>
            <a:r>
              <a:rPr lang="en-AU" sz="3600" b="0">
                <a:solidFill>
                  <a:srgbClr val="584099"/>
                </a:solidFill>
                <a:latin typeface="Arial Black"/>
                <a:ea typeface="Arial Black"/>
                <a:cs typeface="Arial Black"/>
              </a:rPr>
              <a:t>What works?</a:t>
            </a:r>
          </a:p>
        </p:txBody>
      </p:sp>
      <p:pic>
        <p:nvPicPr>
          <p:cNvPr id="7" name="Picture 6" descr="Father standing with child on shoulders indoors, both smiling with flexed arm muscles">
            <a:extLst>
              <a:ext uri="{FF2B5EF4-FFF2-40B4-BE49-F238E27FC236}">
                <a16:creationId xmlns:a16="http://schemas.microsoft.com/office/drawing/2014/main" id="{BFCF9B49-A0F6-5B3D-B16E-6779F56A6B26}"/>
              </a:ext>
            </a:extLst>
          </p:cNvPr>
          <p:cNvPicPr>
            <a:picLocks noChangeAspect="1"/>
          </p:cNvPicPr>
          <p:nvPr/>
        </p:nvPicPr>
        <p:blipFill>
          <a:blip r:embed="rId3">
            <a:extLst>
              <a:ext uri="{28A0092B-C50C-407E-A947-70E740481C1C}">
                <a14:useLocalDpi xmlns:a14="http://schemas.microsoft.com/office/drawing/2010/main" val="0"/>
              </a:ext>
            </a:extLst>
          </a:blip>
          <a:srcRect l="16530" r="16530"/>
          <a:stretch/>
        </p:blipFill>
        <p:spPr>
          <a:xfrm>
            <a:off x="6405226" y="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9" name="Rounded Rectangle 8"/>
          <p:cNvSpPr/>
          <p:nvPr/>
        </p:nvSpPr>
        <p:spPr>
          <a:xfrm>
            <a:off x="685800" y="1417320"/>
            <a:ext cx="5353666" cy="2011680"/>
          </a:xfrm>
          <a:prstGeom prst="roundRect">
            <a:avLst>
              <a:gd name="adj" fmla="val 8000"/>
            </a:avLst>
          </a:prstGeom>
          <a:solidFill>
            <a:srgbClr val="F3F0FA"/>
          </a:solidFill>
          <a:ln>
            <a:noFill/>
          </a:ln>
        </p:spPr>
        <p:txBody>
          <a:bodyPr rtlCol="0" anchor="ctr"/>
          <a:lstStyle/>
          <a:p>
            <a:pPr algn="ctr"/>
            <a:endParaRPr/>
          </a:p>
        </p:txBody>
      </p:sp>
      <p:pic>
        <p:nvPicPr>
          <p:cNvPr id="10" name="Discussion icon" descr="Speech bubbl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1645920"/>
            <a:ext cx="548640" cy="548640"/>
          </a:xfrm>
          <a:prstGeom prst="rect">
            <a:avLst/>
          </a:prstGeom>
        </p:spPr>
      </p:pic>
      <p:sp>
        <p:nvSpPr>
          <p:cNvPr id="11" name="TextBox 10"/>
          <p:cNvSpPr txBox="1"/>
          <p:nvPr/>
        </p:nvSpPr>
        <p:spPr>
          <a:xfrm>
            <a:off x="1691640" y="1417320"/>
            <a:ext cx="4073506" cy="201168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Think of a family you have a good relationship with.</a:t>
            </a:r>
          </a:p>
          <a:p>
            <a:pPr marL="0" indent="0" algn="l">
              <a:lnSpc>
                <a:spcPct val="100000"/>
              </a:lnSpc>
              <a:spcBef>
                <a:spcPts val="800"/>
              </a:spcBef>
              <a:buNone/>
            </a:pPr>
            <a:r>
              <a:rPr lang="en-AU" sz="1600" b="0">
                <a:solidFill>
                  <a:srgbClr val="2D2440"/>
                </a:solidFill>
                <a:latin typeface="Arial"/>
                <a:ea typeface="Arial"/>
                <a:cs typeface="Arial"/>
              </a:rPr>
              <a:t>How did you establish this? What does it look like? Why does it work?</a:t>
            </a:r>
          </a:p>
        </p:txBody>
      </p:sp>
      <p:sp>
        <p:nvSpPr>
          <p:cNvPr id="12" name="TextBox 11"/>
          <p:cNvSpPr txBox="1"/>
          <p:nvPr/>
        </p:nvSpPr>
        <p:spPr>
          <a:xfrm>
            <a:off x="685800" y="3611880"/>
            <a:ext cx="5353666" cy="365760"/>
          </a:xfrm>
          <a:prstGeom prst="rect">
            <a:avLst/>
          </a:prstGeom>
          <a:noFill/>
        </p:spPr>
        <p:txBody>
          <a:bodyPr wrap="square" lIns="0" tIns="0" rIns="0" bIns="0" anchor="t">
            <a:noAutofit/>
          </a:bodyPr>
          <a:lstStyle/>
          <a:p>
            <a:pPr marL="0" indent="0" algn="l">
              <a:lnSpc>
                <a:spcPct val="100000"/>
              </a:lnSpc>
              <a:spcBef>
                <a:spcPts val="0"/>
              </a:spcBef>
              <a:buNone/>
            </a:pPr>
            <a:r>
              <a:rPr lang="en-AU" sz="1600" b="1">
                <a:solidFill>
                  <a:srgbClr val="584099"/>
                </a:solidFill>
                <a:latin typeface="Arial"/>
                <a:ea typeface="Arial"/>
                <a:cs typeface="Arial"/>
              </a:rPr>
              <a:t>What works for everyone at the table:</a:t>
            </a:r>
          </a:p>
        </p:txBody>
      </p:sp>
      <p:sp>
        <p:nvSpPr>
          <p:cNvPr id="13" name="Rounded Rectangle 12"/>
          <p:cNvSpPr/>
          <p:nvPr/>
        </p:nvSpPr>
        <p:spPr>
          <a:xfrm>
            <a:off x="685800" y="4023360"/>
            <a:ext cx="2631113" cy="475488"/>
          </a:xfrm>
          <a:prstGeom prst="roundRect">
            <a:avLst>
              <a:gd name="adj" fmla="val 40000"/>
            </a:avLst>
          </a:prstGeom>
          <a:solidFill>
            <a:srgbClr val="F3F0FA"/>
          </a:solidFill>
          <a:ln>
            <a:noFill/>
          </a:ln>
        </p:spPr>
        <p:txBody>
          <a:bodyPr rtlCol="0" anchor="ctr"/>
          <a:lstStyle/>
          <a:p>
            <a:pPr algn="ctr"/>
            <a:endParaRPr/>
          </a:p>
        </p:txBody>
      </p:sp>
      <p:sp>
        <p:nvSpPr>
          <p:cNvPr id="14" name="TextBox 13"/>
          <p:cNvSpPr txBox="1"/>
          <p:nvPr/>
        </p:nvSpPr>
        <p:spPr>
          <a:xfrm>
            <a:off x="960120" y="4023360"/>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Be prepared for meetings</a:t>
            </a:r>
          </a:p>
        </p:txBody>
      </p:sp>
      <p:sp>
        <p:nvSpPr>
          <p:cNvPr id="15" name="Rounded Rectangle 14"/>
          <p:cNvSpPr/>
          <p:nvPr/>
        </p:nvSpPr>
        <p:spPr>
          <a:xfrm>
            <a:off x="3408353" y="4023360"/>
            <a:ext cx="2631113" cy="475488"/>
          </a:xfrm>
          <a:prstGeom prst="roundRect">
            <a:avLst>
              <a:gd name="adj" fmla="val 40000"/>
            </a:avLst>
          </a:prstGeom>
          <a:solidFill>
            <a:srgbClr val="F3F0FA"/>
          </a:solidFill>
          <a:ln>
            <a:noFill/>
          </a:ln>
        </p:spPr>
        <p:txBody>
          <a:bodyPr rtlCol="0" anchor="ctr"/>
          <a:lstStyle/>
          <a:p>
            <a:pPr algn="ctr"/>
            <a:endParaRPr/>
          </a:p>
        </p:txBody>
      </p:sp>
      <p:sp>
        <p:nvSpPr>
          <p:cNvPr id="16" name="TextBox 15"/>
          <p:cNvSpPr txBox="1"/>
          <p:nvPr/>
        </p:nvSpPr>
        <p:spPr>
          <a:xfrm>
            <a:off x="3682673" y="4023360"/>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Share information</a:t>
            </a:r>
          </a:p>
        </p:txBody>
      </p:sp>
      <p:sp>
        <p:nvSpPr>
          <p:cNvPr id="17" name="Rounded Rectangle 16"/>
          <p:cNvSpPr/>
          <p:nvPr/>
        </p:nvSpPr>
        <p:spPr>
          <a:xfrm>
            <a:off x="685800" y="4590288"/>
            <a:ext cx="2631113" cy="475488"/>
          </a:xfrm>
          <a:prstGeom prst="roundRect">
            <a:avLst>
              <a:gd name="adj" fmla="val 40000"/>
            </a:avLst>
          </a:prstGeom>
          <a:solidFill>
            <a:srgbClr val="F3F0FA"/>
          </a:solidFill>
          <a:ln>
            <a:noFill/>
          </a:ln>
        </p:spPr>
        <p:txBody>
          <a:bodyPr rtlCol="0" anchor="ctr"/>
          <a:lstStyle/>
          <a:p>
            <a:pPr algn="ctr"/>
            <a:endParaRPr/>
          </a:p>
        </p:txBody>
      </p:sp>
      <p:sp>
        <p:nvSpPr>
          <p:cNvPr id="18" name="TextBox 17"/>
          <p:cNvSpPr txBox="1"/>
          <p:nvPr/>
        </p:nvSpPr>
        <p:spPr>
          <a:xfrm>
            <a:off x="960120" y="4590288"/>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Ask questions</a:t>
            </a:r>
          </a:p>
        </p:txBody>
      </p:sp>
      <p:sp>
        <p:nvSpPr>
          <p:cNvPr id="19" name="Rounded Rectangle 18"/>
          <p:cNvSpPr/>
          <p:nvPr/>
        </p:nvSpPr>
        <p:spPr>
          <a:xfrm>
            <a:off x="3408353" y="4590288"/>
            <a:ext cx="2631113" cy="475488"/>
          </a:xfrm>
          <a:prstGeom prst="roundRect">
            <a:avLst>
              <a:gd name="adj" fmla="val 40000"/>
            </a:avLst>
          </a:prstGeom>
          <a:solidFill>
            <a:srgbClr val="F3F0FA"/>
          </a:solidFill>
          <a:ln>
            <a:noFill/>
          </a:ln>
        </p:spPr>
        <p:txBody>
          <a:bodyPr rtlCol="0" anchor="ctr"/>
          <a:lstStyle/>
          <a:p>
            <a:pPr algn="ctr"/>
            <a:endParaRPr/>
          </a:p>
        </p:txBody>
      </p:sp>
      <p:sp>
        <p:nvSpPr>
          <p:cNvPr id="20" name="TextBox 19"/>
          <p:cNvSpPr txBox="1"/>
          <p:nvPr/>
        </p:nvSpPr>
        <p:spPr>
          <a:xfrm>
            <a:off x="3682673" y="4590288"/>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Seek clarification</a:t>
            </a:r>
          </a:p>
        </p:txBody>
      </p:sp>
      <p:sp>
        <p:nvSpPr>
          <p:cNvPr id="21" name="Rounded Rectangle 20"/>
          <p:cNvSpPr/>
          <p:nvPr/>
        </p:nvSpPr>
        <p:spPr>
          <a:xfrm>
            <a:off x="685800" y="5157216"/>
            <a:ext cx="2631113" cy="475488"/>
          </a:xfrm>
          <a:prstGeom prst="roundRect">
            <a:avLst>
              <a:gd name="adj" fmla="val 40000"/>
            </a:avLst>
          </a:prstGeom>
          <a:solidFill>
            <a:srgbClr val="F3F0FA"/>
          </a:solidFill>
          <a:ln>
            <a:noFill/>
          </a:ln>
        </p:spPr>
        <p:txBody>
          <a:bodyPr rtlCol="0" anchor="ctr"/>
          <a:lstStyle/>
          <a:p>
            <a:pPr algn="ctr"/>
            <a:endParaRPr/>
          </a:p>
        </p:txBody>
      </p:sp>
      <p:sp>
        <p:nvSpPr>
          <p:cNvPr id="22" name="TextBox 21"/>
          <p:cNvSpPr txBox="1"/>
          <p:nvPr/>
        </p:nvSpPr>
        <p:spPr>
          <a:xfrm>
            <a:off x="960120" y="5157216"/>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Assume the best</a:t>
            </a:r>
          </a:p>
        </p:txBody>
      </p:sp>
      <p:sp>
        <p:nvSpPr>
          <p:cNvPr id="23" name="Rounded Rectangle 22"/>
          <p:cNvSpPr/>
          <p:nvPr/>
        </p:nvSpPr>
        <p:spPr>
          <a:xfrm>
            <a:off x="685800" y="5806440"/>
            <a:ext cx="2103120" cy="548640"/>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24" name="TextBox 23"/>
          <p:cNvSpPr txBox="1"/>
          <p:nvPr/>
        </p:nvSpPr>
        <p:spPr>
          <a:xfrm>
            <a:off x="960120" y="5806440"/>
            <a:ext cx="155448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6 minutes</a:t>
            </a:r>
          </a:p>
        </p:txBody>
      </p:sp>
    </p:spTree>
    <p:extLst>
      <p:ext uri="{BB962C8B-B14F-4D97-AF65-F5344CB8AC3E}">
        <p14:creationId xmlns:p14="http://schemas.microsoft.com/office/powerpoint/2010/main" val="3394352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Meeting families where they are</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400" b="1">
                <a:solidFill>
                  <a:srgbClr val="3D2A6B"/>
                </a:solidFill>
                <a:latin typeface="Arial"/>
                <a:ea typeface="Arial"/>
                <a:cs typeface="Arial"/>
              </a:rPr>
              <a:t>Listen before solving.</a:t>
            </a:r>
          </a:p>
        </p:txBody>
      </p:sp>
      <p:sp>
        <p:nvSpPr>
          <p:cNvPr id="4" name="Rounded Rectangle 3"/>
          <p:cNvSpPr/>
          <p:nvPr/>
        </p:nvSpPr>
        <p:spPr>
          <a:xfrm>
            <a:off x="685800" y="2057400"/>
            <a:ext cx="5309464" cy="91440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57400"/>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Ask about communication preferences and priorities</a:t>
            </a:r>
          </a:p>
        </p:txBody>
      </p:sp>
      <p:sp>
        <p:nvSpPr>
          <p:cNvPr id="6" name="Rounded Rectangle 5"/>
          <p:cNvSpPr/>
          <p:nvPr/>
        </p:nvSpPr>
        <p:spPr>
          <a:xfrm>
            <a:off x="6196432" y="2057400"/>
            <a:ext cx="5309464" cy="91440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6470752" y="2057400"/>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Make room for questions and uncertainty</a:t>
            </a:r>
          </a:p>
        </p:txBody>
      </p:sp>
      <p:sp>
        <p:nvSpPr>
          <p:cNvPr id="8" name="Rounded Rectangle 7"/>
          <p:cNvSpPr/>
          <p:nvPr/>
        </p:nvSpPr>
        <p:spPr>
          <a:xfrm>
            <a:off x="685800" y="3172968"/>
            <a:ext cx="5309464" cy="91440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960120" y="3172968"/>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Explain roles, options and next steps plainly</a:t>
            </a:r>
          </a:p>
        </p:txBody>
      </p:sp>
      <p:sp>
        <p:nvSpPr>
          <p:cNvPr id="10" name="Rounded Rectangle 9"/>
          <p:cNvSpPr/>
          <p:nvPr/>
        </p:nvSpPr>
        <p:spPr>
          <a:xfrm>
            <a:off x="6196432" y="3172968"/>
            <a:ext cx="5309464" cy="91440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6470752" y="3172968"/>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Check what is workable for the family now</a:t>
            </a:r>
          </a:p>
        </p:txBody>
      </p:sp>
      <p:sp>
        <p:nvSpPr>
          <p:cNvPr id="12" name="Rounded Rectangle 11"/>
          <p:cNvSpPr/>
          <p:nvPr/>
        </p:nvSpPr>
        <p:spPr>
          <a:xfrm>
            <a:off x="685800" y="4288536"/>
            <a:ext cx="5309464" cy="91440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960120" y="4288536"/>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Avoid judging a family's pace, response or choices</a:t>
            </a:r>
          </a:p>
        </p:txBody>
      </p:sp>
      <p:sp>
        <p:nvSpPr>
          <p:cNvPr id="14" name="Rounded Rectangle 13"/>
          <p:cNvSpPr/>
          <p:nvPr/>
        </p:nvSpPr>
        <p:spPr>
          <a:xfrm>
            <a:off x="685800" y="557784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5" name="TextBox 14"/>
          <p:cNvSpPr txBox="1"/>
          <p:nvPr/>
        </p:nvSpPr>
        <p:spPr>
          <a:xfrm>
            <a:off x="960120" y="557784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600" b="1">
                <a:solidFill>
                  <a:srgbClr val="584099"/>
                </a:solidFill>
                <a:latin typeface="Arial"/>
                <a:ea typeface="Arial"/>
                <a:cs typeface="Arial"/>
              </a:rPr>
              <a:t>Environment-first thinking applies to meetings too: what could the school change about the process?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Consultation literacy</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Useful consultation includes:</a:t>
            </a:r>
          </a:p>
        </p:txBody>
      </p:sp>
      <p:sp>
        <p:nvSpPr>
          <p:cNvPr id="4" name="Rounded Rectangle 3"/>
          <p:cNvSpPr/>
          <p:nvPr/>
        </p:nvSpPr>
        <p:spPr>
          <a:xfrm>
            <a:off x="685800"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 clear, shared purpose</a:t>
            </a:r>
          </a:p>
        </p:txBody>
      </p:sp>
      <p:sp>
        <p:nvSpPr>
          <p:cNvPr id="6" name="Rounded Rectangle 5"/>
          <p:cNvSpPr/>
          <p:nvPr/>
        </p:nvSpPr>
        <p:spPr>
          <a:xfrm>
            <a:off x="4368698"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4643018"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Open questions</a:t>
            </a:r>
          </a:p>
        </p:txBody>
      </p:sp>
      <p:sp>
        <p:nvSpPr>
          <p:cNvPr id="8" name="Rounded Rectangle 7"/>
          <p:cNvSpPr/>
          <p:nvPr/>
        </p:nvSpPr>
        <p:spPr>
          <a:xfrm>
            <a:off x="8051597"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8325917"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More than one way to contribute</a:t>
            </a:r>
          </a:p>
        </p:txBody>
      </p:sp>
      <p:sp>
        <p:nvSpPr>
          <p:cNvPr id="10" name="Rounded Rectangle 9"/>
          <p:cNvSpPr/>
          <p:nvPr/>
        </p:nvSpPr>
        <p:spPr>
          <a:xfrm>
            <a:off x="685800"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960120"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Respect for student and family knowledge</a:t>
            </a:r>
          </a:p>
        </p:txBody>
      </p:sp>
      <p:sp>
        <p:nvSpPr>
          <p:cNvPr id="12" name="Rounded Rectangle 11"/>
          <p:cNvSpPr/>
          <p:nvPr/>
        </p:nvSpPr>
        <p:spPr>
          <a:xfrm>
            <a:off x="4368698"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4643018"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Accurate recording of what was heard</a:t>
            </a:r>
          </a:p>
        </p:txBody>
      </p:sp>
      <p:sp>
        <p:nvSpPr>
          <p:cNvPr id="14" name="Rounded Rectangle 13"/>
          <p:cNvSpPr/>
          <p:nvPr/>
        </p:nvSpPr>
        <p:spPr>
          <a:xfrm>
            <a:off x="8051597"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5" name="TextBox 14"/>
          <p:cNvSpPr txBox="1"/>
          <p:nvPr/>
        </p:nvSpPr>
        <p:spPr>
          <a:xfrm>
            <a:off x="8325917"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An agreed action, responsibility and follow-up</a:t>
            </a:r>
          </a:p>
        </p:txBody>
      </p:sp>
      <p:sp>
        <p:nvSpPr>
          <p:cNvPr id="16" name="Rounded Rectangle 15"/>
          <p:cNvSpPr/>
          <p:nvPr/>
        </p:nvSpPr>
        <p:spPr>
          <a:xfrm>
            <a:off x="685800" y="507492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7" name="TextBox 16"/>
          <p:cNvSpPr txBox="1"/>
          <p:nvPr/>
        </p:nvSpPr>
        <p:spPr>
          <a:xfrm>
            <a:off x="960120" y="507492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Ask, listen, and follow up.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Consulting students and families</a:t>
            </a:r>
          </a:p>
        </p:txBody>
      </p:sp>
      <p:sp>
        <p:nvSpPr>
          <p:cNvPr id="3" name="Rounded Rectangle 2"/>
          <p:cNvSpPr/>
          <p:nvPr/>
        </p:nvSpPr>
        <p:spPr>
          <a:xfrm>
            <a:off x="685800" y="1325880"/>
            <a:ext cx="5227168" cy="566928"/>
          </a:xfrm>
          <a:prstGeom prst="roundRect">
            <a:avLst>
              <a:gd name="adj" fmla="val 40000"/>
            </a:avLst>
          </a:prstGeom>
          <a:solidFill>
            <a:srgbClr val="584099"/>
          </a:solidFill>
          <a:ln>
            <a:noFill/>
          </a:ln>
        </p:spPr>
        <p:txBody>
          <a:bodyPr rtlCol="0" anchor="ctr"/>
          <a:lstStyle/>
          <a:p>
            <a:pPr algn="ctr"/>
            <a:endParaRPr/>
          </a:p>
        </p:txBody>
      </p:sp>
      <p:sp>
        <p:nvSpPr>
          <p:cNvPr id="4" name="TextBox 3"/>
          <p:cNvSpPr txBox="1"/>
          <p:nvPr/>
        </p:nvSpPr>
        <p:spPr>
          <a:xfrm>
            <a:off x="960120" y="1325880"/>
            <a:ext cx="4678528" cy="56692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FFFFFF"/>
                </a:solidFill>
                <a:latin typeface="Arial Black"/>
                <a:ea typeface="Arial Black"/>
                <a:cs typeface="Arial Black"/>
              </a:rPr>
              <a:t>With students</a:t>
            </a:r>
          </a:p>
        </p:txBody>
      </p:sp>
      <p:sp>
        <p:nvSpPr>
          <p:cNvPr id="5" name="Rounded Rectangle 4"/>
          <p:cNvSpPr/>
          <p:nvPr/>
        </p:nvSpPr>
        <p:spPr>
          <a:xfrm>
            <a:off x="685800"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6" name="TextBox 5"/>
          <p:cNvSpPr txBox="1"/>
          <p:nvPr/>
        </p:nvSpPr>
        <p:spPr>
          <a:xfrm>
            <a:off x="960120"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Offer communication choices</a:t>
            </a:r>
          </a:p>
        </p:txBody>
      </p:sp>
      <p:sp>
        <p:nvSpPr>
          <p:cNvPr id="7" name="Rounded Rectangle 6"/>
          <p:cNvSpPr/>
          <p:nvPr/>
        </p:nvSpPr>
        <p:spPr>
          <a:xfrm>
            <a:off x="3367964"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8" name="TextBox 7"/>
          <p:cNvSpPr txBox="1"/>
          <p:nvPr/>
        </p:nvSpPr>
        <p:spPr>
          <a:xfrm>
            <a:off x="3642284"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Meeting preparation</a:t>
            </a:r>
          </a:p>
        </p:txBody>
      </p:sp>
      <p:sp>
        <p:nvSpPr>
          <p:cNvPr id="9" name="Rounded Rectangle 8"/>
          <p:cNvSpPr/>
          <p:nvPr/>
        </p:nvSpPr>
        <p:spPr>
          <a:xfrm>
            <a:off x="685800"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10" name="TextBox 9"/>
          <p:cNvSpPr txBox="1"/>
          <p:nvPr/>
        </p:nvSpPr>
        <p:spPr>
          <a:xfrm>
            <a:off x="960120"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Simple choices</a:t>
            </a:r>
          </a:p>
        </p:txBody>
      </p:sp>
      <p:sp>
        <p:nvSpPr>
          <p:cNvPr id="11" name="Rounded Rectangle 10"/>
          <p:cNvSpPr/>
          <p:nvPr/>
        </p:nvSpPr>
        <p:spPr>
          <a:xfrm>
            <a:off x="3367964"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12" name="TextBox 11"/>
          <p:cNvSpPr txBox="1"/>
          <p:nvPr/>
        </p:nvSpPr>
        <p:spPr>
          <a:xfrm>
            <a:off x="3642284"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Processing time</a:t>
            </a:r>
          </a:p>
        </p:txBody>
      </p:sp>
      <p:sp>
        <p:nvSpPr>
          <p:cNvPr id="13" name="Rounded Rectangle 12"/>
          <p:cNvSpPr/>
          <p:nvPr/>
        </p:nvSpPr>
        <p:spPr>
          <a:xfrm>
            <a:off x="685800"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14" name="TextBox 13"/>
          <p:cNvSpPr txBox="1"/>
          <p:nvPr/>
        </p:nvSpPr>
        <p:spPr>
          <a:xfrm>
            <a:off x="960120"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Sensory-friendly spaces</a:t>
            </a:r>
          </a:p>
        </p:txBody>
      </p:sp>
      <p:sp>
        <p:nvSpPr>
          <p:cNvPr id="15" name="Rounded Rectangle 14"/>
          <p:cNvSpPr/>
          <p:nvPr/>
        </p:nvSpPr>
        <p:spPr>
          <a:xfrm>
            <a:off x="3367964"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16" name="TextBox 15"/>
          <p:cNvSpPr txBox="1"/>
          <p:nvPr/>
        </p:nvSpPr>
        <p:spPr>
          <a:xfrm>
            <a:off x="3642284"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Behaviour as communication</a:t>
            </a:r>
          </a:p>
        </p:txBody>
      </p:sp>
      <p:sp>
        <p:nvSpPr>
          <p:cNvPr id="17" name="Rounded Rectangle 16"/>
          <p:cNvSpPr/>
          <p:nvPr/>
        </p:nvSpPr>
        <p:spPr>
          <a:xfrm>
            <a:off x="685800"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18" name="TextBox 17"/>
          <p:cNvSpPr txBox="1"/>
          <p:nvPr/>
        </p:nvSpPr>
        <p:spPr>
          <a:xfrm>
            <a:off x="960120"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Strengths and interests</a:t>
            </a:r>
          </a:p>
        </p:txBody>
      </p:sp>
      <p:sp>
        <p:nvSpPr>
          <p:cNvPr id="19" name="Rounded Rectangle 18"/>
          <p:cNvSpPr/>
          <p:nvPr/>
        </p:nvSpPr>
        <p:spPr>
          <a:xfrm>
            <a:off x="3367964"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20" name="TextBox 19"/>
          <p:cNvSpPr txBox="1"/>
          <p:nvPr/>
        </p:nvSpPr>
        <p:spPr>
          <a:xfrm>
            <a:off x="3642284"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Support - don’t speak for</a:t>
            </a:r>
          </a:p>
        </p:txBody>
      </p:sp>
      <p:sp>
        <p:nvSpPr>
          <p:cNvPr id="21" name="Rounded Rectangle 20"/>
          <p:cNvSpPr/>
          <p:nvPr/>
        </p:nvSpPr>
        <p:spPr>
          <a:xfrm>
            <a:off x="685800" y="5202936"/>
            <a:ext cx="2545004" cy="676656"/>
          </a:xfrm>
          <a:prstGeom prst="roundRect">
            <a:avLst>
              <a:gd name="adj" fmla="val 20000"/>
            </a:avLst>
          </a:prstGeom>
          <a:solidFill>
            <a:srgbClr val="F3F0FA"/>
          </a:solidFill>
          <a:ln>
            <a:noFill/>
          </a:ln>
        </p:spPr>
        <p:txBody>
          <a:bodyPr rtlCol="0" anchor="ctr"/>
          <a:lstStyle/>
          <a:p>
            <a:pPr algn="ctr"/>
            <a:endParaRPr/>
          </a:p>
        </p:txBody>
      </p:sp>
      <p:sp>
        <p:nvSpPr>
          <p:cNvPr id="22" name="TextBox 21"/>
          <p:cNvSpPr txBox="1"/>
          <p:nvPr/>
        </p:nvSpPr>
        <p:spPr>
          <a:xfrm>
            <a:off x="960120" y="5202936"/>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Clear, accessible questions</a:t>
            </a:r>
          </a:p>
        </p:txBody>
      </p:sp>
      <p:sp>
        <p:nvSpPr>
          <p:cNvPr id="23" name="Rounded Rectangle 22"/>
          <p:cNvSpPr/>
          <p:nvPr/>
        </p:nvSpPr>
        <p:spPr>
          <a:xfrm>
            <a:off x="6278728" y="1325880"/>
            <a:ext cx="5227168" cy="566928"/>
          </a:xfrm>
          <a:prstGeom prst="roundRect">
            <a:avLst>
              <a:gd name="adj" fmla="val 40000"/>
            </a:avLst>
          </a:prstGeom>
          <a:solidFill>
            <a:srgbClr val="584099"/>
          </a:solidFill>
          <a:ln>
            <a:noFill/>
          </a:ln>
        </p:spPr>
        <p:txBody>
          <a:bodyPr rtlCol="0" anchor="ctr"/>
          <a:lstStyle/>
          <a:p>
            <a:pPr algn="ctr"/>
            <a:endParaRPr/>
          </a:p>
        </p:txBody>
      </p:sp>
      <p:sp>
        <p:nvSpPr>
          <p:cNvPr id="24" name="TextBox 23"/>
          <p:cNvSpPr txBox="1"/>
          <p:nvPr/>
        </p:nvSpPr>
        <p:spPr>
          <a:xfrm>
            <a:off x="6553048" y="1325880"/>
            <a:ext cx="4678528" cy="56692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FFFFFF"/>
                </a:solidFill>
                <a:latin typeface="Arial Black"/>
                <a:ea typeface="Arial Black"/>
                <a:cs typeface="Arial Black"/>
              </a:rPr>
              <a:t>With families</a:t>
            </a:r>
          </a:p>
        </p:txBody>
      </p:sp>
      <p:sp>
        <p:nvSpPr>
          <p:cNvPr id="25" name="Rounded Rectangle 24"/>
          <p:cNvSpPr/>
          <p:nvPr/>
        </p:nvSpPr>
        <p:spPr>
          <a:xfrm>
            <a:off x="6278728"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26" name="TextBox 25"/>
          <p:cNvSpPr txBox="1"/>
          <p:nvPr/>
        </p:nvSpPr>
        <p:spPr>
          <a:xfrm>
            <a:off x="6553048"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Start with students’ strengths and interests</a:t>
            </a:r>
          </a:p>
        </p:txBody>
      </p:sp>
      <p:sp>
        <p:nvSpPr>
          <p:cNvPr id="27" name="Rounded Rectangle 26"/>
          <p:cNvSpPr/>
          <p:nvPr/>
        </p:nvSpPr>
        <p:spPr>
          <a:xfrm>
            <a:off x="8960891"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28" name="TextBox 27"/>
          <p:cNvSpPr txBox="1"/>
          <p:nvPr/>
        </p:nvSpPr>
        <p:spPr>
          <a:xfrm>
            <a:off x="9235211"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Listen to families and value their insights</a:t>
            </a:r>
          </a:p>
        </p:txBody>
      </p:sp>
      <p:sp>
        <p:nvSpPr>
          <p:cNvPr id="29" name="Rounded Rectangle 28"/>
          <p:cNvSpPr/>
          <p:nvPr/>
        </p:nvSpPr>
        <p:spPr>
          <a:xfrm>
            <a:off x="6278728"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30" name="TextBox 29"/>
          <p:cNvSpPr txBox="1"/>
          <p:nvPr/>
        </p:nvSpPr>
        <p:spPr>
          <a:xfrm>
            <a:off x="6553048"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Use clear, simple language</a:t>
            </a:r>
          </a:p>
        </p:txBody>
      </p:sp>
      <p:sp>
        <p:nvSpPr>
          <p:cNvPr id="31" name="Rounded Rectangle 30"/>
          <p:cNvSpPr/>
          <p:nvPr/>
        </p:nvSpPr>
        <p:spPr>
          <a:xfrm>
            <a:off x="8960891"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32" name="TextBox 31"/>
          <p:cNvSpPr txBox="1"/>
          <p:nvPr/>
        </p:nvSpPr>
        <p:spPr>
          <a:xfrm>
            <a:off x="9235211"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Respect different perspectives / experiences</a:t>
            </a:r>
          </a:p>
        </p:txBody>
      </p:sp>
      <p:sp>
        <p:nvSpPr>
          <p:cNvPr id="33" name="Rounded Rectangle 32"/>
          <p:cNvSpPr/>
          <p:nvPr/>
        </p:nvSpPr>
        <p:spPr>
          <a:xfrm>
            <a:off x="6278728"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34" name="TextBox 33"/>
          <p:cNvSpPr txBox="1"/>
          <p:nvPr/>
        </p:nvSpPr>
        <p:spPr>
          <a:xfrm>
            <a:off x="6553048"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Focus on needs, goals and participation</a:t>
            </a:r>
          </a:p>
        </p:txBody>
      </p:sp>
      <p:sp>
        <p:nvSpPr>
          <p:cNvPr id="35" name="Rounded Rectangle 34"/>
          <p:cNvSpPr/>
          <p:nvPr/>
        </p:nvSpPr>
        <p:spPr>
          <a:xfrm>
            <a:off x="8960891"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36" name="TextBox 35"/>
          <p:cNvSpPr txBox="1"/>
          <p:nvPr/>
        </p:nvSpPr>
        <p:spPr>
          <a:xfrm>
            <a:off x="9235211"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Use real examples from school</a:t>
            </a:r>
          </a:p>
        </p:txBody>
      </p:sp>
      <p:sp>
        <p:nvSpPr>
          <p:cNvPr id="37" name="Rounded Rectangle 36"/>
          <p:cNvSpPr/>
          <p:nvPr/>
        </p:nvSpPr>
        <p:spPr>
          <a:xfrm>
            <a:off x="6278728"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38" name="TextBox 37"/>
          <p:cNvSpPr txBox="1"/>
          <p:nvPr/>
        </p:nvSpPr>
        <p:spPr>
          <a:xfrm>
            <a:off x="6553048"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Check for shared understanding</a:t>
            </a:r>
          </a:p>
        </p:txBody>
      </p:sp>
      <p:sp>
        <p:nvSpPr>
          <p:cNvPr id="39" name="Rounded Rectangle 38"/>
          <p:cNvSpPr/>
          <p:nvPr/>
        </p:nvSpPr>
        <p:spPr>
          <a:xfrm>
            <a:off x="8960891"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40" name="TextBox 39"/>
          <p:cNvSpPr txBox="1"/>
          <p:nvPr/>
        </p:nvSpPr>
        <p:spPr>
          <a:xfrm>
            <a:off x="9235211"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Agree on next steps</a:t>
            </a:r>
          </a:p>
        </p:txBody>
      </p:sp>
      <p:sp>
        <p:nvSpPr>
          <p:cNvPr id="41" name="Rounded Rectangle 40"/>
          <p:cNvSpPr/>
          <p:nvPr/>
        </p:nvSpPr>
        <p:spPr>
          <a:xfrm>
            <a:off x="6278728" y="5202936"/>
            <a:ext cx="2545004" cy="676656"/>
          </a:xfrm>
          <a:prstGeom prst="roundRect">
            <a:avLst>
              <a:gd name="adj" fmla="val 20000"/>
            </a:avLst>
          </a:prstGeom>
          <a:solidFill>
            <a:srgbClr val="F3F0FA"/>
          </a:solidFill>
          <a:ln>
            <a:noFill/>
          </a:ln>
        </p:spPr>
        <p:txBody>
          <a:bodyPr rtlCol="0" anchor="ctr"/>
          <a:lstStyle/>
          <a:p>
            <a:pPr algn="ctr"/>
            <a:endParaRPr/>
          </a:p>
        </p:txBody>
      </p:sp>
      <p:sp>
        <p:nvSpPr>
          <p:cNvPr id="42" name="TextBox 41"/>
          <p:cNvSpPr txBox="1"/>
          <p:nvPr/>
        </p:nvSpPr>
        <p:spPr>
          <a:xfrm>
            <a:off x="6553048" y="5202936"/>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Keep communication open and ongoing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When student capacity runs out</a:t>
            </a:r>
          </a:p>
        </p:txBody>
      </p:sp>
      <p:sp>
        <p:nvSpPr>
          <p:cNvPr id="3" name="TextBox 2"/>
          <p:cNvSpPr txBox="1"/>
          <p:nvPr/>
        </p:nvSpPr>
        <p:spPr>
          <a:xfrm>
            <a:off x="685800" y="1325880"/>
            <a:ext cx="10789920" cy="91440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Discuss capacity without blame. Home and school may observe different parts of the student's experience.</a:t>
            </a:r>
          </a:p>
        </p:txBody>
      </p:sp>
      <p:sp>
        <p:nvSpPr>
          <p:cNvPr id="4" name="Rounded Rectangle 3"/>
          <p:cNvSpPr/>
          <p:nvPr/>
        </p:nvSpPr>
        <p:spPr>
          <a:xfrm>
            <a:off x="685800"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5" name="TextBox 4"/>
          <p:cNvSpPr txBox="1"/>
          <p:nvPr/>
        </p:nvSpPr>
        <p:spPr>
          <a:xfrm>
            <a:off x="960120"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Meltdown</a:t>
            </a:r>
          </a:p>
        </p:txBody>
      </p:sp>
      <p:sp>
        <p:nvSpPr>
          <p:cNvPr id="6" name="Rounded Rectangle 5"/>
          <p:cNvSpPr/>
          <p:nvPr/>
        </p:nvSpPr>
        <p:spPr>
          <a:xfrm>
            <a:off x="4383938"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7" name="TextBox 6"/>
          <p:cNvSpPr txBox="1"/>
          <p:nvPr/>
        </p:nvSpPr>
        <p:spPr>
          <a:xfrm>
            <a:off x="4658258"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Shutdown</a:t>
            </a:r>
          </a:p>
        </p:txBody>
      </p:sp>
      <p:sp>
        <p:nvSpPr>
          <p:cNvPr id="8" name="Rounded Rectangle 7"/>
          <p:cNvSpPr/>
          <p:nvPr/>
        </p:nvSpPr>
        <p:spPr>
          <a:xfrm>
            <a:off x="8082077"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9" name="TextBox 8"/>
          <p:cNvSpPr txBox="1"/>
          <p:nvPr/>
        </p:nvSpPr>
        <p:spPr>
          <a:xfrm>
            <a:off x="8356397"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School Can’t</a:t>
            </a:r>
          </a:p>
        </p:txBody>
      </p:sp>
      <p:sp>
        <p:nvSpPr>
          <p:cNvPr id="10" name="Rounded Rectangle 9"/>
          <p:cNvSpPr/>
          <p:nvPr/>
        </p:nvSpPr>
        <p:spPr>
          <a:xfrm>
            <a:off x="685800" y="4023360"/>
            <a:ext cx="10820095" cy="1234440"/>
          </a:xfrm>
          <a:prstGeom prst="roundRect">
            <a:avLst>
              <a:gd name="adj" fmla="val 20000"/>
            </a:avLst>
          </a:prstGeom>
          <a:solidFill>
            <a:srgbClr val="FFFFFF"/>
          </a:solidFill>
          <a:ln w="19050">
            <a:solidFill>
              <a:srgbClr val="584099"/>
            </a:solidFill>
          </a:ln>
        </p:spPr>
        <p:txBody>
          <a:bodyPr rtlCol="0" anchor="ctr"/>
          <a:lstStyle/>
          <a:p>
            <a:pPr algn="ctr"/>
            <a:endParaRPr/>
          </a:p>
        </p:txBody>
      </p:sp>
      <p:sp>
        <p:nvSpPr>
          <p:cNvPr id="11" name="TextBox 10"/>
          <p:cNvSpPr txBox="1"/>
          <p:nvPr/>
        </p:nvSpPr>
        <p:spPr>
          <a:xfrm>
            <a:off x="1005840" y="4023360"/>
            <a:ext cx="10149840" cy="1234440"/>
          </a:xfrm>
          <a:prstGeom prst="rect">
            <a:avLst/>
          </a:prstGeom>
          <a:noFill/>
        </p:spPr>
        <p:txBody>
          <a:bodyPr wrap="square" lIns="0" tIns="0" rIns="0" bIns="0" anchor="ctr">
            <a:noAutofit/>
          </a:bodyPr>
          <a:lstStyle/>
          <a:p>
            <a:pPr marL="0" indent="0" algn="l">
              <a:lnSpc>
                <a:spcPct val="105000"/>
              </a:lnSpc>
              <a:spcBef>
                <a:spcPts val="0"/>
              </a:spcBef>
              <a:buNone/>
            </a:pPr>
            <a:r>
              <a:rPr lang="en-AU" sz="1800" b="0">
                <a:solidFill>
                  <a:srgbClr val="3D2A6B"/>
                </a:solidFill>
                <a:latin typeface="Arial"/>
                <a:ea typeface="Arial"/>
                <a:cs typeface="Arial"/>
              </a:rPr>
              <a:t>Focus on safety, what preceded the situation, what supports recovery and what can change in the environment, task or response.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BFB307-C748-4190-B8CD-319D0F096407}"/>
              </a:ext>
            </a:extLst>
          </p:cNvPr>
          <p:cNvSpPr txBox="1">
            <a:spLocks/>
          </p:cNvSpPr>
          <p:nvPr/>
        </p:nvSpPr>
        <p:spPr>
          <a:xfrm>
            <a:off x="6309360" y="457200"/>
            <a:ext cx="5196535"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r">
              <a:lnSpc>
                <a:spcPct val="100000"/>
              </a:lnSpc>
              <a:spcBef>
                <a:spcPts val="0"/>
              </a:spcBef>
              <a:buNone/>
            </a:pPr>
            <a:r>
              <a:rPr lang="en-AU" sz="3600" b="0">
                <a:solidFill>
                  <a:srgbClr val="584099"/>
                </a:solidFill>
                <a:latin typeface="Arial Black"/>
                <a:ea typeface="Arial Black"/>
                <a:cs typeface="Arial Black"/>
              </a:rPr>
              <a:t>Partnership tools</a:t>
            </a:r>
          </a:p>
        </p:txBody>
      </p:sp>
      <p:pic>
        <p:nvPicPr>
          <p:cNvPr id="5" name="Picture 4"/>
          <p:cNvPicPr>
            <a:picLocks noChangeAspect="1"/>
          </p:cNvPicPr>
          <p:nvPr/>
        </p:nvPicPr>
        <p:blipFill rotWithShape="1">
          <a:blip r:embed="rId3"/>
          <a:srcRect l="-2850" t="-3367" r="-2431" b="1"/>
          <a:stretch/>
        </p:blipFill>
        <p:spPr>
          <a:xfrm rot="474070">
            <a:off x="5401381" y="1708714"/>
            <a:ext cx="6048605" cy="38713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3" name="Picture 2">
            <a:extLst>
              <a:ext uri="{FF2B5EF4-FFF2-40B4-BE49-F238E27FC236}">
                <a16:creationId xmlns:a16="http://schemas.microsoft.com/office/drawing/2014/main" id="{9937E829-43C9-4A63-A885-D69DCA04E947}"/>
              </a:ext>
            </a:extLst>
          </p:cNvPr>
          <p:cNvPicPr>
            <a:picLocks noChangeAspect="1"/>
          </p:cNvPicPr>
          <p:nvPr/>
        </p:nvPicPr>
        <p:blipFill>
          <a:blip r:embed="rId4"/>
          <a:stretch>
            <a:fillRect/>
          </a:stretch>
        </p:blipFill>
        <p:spPr>
          <a:xfrm rot="21295906">
            <a:off x="1264142" y="536121"/>
            <a:ext cx="4069586" cy="57857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5873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C9AB3-31EC-27A9-8206-7C0BE658E8B7}"/>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NCCD Meetings Tool Kit</a:t>
            </a:r>
          </a:p>
        </p:txBody>
      </p:sp>
      <p:pic>
        <p:nvPicPr>
          <p:cNvPr id="4" name="Content Placeholder 3">
            <a:extLst>
              <a:ext uri="{FF2B5EF4-FFF2-40B4-BE49-F238E27FC236}">
                <a16:creationId xmlns:a16="http://schemas.microsoft.com/office/drawing/2014/main" id="{A5C575AF-C7D4-085E-94F7-3A72A52D6DAC}"/>
              </a:ext>
            </a:extLst>
          </p:cNvPr>
          <p:cNvPicPr>
            <a:picLocks noGrp="1" noChangeAspect="1"/>
          </p:cNvPicPr>
          <p:nvPr>
            <p:ph idx="1"/>
          </p:nvPr>
        </p:nvPicPr>
        <p:blipFill>
          <a:blip r:embed="rId3"/>
          <a:stretch>
            <a:fillRect/>
          </a:stretch>
        </p:blipFill>
        <p:spPr>
          <a:xfrm>
            <a:off x="5486400" y="1463040"/>
            <a:ext cx="6019495" cy="3017520"/>
          </a:xfrm>
          <a:prstGeom prst="rect">
            <a:avLst/>
          </a:prstGeom>
          <a:ln w="12700">
            <a:solidFill>
              <a:schemeClr val="tx1"/>
            </a:solidFill>
          </a:ln>
        </p:spPr>
      </p:pic>
      <p:pic>
        <p:nvPicPr>
          <p:cNvPr id="5" name="Picture 4">
            <a:extLst>
              <a:ext uri="{FF2B5EF4-FFF2-40B4-BE49-F238E27FC236}">
                <a16:creationId xmlns:a16="http://schemas.microsoft.com/office/drawing/2014/main" id="{C27A36B8-FF2A-0D74-971A-0E4E85BADCA9}"/>
              </a:ext>
            </a:extLst>
          </p:cNvPr>
          <p:cNvPicPr>
            <a:picLocks noChangeAspect="1"/>
          </p:cNvPicPr>
          <p:nvPr/>
        </p:nvPicPr>
        <p:blipFill>
          <a:blip r:embed="rId4"/>
          <a:stretch>
            <a:fillRect/>
          </a:stretch>
        </p:blipFill>
        <p:spPr>
          <a:xfrm>
            <a:off x="6675120" y="3566160"/>
            <a:ext cx="4830775" cy="2240280"/>
          </a:xfrm>
          <a:prstGeom prst="rect">
            <a:avLst/>
          </a:prstGeom>
          <a:ln w="12700" cap="sq">
            <a:solidFill>
              <a:srgbClr val="000000"/>
            </a:solidFill>
            <a:miter lim="800000"/>
          </a:ln>
          <a:effectLst>
            <a:outerShdw blurRad="57150" dist="50800" dir="2700000" algn="tl" rotWithShape="0">
              <a:srgbClr val="000000">
                <a:alpha val="40000"/>
              </a:srgbClr>
            </a:outerShdw>
          </a:effectLst>
        </p:spPr>
      </p:pic>
      <p:sp>
        <p:nvSpPr>
          <p:cNvPr id="6" name="Rounded Rectangle 5"/>
          <p:cNvSpPr/>
          <p:nvPr/>
        </p:nvSpPr>
        <p:spPr>
          <a:xfrm>
            <a:off x="685800" y="1463040"/>
            <a:ext cx="4480560" cy="4480560"/>
          </a:xfrm>
          <a:prstGeom prst="roundRect">
            <a:avLst>
              <a:gd name="adj" fmla="val 7000"/>
            </a:avLst>
          </a:prstGeom>
          <a:solidFill>
            <a:srgbClr val="F3F0FA"/>
          </a:solidFill>
          <a:ln>
            <a:noFill/>
          </a:ln>
        </p:spPr>
        <p:txBody>
          <a:bodyPr rtlCol="0" anchor="ctr"/>
          <a:lstStyle/>
          <a:p>
            <a:pPr algn="ctr"/>
            <a:endParaRPr/>
          </a:p>
        </p:txBody>
      </p:sp>
      <p:sp>
        <p:nvSpPr>
          <p:cNvPr id="7" name="TextBox 6"/>
          <p:cNvSpPr txBox="1"/>
          <p:nvPr/>
        </p:nvSpPr>
        <p:spPr>
          <a:xfrm>
            <a:off x="1005840" y="1463040"/>
            <a:ext cx="3840480" cy="4480560"/>
          </a:xfrm>
          <a:prstGeom prst="rect">
            <a:avLst/>
          </a:prstGeom>
          <a:noFill/>
        </p:spPr>
        <p:txBody>
          <a:bodyPr wrap="square" lIns="0" tIns="0" rIns="0" bIns="0" anchor="ctr">
            <a:noAutofit/>
          </a:bodyPr>
          <a:lstStyle/>
          <a:p>
            <a:pPr marL="0" indent="0" algn="l">
              <a:lnSpc>
                <a:spcPct val="110000"/>
              </a:lnSpc>
              <a:spcBef>
                <a:spcPts val="0"/>
              </a:spcBef>
              <a:buNone/>
            </a:pPr>
            <a:r>
              <a:rPr lang="en-AU" sz="1800" b="0">
                <a:solidFill>
                  <a:srgbClr val="3D2A6B"/>
                </a:solidFill>
                <a:latin typeface="Arial"/>
                <a:ea typeface="Arial"/>
                <a:cs typeface="Arial"/>
              </a:rPr>
              <a:t>The teacher and school use the Tool Kit to make the meeting purpose, consultation process, possible adjustments, evidence and next steps clear. Your observations and records of the support you give can be part of that evidence.</a:t>
            </a:r>
          </a:p>
        </p:txBody>
      </p:sp>
    </p:spTree>
    <p:extLst>
      <p:ext uri="{BB962C8B-B14F-4D97-AF65-F5344CB8AC3E}">
        <p14:creationId xmlns:p14="http://schemas.microsoft.com/office/powerpoint/2010/main" val="3674033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AB5F87-071D-404A-980A-F2281B7B03AC}"/>
              </a:ext>
            </a:extLst>
          </p:cNvPr>
          <p:cNvPicPr>
            <a:picLocks noChangeAspect="1"/>
          </p:cNvPicPr>
          <p:nvPr/>
        </p:nvPicPr>
        <p:blipFill>
          <a:blip r:embed="rId4"/>
          <a:stretch>
            <a:fillRect/>
          </a:stretch>
        </p:blipFill>
        <p:spPr>
          <a:xfrm>
            <a:off x="3236087" y="1021709"/>
            <a:ext cx="7316089" cy="3384721"/>
          </a:xfrm>
          <a:prstGeom prst="rect">
            <a:avLst/>
          </a:prstGeom>
        </p:spPr>
      </p:pic>
      <p:sp>
        <p:nvSpPr>
          <p:cNvPr id="9" name="TextBox 1"/>
          <p:cNvSpPr txBox="1">
            <a:spLocks noChangeArrowheads="1"/>
          </p:cNvSpPr>
          <p:nvPr/>
        </p:nvSpPr>
        <p:spPr bwMode="auto">
          <a:xfrm>
            <a:off x="685800" y="457200"/>
            <a:ext cx="3108960" cy="1828800"/>
          </a:xfrm>
          <a:prstGeom prst="rect">
            <a:avLst/>
          </a:prstGeom>
        </p:spPr>
        <p:txBody>
          <a:bodyPr wrap="square" lIns="0" tIns="0" rIns="0" bIns="0" anchor="t">
            <a:noAutofit/>
          </a:bodyPr>
          <a:lstStyle>
            <a:defPPr>
              <a:defRPr lang="en-US"/>
            </a:defPPr>
            <a:lvl1pPr>
              <a:defRPr sz="4400" b="1">
                <a:solidFill>
                  <a:srgbClr val="BBD64A"/>
                </a:solidFill>
                <a:latin typeface="Arial Black" panose="020B0A04020102020204" pitchFamily="34" charset="0"/>
              </a:defRPr>
            </a:lvl1pPr>
          </a:lstStyle>
          <a:p>
            <a:pPr marL="0" indent="0" algn="l">
              <a:lnSpc>
                <a:spcPct val="95000"/>
              </a:lnSpc>
              <a:spcBef>
                <a:spcPts val="0"/>
              </a:spcBef>
              <a:buNone/>
            </a:pPr>
            <a:r>
              <a:rPr lang="en-AU" sz="3200" b="0">
                <a:solidFill>
                  <a:srgbClr val="584099"/>
                </a:solidFill>
                <a:latin typeface="Arial Black"/>
                <a:ea typeface="Arial Black"/>
                <a:cs typeface="Arial Black"/>
              </a:rPr>
              <a:t>Other practical supports</a:t>
            </a:r>
          </a:p>
        </p:txBody>
      </p:sp>
      <p:pic>
        <p:nvPicPr>
          <p:cNvPr id="3" name="Picture 2">
            <a:extLst>
              <a:ext uri="{FF2B5EF4-FFF2-40B4-BE49-F238E27FC236}">
                <a16:creationId xmlns:a16="http://schemas.microsoft.com/office/drawing/2014/main" id="{3DB99A03-8A97-4FE0-A7C3-EE23BB83DC5F}"/>
              </a:ext>
            </a:extLst>
          </p:cNvPr>
          <p:cNvPicPr>
            <a:picLocks noChangeAspect="1"/>
          </p:cNvPicPr>
          <p:nvPr/>
        </p:nvPicPr>
        <p:blipFill>
          <a:blip r:embed="rId5"/>
          <a:stretch>
            <a:fillRect/>
          </a:stretch>
        </p:blipFill>
        <p:spPr>
          <a:xfrm>
            <a:off x="5378125" y="5026533"/>
            <a:ext cx="2686050" cy="1123950"/>
          </a:xfrm>
          <a:prstGeom prst="rect">
            <a:avLst/>
          </a:prstGeom>
        </p:spPr>
      </p:pic>
      <p:pic>
        <p:nvPicPr>
          <p:cNvPr id="4" name="Picture 3">
            <a:extLst>
              <a:ext uri="{FF2B5EF4-FFF2-40B4-BE49-F238E27FC236}">
                <a16:creationId xmlns:a16="http://schemas.microsoft.com/office/drawing/2014/main" id="{FAC9DECC-D55E-40AE-B8AC-04D7790C5A76}"/>
              </a:ext>
            </a:extLst>
          </p:cNvPr>
          <p:cNvPicPr>
            <a:picLocks noChangeAspect="1"/>
          </p:cNvPicPr>
          <p:nvPr/>
        </p:nvPicPr>
        <p:blipFill>
          <a:blip r:embed="rId6"/>
          <a:stretch>
            <a:fillRect/>
          </a:stretch>
        </p:blipFill>
        <p:spPr>
          <a:xfrm>
            <a:off x="7989775" y="4989207"/>
            <a:ext cx="3726997" cy="1437208"/>
          </a:xfrm>
          <a:prstGeom prst="rect">
            <a:avLst/>
          </a:prstGeom>
        </p:spPr>
      </p:pic>
      <p:pic>
        <p:nvPicPr>
          <p:cNvPr id="7" name="Picture 6">
            <a:extLst>
              <a:ext uri="{FF2B5EF4-FFF2-40B4-BE49-F238E27FC236}">
                <a16:creationId xmlns:a16="http://schemas.microsoft.com/office/drawing/2014/main" id="{7C84697F-26B5-4810-B0E5-ED47D75ABC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14587" y="4914304"/>
            <a:ext cx="3378775" cy="911310"/>
          </a:xfrm>
          <a:prstGeom prst="rect">
            <a:avLst/>
          </a:prstGeom>
        </p:spPr>
      </p:pic>
      <p:pic>
        <p:nvPicPr>
          <p:cNvPr id="11" name="Picture 10">
            <a:extLst>
              <a:ext uri="{FF2B5EF4-FFF2-40B4-BE49-F238E27FC236}">
                <a16:creationId xmlns:a16="http://schemas.microsoft.com/office/drawing/2014/main" id="{8203F3AC-DC1E-46D5-8169-88AF76468301}"/>
              </a:ext>
            </a:extLst>
          </p:cNvPr>
          <p:cNvPicPr>
            <a:picLocks noChangeAspect="1"/>
          </p:cNvPicPr>
          <p:nvPr/>
        </p:nvPicPr>
        <p:blipFill>
          <a:blip r:embed="rId8"/>
          <a:stretch>
            <a:fillRect/>
          </a:stretch>
        </p:blipFill>
        <p:spPr>
          <a:xfrm>
            <a:off x="1579975" y="5752462"/>
            <a:ext cx="3048000" cy="581025"/>
          </a:xfrm>
          <a:prstGeom prst="rect">
            <a:avLst/>
          </a:prstGeom>
        </p:spPr>
      </p:pic>
    </p:spTree>
    <p:custDataLst>
      <p:tags r:id="rId1"/>
    </p:custDataLst>
    <p:extLst>
      <p:ext uri="{BB962C8B-B14F-4D97-AF65-F5344CB8AC3E}">
        <p14:creationId xmlns:p14="http://schemas.microsoft.com/office/powerpoint/2010/main" val="3024513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endParaRPr/>
          </a:p>
        </p:txBody>
      </p:sp>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Bridge to the next family conversation</a:t>
            </a:r>
          </a:p>
        </p:txBody>
      </p:sp>
      <p:sp>
        <p:nvSpPr>
          <p:cNvPr id="4" name="Rounded Rectangle 3"/>
          <p:cNvSpPr/>
          <p:nvPr/>
        </p:nvSpPr>
        <p:spPr>
          <a:xfrm>
            <a:off x="685800" y="1554480"/>
            <a:ext cx="9509760" cy="3840480"/>
          </a:xfrm>
          <a:prstGeom prst="roundRect">
            <a:avLst>
              <a:gd name="adj" fmla="val 7000"/>
            </a:avLst>
          </a:prstGeom>
          <a:solidFill>
            <a:srgbClr val="F3F0FA"/>
          </a:solidFill>
          <a:ln>
            <a:noFill/>
          </a:ln>
        </p:spPr>
        <p:txBody>
          <a:bodyPr rtlCol="0" anchor="ctr"/>
          <a:lstStyle/>
          <a:p>
            <a:pPr algn="ctr"/>
            <a:endParaRPr/>
          </a:p>
        </p:txBody>
      </p:sp>
      <p:pic>
        <p:nvPicPr>
          <p:cNvPr id="5" name="Discussion icon" descr="Speech bubble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1965960"/>
            <a:ext cx="658368" cy="658368"/>
          </a:xfrm>
          <a:prstGeom prst="rect">
            <a:avLst/>
          </a:prstGeom>
        </p:spPr>
      </p:pic>
      <p:sp>
        <p:nvSpPr>
          <p:cNvPr id="6" name="TextBox 5"/>
          <p:cNvSpPr txBox="1"/>
          <p:nvPr/>
        </p:nvSpPr>
        <p:spPr>
          <a:xfrm>
            <a:off x="2194560" y="1828800"/>
            <a:ext cx="7680960" cy="33832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Prepare for one purposeful conversation.</a:t>
            </a:r>
          </a:p>
          <a:p>
            <a:pPr marL="347472" indent="-347472" algn="l">
              <a:lnSpc>
                <a:spcPct val="100000"/>
              </a:lnSpc>
              <a:spcBef>
                <a:spcPts val="1400"/>
              </a:spcBef>
              <a:buClr>
                <a:srgbClr val="584099"/>
              </a:buClr>
              <a:buFont typeface="Arial"/>
              <a:buChar char="•"/>
            </a:pPr>
            <a:r>
              <a:rPr lang="en-AU" sz="2000" b="0">
                <a:solidFill>
                  <a:srgbClr val="3D2A6B"/>
                </a:solidFill>
                <a:latin typeface="Arial"/>
                <a:ea typeface="Arial"/>
                <a:cs typeface="Arial"/>
              </a:rPr>
              <a:t>What needs to be understood?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question will open the conversation?</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will the student's voice be included?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can be decided together?</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and when will the school follow up?</a:t>
            </a:r>
          </a:p>
        </p:txBody>
      </p:sp>
      <p:sp>
        <p:nvSpPr>
          <p:cNvPr id="7" name="Rounded Rectangle 6"/>
          <p:cNvSpPr/>
          <p:nvPr/>
        </p:nvSpPr>
        <p:spPr>
          <a:xfrm>
            <a:off x="685800" y="5623560"/>
            <a:ext cx="9509760"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8" name="TextBox 7"/>
          <p:cNvSpPr txBox="1"/>
          <p:nvPr/>
        </p:nvSpPr>
        <p:spPr>
          <a:xfrm>
            <a:off x="960120" y="5623560"/>
            <a:ext cx="8961120"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584099"/>
                </a:solidFill>
                <a:latin typeface="Arial"/>
                <a:ea typeface="Arial"/>
                <a:cs typeface="Arial"/>
              </a:rPr>
              <a:t>Keep these notes for your conversation plan in Session 6.</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5DF672D9920B44888613C845FEE28C" ma:contentTypeVersion="13" ma:contentTypeDescription="Create a new document." ma:contentTypeScope="" ma:versionID="f74e0793e4bbea6511fcde495954d792">
  <xsd:schema xmlns:xsd="http://www.w3.org/2001/XMLSchema" xmlns:xs="http://www.w3.org/2001/XMLSchema" xmlns:p="http://schemas.microsoft.com/office/2006/metadata/properties" xmlns:ns2="f0bb3e21-4545-485a-b693-7e527aa5b0a1" xmlns:ns3="27f1137f-2ca6-4fef-8072-b9e4ddf9f88d" targetNamespace="http://schemas.microsoft.com/office/2006/metadata/properties" ma:root="true" ma:fieldsID="83fb0c578da1c893ab66577103c670f4" ns2:_="" ns3:_="">
    <xsd:import namespace="f0bb3e21-4545-485a-b693-7e527aa5b0a1"/>
    <xsd:import namespace="27f1137f-2ca6-4fef-8072-b9e4ddf9f8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b3e21-4545-485a-b693-7e527aa5b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234d0ea-ced3-483a-ade0-71e1f4ad427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f1137f-2ca6-4fef-8072-b9e4ddf9f88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5baa329-1694-49a7-99b3-a1d2375b9e3c}" ma:internalName="TaxCatchAll" ma:showField="CatchAllData" ma:web="27f1137f-2ca6-4fef-8072-b9e4ddf9f8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0bb3e21-4545-485a-b693-7e527aa5b0a1">
      <Terms xmlns="http://schemas.microsoft.com/office/infopath/2007/PartnerControls"/>
    </lcf76f155ced4ddcb4097134ff3c332f>
    <TaxCatchAll xmlns="27f1137f-2ca6-4fef-8072-b9e4ddf9f88d" xsi:nil="true"/>
  </documentManagement>
</p:properties>
</file>

<file path=customXml/itemProps1.xml><?xml version="1.0" encoding="utf-8"?>
<ds:datastoreItem xmlns:ds="http://schemas.openxmlformats.org/officeDocument/2006/customXml" ds:itemID="{8F38CC49-5BCA-4AE9-8473-8E73B8C1E934}">
  <ds:schemaRefs>
    <ds:schemaRef ds:uri="27f1137f-2ca6-4fef-8072-b9e4ddf9f88d"/>
    <ds:schemaRef ds:uri="f0bb3e21-4545-485a-b693-7e527aa5b0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B494170-94B9-4839-8B23-312C5CAD4F7F}">
  <ds:schemaRefs>
    <ds:schemaRef ds:uri="http://schemas.microsoft.com/sharepoint/v3/contenttype/forms"/>
  </ds:schemaRefs>
</ds:datastoreItem>
</file>

<file path=customXml/itemProps3.xml><?xml version="1.0" encoding="utf-8"?>
<ds:datastoreItem xmlns:ds="http://schemas.openxmlformats.org/officeDocument/2006/customXml" ds:itemID="{E21C6D3C-3208-4C9A-BB97-4BF1FDBC9CA8}">
  <ds:schemaRefs>
    <ds:schemaRef ds:uri="27f1137f-2ca6-4fef-8072-b9e4ddf9f88d"/>
    <ds:schemaRef ds:uri="f0bb3e21-4545-485a-b693-7e527aa5b0a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TotalTime>
  <Words>4948</Words>
  <Application>Microsoft Macintosh PowerPoint</Application>
  <PresentationFormat>Widescreen</PresentationFormat>
  <Paragraphs>526</Paragraphs>
  <Slides>17</Slides>
  <Notes>17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Arial Black</vt:lpstr>
      <vt:lpstr>Calibri</vt:lpstr>
      <vt:lpstr>Office Theme</vt:lpstr>
      <vt:lpstr>PowerPoint Presentation</vt:lpstr>
      <vt:lpstr>Working in partnerships</vt:lpstr>
      <vt:lpstr>PowerPoint Presentation</vt:lpstr>
      <vt:lpstr>What is effective collaboration?</vt:lpstr>
      <vt:lpstr>PowerPoint Presentation</vt:lpstr>
      <vt:lpstr>PowerPoint Presentation</vt:lpstr>
      <vt:lpstr>PowerPoint Presentation</vt:lpstr>
      <vt:lpstr>Partnership activity</vt:lpstr>
      <vt:lpstr>PowerPoint Presentation</vt:lpstr>
      <vt:lpstr>PowerPoint Presentation</vt:lpstr>
      <vt:lpstr>PowerPoint Presentation</vt:lpstr>
      <vt:lpstr>PowerPoint Presentation</vt:lpstr>
      <vt:lpstr>PowerPoint Presentation</vt:lpstr>
      <vt:lpstr>PowerPoint Presentation</vt:lpstr>
      <vt:lpstr>NCCD Meetings Tool Kit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 Cousins</dc:creator>
  <cp:lastModifiedBy>Craig Smith</cp:lastModifiedBy>
  <cp:revision>3</cp:revision>
  <dcterms:created xsi:type="dcterms:W3CDTF">2026-08-24T06:22:15Z</dcterms:created>
  <dcterms:modified xsi:type="dcterms:W3CDTF">2026-09-25T06:44:30Z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0x010100C75DF672D9920B44888613C845FEE28C</vt:lpwstr>
  </property>
  <property fmtid="{D5CDD505-2E9C-101B-9397-08002B2CF9AE}" pid="3" name="MediaServiceImageTags">
    <vt:lpwstr/>
  </property>
</Properties>
</file>