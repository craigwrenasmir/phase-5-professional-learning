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119604" cy="10692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SESSION 4 · LEARNING DESIGN · INDEPENDENCE LADDER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One step up the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7772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Initials: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064240" y="1078992"/>
            <a:ext cx="350672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32588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58191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2704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brief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2 · one support moment you give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Support: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2532888"/>
            <a:ext cx="51366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68680" y="2743200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At the moment, I support by…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3310128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68680" y="3547872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The student can already…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4114800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68680" y="4352544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step more independence would look like…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4919472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8" name="Rounded Rectangle 17"/>
          <p:cNvSpPr/>
          <p:nvPr/>
        </p:nvSpPr>
        <p:spPr>
          <a:xfrm>
            <a:off x="868680" y="518602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158588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Specific, workable, and free from blame or deficit labels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962" y="132588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71282" y="158191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1282" y="1581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7082" y="152704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Options I chose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3 · choose one or two that answer your brief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7002" y="239572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762" y="23591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Five moves that belong to you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7002" y="277977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762" y="27432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Predictability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7002" y="3163824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762" y="31272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Designed distance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7002" y="3547872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762" y="351129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Visual supports and social stories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7002" y="393192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2762" y="389534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Something else: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91522" y="4187952"/>
            <a:ext cx="435940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017002" y="4343400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Why it fits: which step up the ladder does it help?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17002" y="4983480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8017002" y="5312664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8017002" y="5641848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39" name="Rounded Rectangle 38"/>
          <p:cNvSpPr/>
          <p:nvPr/>
        </p:nvSpPr>
        <p:spPr>
          <a:xfrm>
            <a:off x="548640" y="587182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960" y="612785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61278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607298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Universal first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4 · run these over your draft design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694166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4440" y="6905092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Can students find and understand what they need?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7344004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7307428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Can they take part in more than one way?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774634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7709764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Can they pause, ask for help or recover?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814867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34440" y="8112100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Is the support available when demand increases?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8551012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34440" y="8514436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Is there more than one way to access, engage and respond?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8953348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I adjusted: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68680" y="9593428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868680" y="9922612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6" name="Rounded Rectangle 55"/>
          <p:cNvSpPr/>
          <p:nvPr/>
        </p:nvSpPr>
        <p:spPr>
          <a:xfrm>
            <a:off x="7696962" y="587182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971282" y="612785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71282" y="61278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57082" y="607298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plan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5 · one step up the ladder</a:t>
            </a:r>
          </a:p>
        </p:txBody>
      </p:sp>
      <p:sp>
        <p:nvSpPr>
          <p:cNvPr id="60" name="Oval 59"/>
          <p:cNvSpPr/>
          <p:nvPr/>
        </p:nvSpPr>
        <p:spPr>
          <a:xfrm>
            <a:off x="8017002" y="685022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17002" y="685022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28482" y="6822796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way to fade support, starting next week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428482" y="7289140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8017002" y="74171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17002" y="741715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28482" y="7389724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communication tool to practise this term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428482" y="7856068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8017002" y="798408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17002" y="79840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28482" y="7956652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conversation to have with the teacher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428482" y="8422996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8017002" y="85510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17002" y="85510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28482" y="8523580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I will observe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428482" y="8989924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76" name="Oval 75"/>
          <p:cNvSpPr/>
          <p:nvPr/>
        </p:nvSpPr>
        <p:spPr>
          <a:xfrm>
            <a:off x="8017002" y="91179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17002" y="91179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28482" y="9090508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When I will review it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428482" y="9556852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80" name="Rounded Rectangle 79"/>
          <p:cNvSpPr/>
          <p:nvPr/>
        </p:nvSpPr>
        <p:spPr>
          <a:xfrm>
            <a:off x="8017002" y="9731959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82762" y="9704527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Checked with my trio: still student-centred and building independence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10234879"/>
            <a:ext cx="140223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5B5670"/>
                </a:solidFill>
                <a:latin typeface="Arial"/>
                <a:ea typeface="Arial"/>
                <a:cs typeface="Arial"/>
              </a:rPr>
              <a:t>Keep students first. Use initials or roles only: no student names or identifying details. This sheet goes on the wall in Stage 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402232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MY STUDENTS CARDS · CUT OUT ONE CARD AND KEEP IT BEFORE THE GALLERY WALK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Private: keep this card to yourself. Stage 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91640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6916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Helps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691640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16916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No difference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691640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6916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something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1671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21671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94960" y="21671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0662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66090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11880" y="266090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60" y="266090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15468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11880" y="315468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94960" y="315468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35240" y="914400"/>
            <a:ext cx="6935724" cy="2756306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1097280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way I will fade support: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09560" y="1828800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909560" y="2148840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7909560" y="2377440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 will talk with: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9560" y="3063240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909560" y="3259226"/>
            <a:ext cx="63870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8 · commit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8600" y="3853586"/>
            <a:ext cx="14662404" cy="0"/>
          </a:xfrm>
          <a:prstGeom prst="line">
            <a:avLst/>
          </a:prstGeom>
          <a:ln w="15875">
            <a:solidFill>
              <a:srgbClr val="B9A7D6"/>
            </a:solidFill>
            <a:prstDash val="dash"/>
          </a:ln>
        </p:spPr>
      </p:cxnSp>
      <p:sp>
        <p:nvSpPr>
          <p:cNvPr id="31" name="TextBox 30"/>
          <p:cNvSpPr txBox="1"/>
          <p:nvPr/>
        </p:nvSpPr>
        <p:spPr>
          <a:xfrm>
            <a:off x="548640" y="403646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students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9366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Private: keep this card to yourself. Stage 6.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859426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485942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Helps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11880" y="4859426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485942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No difference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4859426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485942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something more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8063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533491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11880" y="533491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394960" y="533491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7441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28800" y="582869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611880" y="582869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394960" y="582869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36818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0" y="6322466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611880" y="6322466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394960" y="6322466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635240" y="4082186"/>
            <a:ext cx="6935724" cy="2756306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4265066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way I will fade support: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909560" y="4996586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7909560" y="5316626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7909560" y="5545226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 will talk with: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909560" y="6231026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7909560" y="6427013"/>
            <a:ext cx="63870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8 · commit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" y="7021373"/>
            <a:ext cx="14662404" cy="0"/>
          </a:xfrm>
          <a:prstGeom prst="line">
            <a:avLst/>
          </a:prstGeom>
          <a:ln w="15875">
            <a:solidFill>
              <a:srgbClr val="B9A7D6"/>
            </a:solidFill>
            <a:prstDash val="dash"/>
          </a:ln>
        </p:spPr>
      </p:cxnSp>
      <p:sp>
        <p:nvSpPr>
          <p:cNvPr id="59" name="TextBox 58"/>
          <p:cNvSpPr txBox="1"/>
          <p:nvPr/>
        </p:nvSpPr>
        <p:spPr>
          <a:xfrm>
            <a:off x="548640" y="7204253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students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7661453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Private: keep this card to yourself. Stage 6.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28800" y="8027213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03120" y="8027213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Helps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11880" y="8027213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86200" y="8027213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No difference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94960" y="8027213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0" y="8027213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something more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8548421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828800" y="8502701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611880" y="8502701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394960" y="8502701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9042197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828800" y="899647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611880" y="899647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394960" y="899647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9535973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C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828800" y="9490253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611880" y="9490253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394960" y="9490253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635240" y="7249973"/>
            <a:ext cx="6935724" cy="2756306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09560" y="7432853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way I will fade support: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909560" y="8164373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82" name="Connector 81"/>
          <p:cNvCxnSpPr/>
          <p:nvPr/>
        </p:nvCxnSpPr>
        <p:spPr>
          <a:xfrm>
            <a:off x="7909560" y="8484413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83" name="TextBox 82"/>
          <p:cNvSpPr txBox="1"/>
          <p:nvPr/>
        </p:nvSpPr>
        <p:spPr>
          <a:xfrm>
            <a:off x="7909560" y="8713013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 will talk with: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909560" y="9398813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7909560" y="9594799"/>
            <a:ext cx="63870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8 · commit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